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67" r:id="rId3"/>
    <p:sldId id="268" r:id="rId4"/>
    <p:sldId id="269" r:id="rId5"/>
    <p:sldId id="270" r:id="rId6"/>
    <p:sldId id="305" r:id="rId7"/>
    <p:sldId id="272" r:id="rId8"/>
    <p:sldId id="30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02" r:id="rId22"/>
    <p:sldId id="260" r:id="rId23"/>
    <p:sldId id="261" r:id="rId24"/>
    <p:sldId id="262" r:id="rId25"/>
    <p:sldId id="263" r:id="rId26"/>
    <p:sldId id="265" r:id="rId27"/>
    <p:sldId id="258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55DDD-DE77-413A-98BC-125D92332B93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C50D2-CB8C-442A-9946-274C9BFF17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FC50D2-CB8C-442A-9946-274C9BFF17A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EC5489-5587-43DD-A10C-1C263A59863B}" type="slidenum">
              <a:rPr lang="en-GB"/>
              <a:pPr/>
              <a:t>22</a:t>
            </a:fld>
            <a:endParaRPr lang="en-GB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0775B2-03D3-4007-ABF9-C02DC48EDA2E}" type="slidenum">
              <a:rPr lang="en-GB"/>
              <a:pPr/>
              <a:t>23</a:t>
            </a:fld>
            <a:endParaRPr lang="en-GB"/>
          </a:p>
        </p:txBody>
      </p:sp>
      <p:sp>
        <p:nvSpPr>
          <p:cNvPr id="460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DA47BC-19C1-4F4D-AFED-1776362E95A2}" type="slidenum">
              <a:rPr lang="en-GB"/>
              <a:pPr/>
              <a:t>24</a:t>
            </a:fld>
            <a:endParaRPr lang="en-GB"/>
          </a:p>
        </p:txBody>
      </p:sp>
      <p:sp>
        <p:nvSpPr>
          <p:cNvPr id="48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200" b="1" dirty="0"/>
              <a:t>dichotomous</a:t>
            </a:r>
            <a:r>
              <a:rPr lang="en-US" sz="1200" dirty="0"/>
              <a:t> - divided or dividing into two sharply distinguished parts or classifications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61726F-856C-46B5-8EC8-F5953B6C59E9}" type="slidenum">
              <a:rPr lang="en-US"/>
              <a:pPr/>
              <a:t>26</a:t>
            </a:fld>
            <a:endParaRPr lang="en-US"/>
          </a:p>
        </p:txBody>
      </p:sp>
      <p:sp>
        <p:nvSpPr>
          <p:cNvPr id="1173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3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7CB78-8B21-4025-8072-BDBFB6C5E8EE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49FD7-BF70-440B-BB2C-CBC1862B0E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27E90-5AD8-4DE0-BB8E-D5BF89908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74416-8D94-4DD7-97BE-CE509B22D7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48D1D-1ABB-45C9-ABEB-538BAE706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5029200" cy="1470025"/>
          </a:xfrm>
        </p:spPr>
        <p:txBody>
          <a:bodyPr>
            <a:normAutofit/>
          </a:bodyPr>
          <a:lstStyle/>
          <a:p>
            <a:r>
              <a:rPr lang="en-US" sz="3200" dirty="0"/>
              <a:t>RESEARCH METHODOLOGY</a:t>
            </a:r>
          </a:p>
        </p:txBody>
      </p:sp>
      <p:pic>
        <p:nvPicPr>
          <p:cNvPr id="4" name="Picture 4" descr="E:\CLIPART\PLANTS\BLOSSOMS\PTBL003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7775" y="0"/>
            <a:ext cx="40862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E:\CLIPART\PLANTS\BLOSSOMS\PTBL025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837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5275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Formulation of hypothesis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09713"/>
            <a:ext cx="7772400" cy="277177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</a:rPr>
              <a:t>1.Xerophytes have thick, succulent habit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</a:rPr>
              <a:t>2.Chemical evidence is the last word for plant </a:t>
            </a:r>
            <a:r>
              <a:rPr lang="en-US" dirty="0" err="1">
                <a:solidFill>
                  <a:schemeClr val="bg2"/>
                </a:solidFill>
              </a:rPr>
              <a:t>systematics</a:t>
            </a:r>
            <a:endParaRPr lang="en-US" dirty="0">
              <a:solidFill>
                <a:schemeClr val="bg2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solidFill>
                  <a:schemeClr val="bg2"/>
                </a:solidFill>
              </a:rPr>
              <a:t>3.All the animals have hairs and are adapted to </a:t>
            </a:r>
            <a:r>
              <a:rPr lang="en-US" dirty="0" err="1">
                <a:solidFill>
                  <a:schemeClr val="bg2"/>
                </a:solidFill>
              </a:rPr>
              <a:t>artic</a:t>
            </a:r>
            <a:r>
              <a:rPr lang="en-US" dirty="0">
                <a:solidFill>
                  <a:schemeClr val="bg2"/>
                </a:solidFill>
              </a:rPr>
              <a:t> life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to define an objective?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4854575" cy="4114800"/>
          </a:xfrm>
        </p:spPr>
        <p:txBody>
          <a:bodyPr/>
          <a:lstStyle/>
          <a:p>
            <a:pPr eaLnBrk="1" hangingPunct="1"/>
            <a:r>
              <a:rPr lang="en-US" sz="2800" dirty="0"/>
              <a:t>Search the available literature</a:t>
            </a:r>
          </a:p>
          <a:p>
            <a:pPr eaLnBrk="1" hangingPunct="1"/>
            <a:r>
              <a:rPr lang="en-US" sz="2800" dirty="0"/>
              <a:t>If it reveals that the idea has already been tested </a:t>
            </a:r>
          </a:p>
          <a:p>
            <a:pPr eaLnBrk="1" hangingPunct="1"/>
            <a:r>
              <a:rPr lang="en-US" sz="2800" dirty="0"/>
              <a:t>Drop the idea and go for another one</a:t>
            </a:r>
          </a:p>
          <a:p>
            <a:pPr eaLnBrk="1" hangingPunct="1"/>
            <a:r>
              <a:rPr lang="en-US" sz="2800" dirty="0"/>
              <a:t>Otherwise precise the objective to explore the undocumented point</a:t>
            </a:r>
          </a:p>
          <a:p>
            <a:pPr eaLnBrk="1" hangingPunct="1"/>
            <a:endParaRPr lang="en-US" sz="2800" dirty="0"/>
          </a:p>
        </p:txBody>
      </p:sp>
      <p:pic>
        <p:nvPicPr>
          <p:cNvPr id="17412" name="Picture 6" descr="C:\Program Files\Common Files\Microsoft Shared\Clipart\cagcat50\bs00554_.wmf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699125" y="3776663"/>
            <a:ext cx="3189288" cy="2782887"/>
          </a:xfrm>
          <a:noFill/>
        </p:spPr>
      </p:pic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sz="3200" dirty="0"/>
              <a:t>Difference between aim and objective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Aims point out the general purpose of the study</a:t>
            </a:r>
          </a:p>
          <a:p>
            <a:pPr eaLnBrk="1" hangingPunct="1"/>
            <a:r>
              <a:rPr lang="en-US" dirty="0"/>
              <a:t>Objectives spell out exactly what one intends to do in the study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30200" y="1252538"/>
            <a:ext cx="4445000" cy="4114800"/>
          </a:xfrm>
        </p:spPr>
        <p:txBody>
          <a:bodyPr/>
          <a:lstStyle/>
          <a:p>
            <a:pPr eaLnBrk="1" hangingPunct="1"/>
            <a:endParaRPr lang="en-US" sz="2800" dirty="0"/>
          </a:p>
          <a:p>
            <a:pPr eaLnBrk="1" hangingPunct="1"/>
            <a:endParaRPr lang="en-US" sz="2800" dirty="0"/>
          </a:p>
          <a:p>
            <a:pPr eaLnBrk="1" hangingPunct="1">
              <a:buFontTx/>
              <a:buNone/>
            </a:pPr>
            <a:r>
              <a:rPr lang="en-US" sz="2800" dirty="0"/>
              <a:t>	</a:t>
            </a:r>
            <a:r>
              <a:rPr lang="en-US" sz="4000" dirty="0"/>
              <a:t>Make the objective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simple, unambiguous </a:t>
            </a:r>
            <a:r>
              <a:rPr lang="en-US" sz="4000" dirty="0"/>
              <a:t>and </a:t>
            </a:r>
            <a:r>
              <a:rPr lang="en-US" sz="4000" dirty="0">
                <a:solidFill>
                  <a:schemeClr val="accent6">
                    <a:lumMod val="50000"/>
                  </a:schemeClr>
                </a:solidFill>
              </a:rPr>
              <a:t>precise</a:t>
            </a:r>
          </a:p>
        </p:txBody>
      </p:sp>
      <p:pic>
        <p:nvPicPr>
          <p:cNvPr id="19459" name="Picture 9" descr="C:\Program Files\Common Files\Microsoft Shared\Clipart\cagcat50\bd06663_.wmf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4778375" y="1247775"/>
            <a:ext cx="3810000" cy="3752850"/>
          </a:xfrm>
          <a:noFill/>
        </p:spPr>
      </p:pic>
    </p:spTree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:\CLIPART\PLANTS\TREELEVS\PTTR012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Protocol Writing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Maintain  a log book where all the events pertaining to the dissertation work can be entered.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The protocol is a formal or official transaction or proceeding.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It contain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			A well defined aim and objective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 			Relevant literature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			Details of study design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			Methodology and data collection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			Out come of research and usefulness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Basic principles of experimental design</a:t>
            </a:r>
          </a:p>
        </p:txBody>
      </p:sp>
      <p:sp>
        <p:nvSpPr>
          <p:cNvPr id="21507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4038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The principle of replication</a:t>
            </a:r>
          </a:p>
          <a:p>
            <a:pPr lvl="1" eaLnBrk="1" hangingPunct="1"/>
            <a:r>
              <a:rPr lang="en-US" dirty="0"/>
              <a:t>The experiment should be repeated more than once.</a:t>
            </a:r>
          </a:p>
          <a:p>
            <a:pPr lvl="1" eaLnBrk="1" hangingPunct="1"/>
            <a:r>
              <a:rPr lang="en-US" dirty="0"/>
              <a:t>The statistical accuracy is increased.</a:t>
            </a:r>
          </a:p>
          <a:p>
            <a:pPr lvl="1" eaLnBrk="1" hangingPunct="1"/>
            <a:r>
              <a:rPr lang="en-US" dirty="0"/>
              <a:t>Replication helps to increase  precision. </a:t>
            </a:r>
          </a:p>
          <a:p>
            <a:pPr lvl="1" eaLnBrk="1" hangingPunct="1">
              <a:buFontTx/>
              <a:buNone/>
            </a:pPr>
            <a:r>
              <a:rPr lang="en-US" dirty="0"/>
              <a:t>	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01AE-F940-4EE8-869C-F1E5A9B1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The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A3E19-19A5-4C4B-B455-ACBD7D574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US" dirty="0"/>
              <a:t>Two Types of data</a:t>
            </a:r>
          </a:p>
          <a:p>
            <a:pPr lvl="0">
              <a:buNone/>
            </a:pPr>
            <a:endParaRPr lang="en-US" dirty="0"/>
          </a:p>
          <a:p>
            <a:pPr lvl="1"/>
            <a:r>
              <a:rPr lang="en-US" dirty="0"/>
              <a:t>Primary – those which are collected fresh and for the first time</a:t>
            </a:r>
          </a:p>
          <a:p>
            <a:pPr lvl="1"/>
            <a:r>
              <a:rPr lang="en-US" dirty="0"/>
              <a:t>Secondary – those have already been collected by someone else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66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4" descr="C:\Program Files\Common Files\Microsoft Shared\Clipart\cagcat50\an02097_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25" y="3608388"/>
            <a:ext cx="2684463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Methods of data collection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7338" y="1981200"/>
            <a:ext cx="7329487" cy="4114800"/>
          </a:xfrm>
        </p:spPr>
        <p:txBody>
          <a:bodyPr/>
          <a:lstStyle/>
          <a:p>
            <a:pPr eaLnBrk="1" hangingPunct="1"/>
            <a:r>
              <a:rPr lang="en-US" dirty="0"/>
              <a:t>Primary data</a:t>
            </a:r>
          </a:p>
          <a:p>
            <a:pPr lvl="1" eaLnBrk="1" hangingPunct="1"/>
            <a:r>
              <a:rPr lang="en-US" dirty="0"/>
              <a:t>Observation method- most common</a:t>
            </a:r>
          </a:p>
          <a:p>
            <a:pPr lvl="1" eaLnBrk="1" hangingPunct="1"/>
            <a:r>
              <a:rPr lang="en-US" dirty="0"/>
              <a:t>Interview method- face to face contact</a:t>
            </a:r>
          </a:p>
          <a:p>
            <a:pPr lvl="1" eaLnBrk="1" hangingPunct="1"/>
            <a:r>
              <a:rPr lang="en-US" dirty="0"/>
              <a:t>Through questionnaires – popular in surveys</a:t>
            </a:r>
          </a:p>
          <a:p>
            <a:pPr lvl="1" eaLnBrk="1" hangingPunct="1"/>
            <a:r>
              <a:rPr lang="en-US" dirty="0"/>
              <a:t>Using mechanical devices - photographs</a:t>
            </a:r>
          </a:p>
          <a:p>
            <a:pPr lvl="1" eaLnBrk="1" hangingPunct="1"/>
            <a:r>
              <a:rPr lang="en-US" dirty="0"/>
              <a:t>Content analysis- analyzing documents</a:t>
            </a:r>
          </a:p>
          <a:p>
            <a:pPr lvl="1" eaLnBrk="1" hangingPunct="1">
              <a:buFontTx/>
              <a:buNone/>
            </a:pPr>
            <a:endParaRPr lang="en-US" dirty="0"/>
          </a:p>
          <a:p>
            <a:pPr lvl="1"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200"/>
              <a:t>Secondary data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4819650" cy="4114800"/>
          </a:xfrm>
        </p:spPr>
        <p:txBody>
          <a:bodyPr/>
          <a:lstStyle/>
          <a:p>
            <a:pPr eaLnBrk="1" hangingPunct="1"/>
            <a:r>
              <a:rPr lang="en-US" dirty="0"/>
              <a:t>Publications</a:t>
            </a:r>
          </a:p>
          <a:p>
            <a:pPr eaLnBrk="1" hangingPunct="1"/>
            <a:r>
              <a:rPr lang="en-US" dirty="0"/>
              <a:t>Reports and journals</a:t>
            </a:r>
          </a:p>
          <a:p>
            <a:pPr eaLnBrk="1" hangingPunct="1"/>
            <a:r>
              <a:rPr lang="en-US" dirty="0"/>
              <a:t>Books, news papers</a:t>
            </a:r>
          </a:p>
          <a:p>
            <a:pPr eaLnBrk="1" hangingPunct="1">
              <a:buFontTx/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/>
            <a:r>
              <a:rPr lang="en-US" sz="2800"/>
              <a:t>Selection of the method depend upon</a:t>
            </a:r>
            <a:br>
              <a:rPr lang="en-US"/>
            </a:b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Nature, scope and objective of the study</a:t>
            </a:r>
          </a:p>
          <a:p>
            <a:pPr eaLnBrk="1" hangingPunct="1"/>
            <a:r>
              <a:rPr lang="en-US"/>
              <a:t>Availability of funds</a:t>
            </a:r>
          </a:p>
          <a:p>
            <a:pPr eaLnBrk="1" hangingPunct="1"/>
            <a:r>
              <a:rPr lang="en-US"/>
              <a:t>Time factor</a:t>
            </a:r>
          </a:p>
          <a:p>
            <a:pPr eaLnBrk="1" hangingPunct="1"/>
            <a:r>
              <a:rPr lang="en-US"/>
              <a:t>Precision required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4908550" y="4217988"/>
            <a:ext cx="251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Representation of data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Tables </a:t>
            </a:r>
          </a:p>
          <a:p>
            <a:pPr lvl="1" eaLnBrk="1" hangingPunct="1"/>
            <a:r>
              <a:rPr lang="en-US"/>
              <a:t>Primary presentation of data</a:t>
            </a:r>
          </a:p>
          <a:p>
            <a:pPr lvl="1" eaLnBrk="1" hangingPunct="1"/>
            <a:r>
              <a:rPr lang="en-US"/>
              <a:t>Simple self explanatory , compact and readily understandable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/>
              <a:t>The table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US"/>
              <a:t>Have a number (Table.1,2,3…..)</a:t>
            </a:r>
          </a:p>
          <a:p>
            <a:pPr eaLnBrk="1" hangingPunct="1"/>
            <a:r>
              <a:rPr lang="en-US"/>
              <a:t>Short self explanatory title</a:t>
            </a:r>
          </a:p>
          <a:p>
            <a:pPr eaLnBrk="1" hangingPunct="1"/>
            <a:r>
              <a:rPr lang="en-US"/>
              <a:t>All columns have headings</a:t>
            </a:r>
          </a:p>
          <a:p>
            <a:pPr eaLnBrk="1" hangingPunct="1"/>
            <a:r>
              <a:rPr lang="en-US"/>
              <a:t>Mentioned the units</a:t>
            </a:r>
          </a:p>
          <a:p>
            <a:pPr eaLnBrk="1" hangingPunct="1"/>
            <a:r>
              <a:rPr lang="en-US"/>
              <a:t>Alignment of rows and columns are perfect</a:t>
            </a:r>
          </a:p>
          <a:p>
            <a:pPr eaLnBrk="1" hangingPunct="1">
              <a:buFontTx/>
              <a:buNone/>
            </a:pPr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2400">
                <a:solidFill>
                  <a:schemeClr val="tx1"/>
                </a:solidFill>
                <a:cs typeface="Times New Roman" pitchFamily="18" charset="0"/>
              </a:rPr>
              <a:t>Table.1. Crude fibre content in certain vegetables</a:t>
            </a:r>
            <a:r>
              <a:rPr lang="en-US" sz="2000">
                <a:solidFill>
                  <a:schemeClr val="tx1"/>
                </a:solidFill>
                <a:cs typeface="Times New Roman" pitchFamily="18" charset="0"/>
              </a:rPr>
              <a:t> </a:t>
            </a:r>
            <a:br>
              <a:rPr lang="en-US" sz="2000">
                <a:solidFill>
                  <a:schemeClr val="tx1"/>
                </a:solidFill>
                <a:cs typeface="Times New Roman" pitchFamily="18" charset="0"/>
              </a:rPr>
            </a:br>
            <a:br>
              <a:rPr lang="en-US" sz="2400">
                <a:solidFill>
                  <a:schemeClr val="tx1"/>
                </a:solidFill>
              </a:rPr>
            </a:b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2" name="Group 64"/>
          <p:cNvGrpSpPr>
            <a:grpSpLocks/>
          </p:cNvGrpSpPr>
          <p:nvPr/>
        </p:nvGrpSpPr>
        <p:grpSpPr bwMode="auto">
          <a:xfrm>
            <a:off x="381000" y="1447800"/>
            <a:ext cx="8077200" cy="4648200"/>
            <a:chOff x="-3" y="419"/>
            <a:chExt cx="3674" cy="3496"/>
          </a:xfrm>
        </p:grpSpPr>
        <p:grpSp>
          <p:nvGrpSpPr>
            <p:cNvPr id="3" name="Group 62"/>
            <p:cNvGrpSpPr>
              <a:grpSpLocks/>
            </p:cNvGrpSpPr>
            <p:nvPr/>
          </p:nvGrpSpPr>
          <p:grpSpPr bwMode="auto">
            <a:xfrm>
              <a:off x="0" y="422"/>
              <a:ext cx="3668" cy="3490"/>
              <a:chOff x="0" y="422"/>
              <a:chExt cx="3668" cy="3490"/>
            </a:xfrm>
          </p:grpSpPr>
          <p:grpSp>
            <p:nvGrpSpPr>
              <p:cNvPr id="4" name="Group 25"/>
              <p:cNvGrpSpPr>
                <a:grpSpLocks/>
              </p:cNvGrpSpPr>
              <p:nvPr/>
            </p:nvGrpSpPr>
            <p:grpSpPr bwMode="auto">
              <a:xfrm>
                <a:off x="0" y="422"/>
                <a:ext cx="1137" cy="844"/>
                <a:chOff x="0" y="422"/>
                <a:chExt cx="1137" cy="844"/>
              </a:xfrm>
            </p:grpSpPr>
            <p:sp>
              <p:nvSpPr>
                <p:cNvPr id="32829" name="Rectangle 5"/>
                <p:cNvSpPr>
                  <a:spLocks noChangeArrowheads="1"/>
                </p:cNvSpPr>
                <p:nvPr/>
              </p:nvSpPr>
              <p:spPr bwMode="auto">
                <a:xfrm>
                  <a:off x="43" y="422"/>
                  <a:ext cx="1051" cy="844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dirty="0">
                      <a:cs typeface="Times New Roman" pitchFamily="18" charset="0"/>
                    </a:rPr>
                    <a:t>Scientific name </a:t>
                  </a:r>
                </a:p>
                <a:p>
                  <a:pPr algn="just" eaLnBrk="0" hangingPunct="0"/>
                  <a:endParaRPr lang="en-US" sz="1600" dirty="0"/>
                </a:p>
              </p:txBody>
            </p:sp>
            <p:sp>
              <p:nvSpPr>
                <p:cNvPr id="32830" name="Rectangle 24"/>
                <p:cNvSpPr>
                  <a:spLocks noChangeArrowheads="1"/>
                </p:cNvSpPr>
                <p:nvPr/>
              </p:nvSpPr>
              <p:spPr bwMode="auto">
                <a:xfrm>
                  <a:off x="0" y="422"/>
                  <a:ext cx="1137" cy="844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27"/>
              <p:cNvGrpSpPr>
                <a:grpSpLocks/>
              </p:cNvGrpSpPr>
              <p:nvPr/>
            </p:nvGrpSpPr>
            <p:grpSpPr bwMode="auto">
              <a:xfrm>
                <a:off x="1137" y="422"/>
                <a:ext cx="2531" cy="422"/>
                <a:chOff x="1137" y="422"/>
                <a:chExt cx="2531" cy="422"/>
              </a:xfrm>
            </p:grpSpPr>
            <p:sp>
              <p:nvSpPr>
                <p:cNvPr id="32827" name="Rectangle 6"/>
                <p:cNvSpPr>
                  <a:spLocks noChangeArrowheads="1"/>
                </p:cNvSpPr>
                <p:nvPr/>
              </p:nvSpPr>
              <p:spPr bwMode="auto">
                <a:xfrm>
                  <a:off x="1180" y="422"/>
                  <a:ext cx="2445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Crude fibre content (%)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28" name="Rectangle 26"/>
                <p:cNvSpPr>
                  <a:spLocks noChangeArrowheads="1"/>
                </p:cNvSpPr>
                <p:nvPr/>
              </p:nvSpPr>
              <p:spPr bwMode="auto">
                <a:xfrm>
                  <a:off x="1137" y="422"/>
                  <a:ext cx="2531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29"/>
              <p:cNvGrpSpPr>
                <a:grpSpLocks/>
              </p:cNvGrpSpPr>
              <p:nvPr/>
            </p:nvGrpSpPr>
            <p:grpSpPr bwMode="auto">
              <a:xfrm>
                <a:off x="1137" y="844"/>
                <a:ext cx="1382" cy="422"/>
                <a:chOff x="1137" y="844"/>
                <a:chExt cx="1382" cy="422"/>
              </a:xfrm>
            </p:grpSpPr>
            <p:sp>
              <p:nvSpPr>
                <p:cNvPr id="32825" name="Rectangle 7"/>
                <p:cNvSpPr>
                  <a:spLocks noChangeArrowheads="1"/>
                </p:cNvSpPr>
                <p:nvPr/>
              </p:nvSpPr>
              <p:spPr bwMode="auto">
                <a:xfrm>
                  <a:off x="1180" y="844"/>
                  <a:ext cx="1296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Range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26" name="Rectangle 28"/>
                <p:cNvSpPr>
                  <a:spLocks noChangeArrowheads="1"/>
                </p:cNvSpPr>
                <p:nvPr/>
              </p:nvSpPr>
              <p:spPr bwMode="auto">
                <a:xfrm>
                  <a:off x="1137" y="844"/>
                  <a:ext cx="1382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31"/>
              <p:cNvGrpSpPr>
                <a:grpSpLocks/>
              </p:cNvGrpSpPr>
              <p:nvPr/>
            </p:nvGrpSpPr>
            <p:grpSpPr bwMode="auto">
              <a:xfrm>
                <a:off x="2519" y="844"/>
                <a:ext cx="1149" cy="422"/>
                <a:chOff x="2519" y="844"/>
                <a:chExt cx="1149" cy="422"/>
              </a:xfrm>
            </p:grpSpPr>
            <p:sp>
              <p:nvSpPr>
                <p:cNvPr id="32823" name="Rectangle 8"/>
                <p:cNvSpPr>
                  <a:spLocks noChangeArrowheads="1"/>
                </p:cNvSpPr>
                <p:nvPr/>
              </p:nvSpPr>
              <p:spPr bwMode="auto">
                <a:xfrm>
                  <a:off x="2562" y="844"/>
                  <a:ext cx="1063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Mean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24" name="Rectangle 30"/>
                <p:cNvSpPr>
                  <a:spLocks noChangeArrowheads="1"/>
                </p:cNvSpPr>
                <p:nvPr/>
              </p:nvSpPr>
              <p:spPr bwMode="auto">
                <a:xfrm>
                  <a:off x="2519" y="844"/>
                  <a:ext cx="1149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33"/>
              <p:cNvGrpSpPr>
                <a:grpSpLocks/>
              </p:cNvGrpSpPr>
              <p:nvPr/>
            </p:nvGrpSpPr>
            <p:grpSpPr bwMode="auto">
              <a:xfrm>
                <a:off x="0" y="1266"/>
                <a:ext cx="1137" cy="556"/>
                <a:chOff x="0" y="1266"/>
                <a:chExt cx="1137" cy="556"/>
              </a:xfrm>
            </p:grpSpPr>
            <p:sp>
              <p:nvSpPr>
                <p:cNvPr id="32821" name="Rectangle 9"/>
                <p:cNvSpPr>
                  <a:spLocks noChangeArrowheads="1"/>
                </p:cNvSpPr>
                <p:nvPr/>
              </p:nvSpPr>
              <p:spPr bwMode="auto">
                <a:xfrm>
                  <a:off x="43" y="1266"/>
                  <a:ext cx="1051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i="1">
                      <a:cs typeface="Times New Roman" pitchFamily="18" charset="0"/>
                    </a:rPr>
                    <a:t>1. Capsicum annuum </a:t>
                  </a:r>
                  <a:endParaRPr lang="en-US" sz="1600">
                    <a:cs typeface="Times New Roman" pitchFamily="18" charset="0"/>
                  </a:endParaRPr>
                </a:p>
                <a:p>
                  <a:pPr algn="just" eaLnBrk="0" hangingPunct="0"/>
                  <a:endParaRPr lang="en-US" sz="1600"/>
                </a:p>
              </p:txBody>
            </p:sp>
            <p:sp>
              <p:nvSpPr>
                <p:cNvPr id="32822" name="Rectangle 32"/>
                <p:cNvSpPr>
                  <a:spLocks noChangeArrowheads="1"/>
                </p:cNvSpPr>
                <p:nvPr/>
              </p:nvSpPr>
              <p:spPr bwMode="auto">
                <a:xfrm>
                  <a:off x="0" y="1266"/>
                  <a:ext cx="1137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1137" y="1266"/>
                <a:ext cx="1382" cy="556"/>
                <a:chOff x="1137" y="1266"/>
                <a:chExt cx="1382" cy="556"/>
              </a:xfrm>
            </p:grpSpPr>
            <p:sp>
              <p:nvSpPr>
                <p:cNvPr id="32819" name="Rectangle 10"/>
                <p:cNvSpPr>
                  <a:spLocks noChangeArrowheads="1"/>
                </p:cNvSpPr>
                <p:nvPr/>
              </p:nvSpPr>
              <p:spPr bwMode="auto">
                <a:xfrm>
                  <a:off x="1180" y="1266"/>
                  <a:ext cx="1296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0.8 - 1.5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20" name="Rectangle 34"/>
                <p:cNvSpPr>
                  <a:spLocks noChangeArrowheads="1"/>
                </p:cNvSpPr>
                <p:nvPr/>
              </p:nvSpPr>
              <p:spPr bwMode="auto">
                <a:xfrm>
                  <a:off x="1137" y="1266"/>
                  <a:ext cx="1382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37"/>
              <p:cNvGrpSpPr>
                <a:grpSpLocks/>
              </p:cNvGrpSpPr>
              <p:nvPr/>
            </p:nvGrpSpPr>
            <p:grpSpPr bwMode="auto">
              <a:xfrm>
                <a:off x="2519" y="1266"/>
                <a:ext cx="1149" cy="556"/>
                <a:chOff x="2519" y="1266"/>
                <a:chExt cx="1149" cy="556"/>
              </a:xfrm>
            </p:grpSpPr>
            <p:sp>
              <p:nvSpPr>
                <p:cNvPr id="32817" name="Rectangle 11"/>
                <p:cNvSpPr>
                  <a:spLocks noChangeArrowheads="1"/>
                </p:cNvSpPr>
                <p:nvPr/>
              </p:nvSpPr>
              <p:spPr bwMode="auto">
                <a:xfrm>
                  <a:off x="2562" y="1266"/>
                  <a:ext cx="1063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1.0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18" name="Rectangle 36"/>
                <p:cNvSpPr>
                  <a:spLocks noChangeArrowheads="1"/>
                </p:cNvSpPr>
                <p:nvPr/>
              </p:nvSpPr>
              <p:spPr bwMode="auto">
                <a:xfrm>
                  <a:off x="2519" y="1266"/>
                  <a:ext cx="1149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39"/>
              <p:cNvGrpSpPr>
                <a:grpSpLocks/>
              </p:cNvGrpSpPr>
              <p:nvPr/>
            </p:nvGrpSpPr>
            <p:grpSpPr bwMode="auto">
              <a:xfrm>
                <a:off x="0" y="1822"/>
                <a:ext cx="1137" cy="556"/>
                <a:chOff x="0" y="1822"/>
                <a:chExt cx="1137" cy="556"/>
              </a:xfrm>
            </p:grpSpPr>
            <p:sp>
              <p:nvSpPr>
                <p:cNvPr id="32815" name="Rectangle 12"/>
                <p:cNvSpPr>
                  <a:spLocks noChangeArrowheads="1"/>
                </p:cNvSpPr>
                <p:nvPr/>
              </p:nvSpPr>
              <p:spPr bwMode="auto">
                <a:xfrm>
                  <a:off x="43" y="1822"/>
                  <a:ext cx="1051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i="1">
                      <a:cs typeface="Times New Roman" pitchFamily="18" charset="0"/>
                    </a:rPr>
                    <a:t>2.Trichosanthus anguina</a:t>
                  </a:r>
                  <a:endParaRPr lang="en-US" sz="1600">
                    <a:cs typeface="Times New Roman" pitchFamily="18" charset="0"/>
                  </a:endParaRPr>
                </a:p>
                <a:p>
                  <a:pPr algn="just" eaLnBrk="0" hangingPunct="0"/>
                  <a:endParaRPr lang="en-US" sz="1600"/>
                </a:p>
              </p:txBody>
            </p:sp>
            <p:sp>
              <p:nvSpPr>
                <p:cNvPr id="32816" name="Rectangle 38"/>
                <p:cNvSpPr>
                  <a:spLocks noChangeArrowheads="1"/>
                </p:cNvSpPr>
                <p:nvPr/>
              </p:nvSpPr>
              <p:spPr bwMode="auto">
                <a:xfrm>
                  <a:off x="0" y="1822"/>
                  <a:ext cx="1137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41"/>
              <p:cNvGrpSpPr>
                <a:grpSpLocks/>
              </p:cNvGrpSpPr>
              <p:nvPr/>
            </p:nvGrpSpPr>
            <p:grpSpPr bwMode="auto">
              <a:xfrm>
                <a:off x="1137" y="1822"/>
                <a:ext cx="1382" cy="556"/>
                <a:chOff x="1137" y="1822"/>
                <a:chExt cx="1382" cy="556"/>
              </a:xfrm>
            </p:grpSpPr>
            <p:sp>
              <p:nvSpPr>
                <p:cNvPr id="32813" name="Rectangle 13"/>
                <p:cNvSpPr>
                  <a:spLocks noChangeArrowheads="1"/>
                </p:cNvSpPr>
                <p:nvPr/>
              </p:nvSpPr>
              <p:spPr bwMode="auto">
                <a:xfrm>
                  <a:off x="1180" y="1822"/>
                  <a:ext cx="1296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1.0 - 2.1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14" name="Rectangle 40"/>
                <p:cNvSpPr>
                  <a:spLocks noChangeArrowheads="1"/>
                </p:cNvSpPr>
                <p:nvPr/>
              </p:nvSpPr>
              <p:spPr bwMode="auto">
                <a:xfrm>
                  <a:off x="1137" y="1822"/>
                  <a:ext cx="1382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43"/>
              <p:cNvGrpSpPr>
                <a:grpSpLocks/>
              </p:cNvGrpSpPr>
              <p:nvPr/>
            </p:nvGrpSpPr>
            <p:grpSpPr bwMode="auto">
              <a:xfrm>
                <a:off x="2519" y="1822"/>
                <a:ext cx="1149" cy="556"/>
                <a:chOff x="2519" y="1822"/>
                <a:chExt cx="1149" cy="556"/>
              </a:xfrm>
            </p:grpSpPr>
            <p:sp>
              <p:nvSpPr>
                <p:cNvPr id="32811" name="Rectangle 14"/>
                <p:cNvSpPr>
                  <a:spLocks noChangeArrowheads="1"/>
                </p:cNvSpPr>
                <p:nvPr/>
              </p:nvSpPr>
              <p:spPr bwMode="auto">
                <a:xfrm>
                  <a:off x="2562" y="1822"/>
                  <a:ext cx="1063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1.8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12" name="Rectangle 42"/>
                <p:cNvSpPr>
                  <a:spLocks noChangeArrowheads="1"/>
                </p:cNvSpPr>
                <p:nvPr/>
              </p:nvSpPr>
              <p:spPr bwMode="auto">
                <a:xfrm>
                  <a:off x="2519" y="1822"/>
                  <a:ext cx="1149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45"/>
              <p:cNvGrpSpPr>
                <a:grpSpLocks/>
              </p:cNvGrpSpPr>
              <p:nvPr/>
            </p:nvGrpSpPr>
            <p:grpSpPr bwMode="auto">
              <a:xfrm>
                <a:off x="0" y="2378"/>
                <a:ext cx="1137" cy="422"/>
                <a:chOff x="0" y="2378"/>
                <a:chExt cx="1137" cy="422"/>
              </a:xfrm>
            </p:grpSpPr>
            <p:sp>
              <p:nvSpPr>
                <p:cNvPr id="32809" name="Rectangle 15"/>
                <p:cNvSpPr>
                  <a:spLocks noChangeArrowheads="1"/>
                </p:cNvSpPr>
                <p:nvPr/>
              </p:nvSpPr>
              <p:spPr bwMode="auto">
                <a:xfrm>
                  <a:off x="43" y="2378"/>
                  <a:ext cx="1051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i="1">
                      <a:cs typeface="Times New Roman" pitchFamily="18" charset="0"/>
                    </a:rPr>
                    <a:t>3. Lufa acutangula</a:t>
                  </a:r>
                  <a:endParaRPr lang="en-US" sz="1600">
                    <a:cs typeface="Times New Roman" pitchFamily="18" charset="0"/>
                  </a:endParaRPr>
                </a:p>
                <a:p>
                  <a:pPr algn="just" eaLnBrk="0" hangingPunct="0"/>
                  <a:endParaRPr lang="en-US" sz="1600"/>
                </a:p>
              </p:txBody>
            </p:sp>
            <p:sp>
              <p:nvSpPr>
                <p:cNvPr id="32810" name="Rectangle 44"/>
                <p:cNvSpPr>
                  <a:spLocks noChangeArrowheads="1"/>
                </p:cNvSpPr>
                <p:nvPr/>
              </p:nvSpPr>
              <p:spPr bwMode="auto">
                <a:xfrm>
                  <a:off x="0" y="2378"/>
                  <a:ext cx="1137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47"/>
              <p:cNvGrpSpPr>
                <a:grpSpLocks/>
              </p:cNvGrpSpPr>
              <p:nvPr/>
            </p:nvGrpSpPr>
            <p:grpSpPr bwMode="auto">
              <a:xfrm>
                <a:off x="1137" y="2378"/>
                <a:ext cx="1382" cy="422"/>
                <a:chOff x="1137" y="2378"/>
                <a:chExt cx="1382" cy="422"/>
              </a:xfrm>
            </p:grpSpPr>
            <p:sp>
              <p:nvSpPr>
                <p:cNvPr id="32807" name="Rectangle 16"/>
                <p:cNvSpPr>
                  <a:spLocks noChangeArrowheads="1"/>
                </p:cNvSpPr>
                <p:nvPr/>
              </p:nvSpPr>
              <p:spPr bwMode="auto">
                <a:xfrm>
                  <a:off x="1180" y="2378"/>
                  <a:ext cx="1296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0.7 - 2.6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08" name="Rectangle 46"/>
                <p:cNvSpPr>
                  <a:spLocks noChangeArrowheads="1"/>
                </p:cNvSpPr>
                <p:nvPr/>
              </p:nvSpPr>
              <p:spPr bwMode="auto">
                <a:xfrm>
                  <a:off x="1137" y="2378"/>
                  <a:ext cx="1382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49"/>
              <p:cNvGrpSpPr>
                <a:grpSpLocks/>
              </p:cNvGrpSpPr>
              <p:nvPr/>
            </p:nvGrpSpPr>
            <p:grpSpPr bwMode="auto">
              <a:xfrm>
                <a:off x="2519" y="2378"/>
                <a:ext cx="1149" cy="422"/>
                <a:chOff x="2519" y="2378"/>
                <a:chExt cx="1149" cy="422"/>
              </a:xfrm>
            </p:grpSpPr>
            <p:sp>
              <p:nvSpPr>
                <p:cNvPr id="32805" name="Rectangle 17"/>
                <p:cNvSpPr>
                  <a:spLocks noChangeArrowheads="1"/>
                </p:cNvSpPr>
                <p:nvPr/>
              </p:nvSpPr>
              <p:spPr bwMode="auto">
                <a:xfrm>
                  <a:off x="2562" y="2378"/>
                  <a:ext cx="1063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1.5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06" name="Rectangle 48"/>
                <p:cNvSpPr>
                  <a:spLocks noChangeArrowheads="1"/>
                </p:cNvSpPr>
                <p:nvPr/>
              </p:nvSpPr>
              <p:spPr bwMode="auto">
                <a:xfrm>
                  <a:off x="2519" y="2378"/>
                  <a:ext cx="1149" cy="422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51"/>
              <p:cNvGrpSpPr>
                <a:grpSpLocks/>
              </p:cNvGrpSpPr>
              <p:nvPr/>
            </p:nvGrpSpPr>
            <p:grpSpPr bwMode="auto">
              <a:xfrm>
                <a:off x="0" y="2800"/>
                <a:ext cx="1137" cy="556"/>
                <a:chOff x="0" y="2800"/>
                <a:chExt cx="1137" cy="556"/>
              </a:xfrm>
            </p:grpSpPr>
            <p:sp>
              <p:nvSpPr>
                <p:cNvPr id="32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2800"/>
                  <a:ext cx="1051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i="1">
                      <a:cs typeface="Times New Roman" pitchFamily="18" charset="0"/>
                    </a:rPr>
                    <a:t>4. Benincasa hispida</a:t>
                  </a:r>
                  <a:endParaRPr lang="en-US" sz="1600">
                    <a:cs typeface="Times New Roman" pitchFamily="18" charset="0"/>
                  </a:endParaRPr>
                </a:p>
                <a:p>
                  <a:pPr algn="just" eaLnBrk="0" hangingPunct="0"/>
                  <a:endParaRPr lang="en-US" sz="1600"/>
                </a:p>
              </p:txBody>
            </p:sp>
            <p:sp>
              <p:nvSpPr>
                <p:cNvPr id="32804" name="Rectangle 50"/>
                <p:cNvSpPr>
                  <a:spLocks noChangeArrowheads="1"/>
                </p:cNvSpPr>
                <p:nvPr/>
              </p:nvSpPr>
              <p:spPr bwMode="auto">
                <a:xfrm>
                  <a:off x="0" y="2800"/>
                  <a:ext cx="1137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53"/>
              <p:cNvGrpSpPr>
                <a:grpSpLocks/>
              </p:cNvGrpSpPr>
              <p:nvPr/>
            </p:nvGrpSpPr>
            <p:grpSpPr bwMode="auto">
              <a:xfrm>
                <a:off x="1137" y="2800"/>
                <a:ext cx="1382" cy="556"/>
                <a:chOff x="1137" y="2800"/>
                <a:chExt cx="1382" cy="556"/>
              </a:xfrm>
            </p:grpSpPr>
            <p:sp>
              <p:nvSpPr>
                <p:cNvPr id="32801" name="Rectangle 19"/>
                <p:cNvSpPr>
                  <a:spLocks noChangeArrowheads="1"/>
                </p:cNvSpPr>
                <p:nvPr/>
              </p:nvSpPr>
              <p:spPr bwMode="auto">
                <a:xfrm>
                  <a:off x="1180" y="2800"/>
                  <a:ext cx="1296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0.5 - 1.2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02" name="Rectangle 52"/>
                <p:cNvSpPr>
                  <a:spLocks noChangeArrowheads="1"/>
                </p:cNvSpPr>
                <p:nvPr/>
              </p:nvSpPr>
              <p:spPr bwMode="auto">
                <a:xfrm>
                  <a:off x="1137" y="2800"/>
                  <a:ext cx="1382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55"/>
              <p:cNvGrpSpPr>
                <a:grpSpLocks/>
              </p:cNvGrpSpPr>
              <p:nvPr/>
            </p:nvGrpSpPr>
            <p:grpSpPr bwMode="auto">
              <a:xfrm>
                <a:off x="2519" y="2800"/>
                <a:ext cx="1149" cy="556"/>
                <a:chOff x="2519" y="2800"/>
                <a:chExt cx="1149" cy="556"/>
              </a:xfrm>
            </p:grpSpPr>
            <p:sp>
              <p:nvSpPr>
                <p:cNvPr id="32799" name="Rectangle 20"/>
                <p:cNvSpPr>
                  <a:spLocks noChangeArrowheads="1"/>
                </p:cNvSpPr>
                <p:nvPr/>
              </p:nvSpPr>
              <p:spPr bwMode="auto">
                <a:xfrm>
                  <a:off x="2562" y="2800"/>
                  <a:ext cx="1063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0.8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800" name="Rectangle 54"/>
                <p:cNvSpPr>
                  <a:spLocks noChangeArrowheads="1"/>
                </p:cNvSpPr>
                <p:nvPr/>
              </p:nvSpPr>
              <p:spPr bwMode="auto">
                <a:xfrm>
                  <a:off x="2519" y="2800"/>
                  <a:ext cx="1149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57"/>
              <p:cNvGrpSpPr>
                <a:grpSpLocks/>
              </p:cNvGrpSpPr>
              <p:nvPr/>
            </p:nvGrpSpPr>
            <p:grpSpPr bwMode="auto">
              <a:xfrm>
                <a:off x="0" y="3356"/>
                <a:ext cx="1137" cy="556"/>
                <a:chOff x="0" y="3356"/>
                <a:chExt cx="1137" cy="556"/>
              </a:xfrm>
            </p:grpSpPr>
            <p:sp>
              <p:nvSpPr>
                <p:cNvPr id="32797" name="Rectangle 21"/>
                <p:cNvSpPr>
                  <a:spLocks noChangeArrowheads="1"/>
                </p:cNvSpPr>
                <p:nvPr/>
              </p:nvSpPr>
              <p:spPr bwMode="auto">
                <a:xfrm>
                  <a:off x="43" y="3356"/>
                  <a:ext cx="1051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just" eaLnBrk="0" hangingPunct="0"/>
                  <a:r>
                    <a:rPr lang="en-US" sz="1600" i="1">
                      <a:cs typeface="Times New Roman" pitchFamily="18" charset="0"/>
                    </a:rPr>
                    <a:t>5.Cephalandra indica </a:t>
                  </a:r>
                  <a:endParaRPr lang="en-US" sz="1600">
                    <a:cs typeface="Times New Roman" pitchFamily="18" charset="0"/>
                  </a:endParaRPr>
                </a:p>
                <a:p>
                  <a:pPr algn="just" eaLnBrk="0" hangingPunct="0"/>
                  <a:endParaRPr lang="en-US" sz="1600"/>
                </a:p>
              </p:txBody>
            </p:sp>
            <p:sp>
              <p:nvSpPr>
                <p:cNvPr id="32798" name="Rectangle 56"/>
                <p:cNvSpPr>
                  <a:spLocks noChangeArrowheads="1"/>
                </p:cNvSpPr>
                <p:nvPr/>
              </p:nvSpPr>
              <p:spPr bwMode="auto">
                <a:xfrm>
                  <a:off x="0" y="3356"/>
                  <a:ext cx="1137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59"/>
              <p:cNvGrpSpPr>
                <a:grpSpLocks/>
              </p:cNvGrpSpPr>
              <p:nvPr/>
            </p:nvGrpSpPr>
            <p:grpSpPr bwMode="auto">
              <a:xfrm>
                <a:off x="1137" y="3356"/>
                <a:ext cx="1382" cy="556"/>
                <a:chOff x="1137" y="3356"/>
                <a:chExt cx="1382" cy="556"/>
              </a:xfrm>
            </p:grpSpPr>
            <p:sp>
              <p:nvSpPr>
                <p:cNvPr id="32795" name="Rectangle 22"/>
                <p:cNvSpPr>
                  <a:spLocks noChangeArrowheads="1"/>
                </p:cNvSpPr>
                <p:nvPr/>
              </p:nvSpPr>
              <p:spPr bwMode="auto">
                <a:xfrm>
                  <a:off x="1180" y="3356"/>
                  <a:ext cx="1296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0.7 - 2.2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796" name="Rectangle 58"/>
                <p:cNvSpPr>
                  <a:spLocks noChangeArrowheads="1"/>
                </p:cNvSpPr>
                <p:nvPr/>
              </p:nvSpPr>
              <p:spPr bwMode="auto">
                <a:xfrm>
                  <a:off x="1137" y="3356"/>
                  <a:ext cx="1382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61"/>
              <p:cNvGrpSpPr>
                <a:grpSpLocks/>
              </p:cNvGrpSpPr>
              <p:nvPr/>
            </p:nvGrpSpPr>
            <p:grpSpPr bwMode="auto">
              <a:xfrm>
                <a:off x="2519" y="3356"/>
                <a:ext cx="1149" cy="556"/>
                <a:chOff x="2519" y="3356"/>
                <a:chExt cx="1149" cy="556"/>
              </a:xfrm>
            </p:grpSpPr>
            <p:sp>
              <p:nvSpPr>
                <p:cNvPr id="32793" name="Rectangle 23"/>
                <p:cNvSpPr>
                  <a:spLocks noChangeArrowheads="1"/>
                </p:cNvSpPr>
                <p:nvPr/>
              </p:nvSpPr>
              <p:spPr bwMode="auto">
                <a:xfrm>
                  <a:off x="2562" y="3356"/>
                  <a:ext cx="1063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 eaLnBrk="0" hangingPunct="0"/>
                  <a:r>
                    <a:rPr lang="en-US" sz="1600">
                      <a:cs typeface="Times New Roman" pitchFamily="18" charset="0"/>
                    </a:rPr>
                    <a:t>1.6</a:t>
                  </a:r>
                </a:p>
                <a:p>
                  <a:pPr algn="ctr" eaLnBrk="0" hangingPunct="0"/>
                  <a:endParaRPr lang="en-US" sz="1600"/>
                </a:p>
              </p:txBody>
            </p:sp>
            <p:sp>
              <p:nvSpPr>
                <p:cNvPr id="32794" name="Rectangle 60"/>
                <p:cNvSpPr>
                  <a:spLocks noChangeArrowheads="1"/>
                </p:cNvSpPr>
                <p:nvPr/>
              </p:nvSpPr>
              <p:spPr bwMode="auto">
                <a:xfrm>
                  <a:off x="2519" y="3356"/>
                  <a:ext cx="1149" cy="556"/>
                </a:xfrm>
                <a:prstGeom prst="rect">
                  <a:avLst/>
                </a:prstGeom>
                <a:noFill/>
                <a:ln w="19050" cmpd="thinThick">
                  <a:solidFill>
                    <a:schemeClr val="folHlink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2773" name="Rectangle 63"/>
            <p:cNvSpPr>
              <a:spLocks noChangeArrowheads="1"/>
            </p:cNvSpPr>
            <p:nvPr/>
          </p:nvSpPr>
          <p:spPr bwMode="auto">
            <a:xfrm>
              <a:off x="-3" y="419"/>
              <a:ext cx="3674" cy="3496"/>
            </a:xfrm>
            <a:prstGeom prst="rect">
              <a:avLst/>
            </a:prstGeom>
            <a:noFill/>
            <a:ln w="19050" cmpd="thinThick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Figures</a:t>
            </a:r>
          </a:p>
          <a:p>
            <a:pPr lvl="1" eaLnBrk="1" hangingPunct="1"/>
            <a:r>
              <a:rPr lang="en-US"/>
              <a:t>Secondary presentation to highlight the important data</a:t>
            </a:r>
          </a:p>
          <a:p>
            <a:pPr lvl="1" eaLnBrk="1" hangingPunct="1"/>
            <a:r>
              <a:rPr lang="en-US"/>
              <a:t>Selection of the figure depends up on the type of data</a:t>
            </a:r>
          </a:p>
          <a:p>
            <a:pPr lvl="1" eaLnBrk="1" hangingPunct="1"/>
            <a:r>
              <a:rPr lang="en-US"/>
              <a:t>The figure may be </a:t>
            </a:r>
          </a:p>
          <a:p>
            <a:pPr lvl="2" eaLnBrk="1" hangingPunct="1">
              <a:buFontTx/>
              <a:buNone/>
            </a:pPr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85750"/>
            <a:ext cx="7772400" cy="1143000"/>
          </a:xfrm>
        </p:spPr>
        <p:txBody>
          <a:bodyPr/>
          <a:lstStyle/>
          <a:p>
            <a:pPr eaLnBrk="1" hangingPunct="1"/>
            <a:r>
              <a:rPr lang="en-US"/>
              <a:t>A bar diagram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795463" y="4714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30" name="Rectangle 8"/>
          <p:cNvSpPr>
            <a:spLocks noChangeArrowheads="1"/>
          </p:cNvSpPr>
          <p:nvPr/>
        </p:nvSpPr>
        <p:spPr bwMode="auto">
          <a:xfrm>
            <a:off x="1809750" y="1757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138113" y="1114425"/>
          <a:ext cx="8934450" cy="540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290480" imgH="2626200" progId="Excel.Sheet.8">
                  <p:embed/>
                </p:oleObj>
              </mc:Choice>
              <mc:Fallback>
                <p:oleObj name="Chart" r:id="rId2" imgW="4290480" imgH="262620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1114425"/>
                        <a:ext cx="8934450" cy="540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9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900238" y="1824038"/>
          <a:ext cx="5372100" cy="319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7772400" imgH="4114800" progId="MSGraph.Chart.8">
                  <p:embed followColorScheme="full"/>
                </p:oleObj>
              </mc:Choice>
              <mc:Fallback>
                <p:oleObj name="Chart" r:id="rId4" imgW="7772400" imgH="4114800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1824038"/>
                        <a:ext cx="5372100" cy="3195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7772400" cy="838200"/>
          </a:xfrm>
        </p:spPr>
        <p:txBody>
          <a:bodyPr/>
          <a:lstStyle/>
          <a:p>
            <a:pPr eaLnBrk="1" hangingPunct="1"/>
            <a:r>
              <a:rPr lang="en-US"/>
              <a:t>A graph</a:t>
            </a:r>
          </a:p>
        </p:txBody>
      </p:sp>
      <p:sp>
        <p:nvSpPr>
          <p:cNvPr id="2052" name="Rectangle 6"/>
          <p:cNvSpPr>
            <a:spLocks noChangeArrowheads="1"/>
          </p:cNvSpPr>
          <p:nvPr/>
        </p:nvSpPr>
        <p:spPr bwMode="auto">
          <a:xfrm>
            <a:off x="2128838" y="17192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050" name="Object 7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517525" y="995363"/>
          <a:ext cx="8266113" cy="578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869360" imgH="3416040" progId="Excel.Sheet.8">
                  <p:embed/>
                </p:oleObj>
              </mc:Choice>
              <mc:Fallback>
                <p:oleObj name="Chart" r:id="rId2" imgW="4869360" imgH="341604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995363"/>
                        <a:ext cx="8266113" cy="5784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2266950" y="7477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1081088" y="190500"/>
          <a:ext cx="6997700" cy="661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594320" imgH="5357160" progId="Excel.Sheet.8">
                  <p:embed/>
                </p:oleObj>
              </mc:Choice>
              <mc:Fallback>
                <p:oleObj name="Chart" r:id="rId2" imgW="4594320" imgH="535716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190500"/>
                        <a:ext cx="6997700" cy="661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2143125" y="16144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098" name="Object 6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700213" y="285750"/>
          <a:ext cx="5532437" cy="606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861440" imgH="5318280" progId="Excel.Sheet.8">
                  <p:embed/>
                </p:oleObj>
              </mc:Choice>
              <mc:Fallback>
                <p:oleObj name="Chart" r:id="rId2" imgW="4861440" imgH="531828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3" y="285750"/>
                        <a:ext cx="5532437" cy="6062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1"/>
          <p:cNvSpPr txBox="1">
            <a:spLocks noChangeArrowheads="1"/>
          </p:cNvSpPr>
          <p:nvPr/>
        </p:nvSpPr>
        <p:spPr bwMode="auto">
          <a:xfrm>
            <a:off x="6362700" y="2182813"/>
            <a:ext cx="1028700" cy="685800"/>
          </a:xfrm>
          <a:prstGeom prst="rect">
            <a:avLst/>
          </a:prstGeom>
          <a:noFill/>
          <a:ln w="9525">
            <a:solidFill>
              <a:srgbClr val="99FF66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r>
              <a:rPr lang="en-US" sz="1200" b="1" dirty="0">
                <a:cs typeface="Times New Roman" pitchFamily="18" charset="0"/>
              </a:rPr>
              <a:t>Analysis of data</a:t>
            </a:r>
          </a:p>
          <a:p>
            <a:pPr eaLnBrk="0" hangingPunct="0"/>
            <a:endParaRPr lang="en-US" dirty="0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114300" y="1905000"/>
            <a:ext cx="8702675" cy="1638300"/>
            <a:chOff x="72" y="1200"/>
            <a:chExt cx="5400" cy="1008"/>
          </a:xfrm>
        </p:grpSpPr>
        <p:sp>
          <p:nvSpPr>
            <p:cNvPr id="34824" name="Text Box 23"/>
            <p:cNvSpPr txBox="1">
              <a:spLocks noChangeArrowheads="1"/>
            </p:cNvSpPr>
            <p:nvPr/>
          </p:nvSpPr>
          <p:spPr bwMode="auto">
            <a:xfrm>
              <a:off x="72" y="1392"/>
              <a:ext cx="504" cy="43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Define research problem</a:t>
              </a:r>
            </a:p>
            <a:p>
              <a:pPr eaLnBrk="0" hangingPunct="0"/>
              <a:endParaRPr lang="en-US" b="1" dirty="0"/>
            </a:p>
          </p:txBody>
        </p:sp>
        <p:sp>
          <p:nvSpPr>
            <p:cNvPr id="34825" name="Line 22"/>
            <p:cNvSpPr>
              <a:spLocks noChangeShapeType="1"/>
            </p:cNvSpPr>
            <p:nvPr/>
          </p:nvSpPr>
          <p:spPr bwMode="auto">
            <a:xfrm>
              <a:off x="600" y="1519"/>
              <a:ext cx="21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26" name="Line 21"/>
            <p:cNvSpPr>
              <a:spLocks noChangeShapeType="1"/>
            </p:cNvSpPr>
            <p:nvPr/>
          </p:nvSpPr>
          <p:spPr bwMode="auto">
            <a:xfrm>
              <a:off x="624" y="1735"/>
              <a:ext cx="21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27" name="Text Box 20"/>
            <p:cNvSpPr txBox="1">
              <a:spLocks noChangeArrowheads="1"/>
            </p:cNvSpPr>
            <p:nvPr/>
          </p:nvSpPr>
          <p:spPr bwMode="auto">
            <a:xfrm>
              <a:off x="816" y="1200"/>
              <a:ext cx="76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Review concepts and theories</a:t>
              </a:r>
            </a:p>
            <a:p>
              <a:pPr eaLnBrk="0" hangingPunct="0"/>
              <a:endParaRPr lang="en-US" b="1" dirty="0"/>
            </a:p>
          </p:txBody>
        </p:sp>
        <p:sp>
          <p:nvSpPr>
            <p:cNvPr id="34828" name="Text Box 19"/>
            <p:cNvSpPr txBox="1">
              <a:spLocks noChangeArrowheads="1"/>
            </p:cNvSpPr>
            <p:nvPr/>
          </p:nvSpPr>
          <p:spPr bwMode="auto">
            <a:xfrm>
              <a:off x="816" y="1663"/>
              <a:ext cx="768" cy="5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Review previous research finding</a:t>
              </a:r>
            </a:p>
            <a:p>
              <a:pPr eaLnBrk="0" hangingPunct="0"/>
              <a:endParaRPr lang="en-US" dirty="0"/>
            </a:p>
          </p:txBody>
        </p:sp>
        <p:sp>
          <p:nvSpPr>
            <p:cNvPr id="34829" name="Line 18"/>
            <p:cNvSpPr>
              <a:spLocks noChangeShapeType="1"/>
            </p:cNvSpPr>
            <p:nvPr/>
          </p:nvSpPr>
          <p:spPr bwMode="auto">
            <a:xfrm>
              <a:off x="1584" y="1436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0" name="Line 17"/>
            <p:cNvSpPr>
              <a:spLocks noChangeShapeType="1"/>
            </p:cNvSpPr>
            <p:nvPr/>
          </p:nvSpPr>
          <p:spPr bwMode="auto">
            <a:xfrm>
              <a:off x="1584" y="1796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Text Box 8"/>
            <p:cNvSpPr txBox="1">
              <a:spLocks noChangeArrowheads="1"/>
            </p:cNvSpPr>
            <p:nvPr/>
          </p:nvSpPr>
          <p:spPr bwMode="auto">
            <a:xfrm>
              <a:off x="1728" y="1367"/>
              <a:ext cx="576" cy="504"/>
            </a:xfrm>
            <a:prstGeom prst="rect">
              <a:avLst/>
            </a:prstGeom>
            <a:noFill/>
            <a:ln w="9525">
              <a:solidFill>
                <a:srgbClr val="FFFF99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Formulate hypothesis</a:t>
              </a:r>
            </a:p>
            <a:p>
              <a:pPr eaLnBrk="0" hangingPunct="0"/>
              <a:endParaRPr lang="en-US" b="1" dirty="0"/>
            </a:p>
          </p:txBody>
        </p:sp>
        <p:sp>
          <p:nvSpPr>
            <p:cNvPr id="34832" name="Line 7"/>
            <p:cNvSpPr>
              <a:spLocks noChangeShapeType="1"/>
            </p:cNvSpPr>
            <p:nvPr/>
          </p:nvSpPr>
          <p:spPr bwMode="auto">
            <a:xfrm>
              <a:off x="2352" y="1591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3" name="Text Box 15"/>
            <p:cNvSpPr txBox="1">
              <a:spLocks noChangeArrowheads="1"/>
            </p:cNvSpPr>
            <p:nvPr/>
          </p:nvSpPr>
          <p:spPr bwMode="auto">
            <a:xfrm>
              <a:off x="2496" y="1447"/>
              <a:ext cx="528" cy="377"/>
            </a:xfrm>
            <a:prstGeom prst="rect">
              <a:avLst/>
            </a:prstGeom>
            <a:noFill/>
            <a:ln w="9525">
              <a:solidFill>
                <a:srgbClr val="99CC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Design research</a:t>
              </a:r>
            </a:p>
            <a:p>
              <a:pPr eaLnBrk="0" hangingPunct="0"/>
              <a:endParaRPr lang="en-US" b="1" dirty="0"/>
            </a:p>
          </p:txBody>
        </p:sp>
        <p:sp>
          <p:nvSpPr>
            <p:cNvPr id="34834" name="Line 14"/>
            <p:cNvSpPr>
              <a:spLocks noChangeShapeType="1"/>
            </p:cNvSpPr>
            <p:nvPr/>
          </p:nvSpPr>
          <p:spPr bwMode="auto">
            <a:xfrm>
              <a:off x="3024" y="1591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5" name="Text Box 13"/>
            <p:cNvSpPr txBox="1">
              <a:spLocks noChangeArrowheads="1"/>
            </p:cNvSpPr>
            <p:nvPr/>
          </p:nvSpPr>
          <p:spPr bwMode="auto">
            <a:xfrm>
              <a:off x="3168" y="1375"/>
              <a:ext cx="576" cy="432"/>
            </a:xfrm>
            <a:prstGeom prst="rect">
              <a:avLst/>
            </a:prstGeom>
            <a:noFill/>
            <a:ln w="9525">
              <a:solidFill>
                <a:srgbClr val="FF99CC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Collection of data </a:t>
              </a:r>
            </a:p>
            <a:p>
              <a:pPr eaLnBrk="0" hangingPunct="0"/>
              <a:endParaRPr lang="en-US" dirty="0"/>
            </a:p>
          </p:txBody>
        </p:sp>
        <p:sp>
          <p:nvSpPr>
            <p:cNvPr id="34836" name="Line 12"/>
            <p:cNvSpPr>
              <a:spLocks noChangeShapeType="1"/>
            </p:cNvSpPr>
            <p:nvPr/>
          </p:nvSpPr>
          <p:spPr bwMode="auto">
            <a:xfrm>
              <a:off x="3792" y="1488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7" name="Line 10"/>
            <p:cNvSpPr>
              <a:spLocks noChangeShapeType="1"/>
            </p:cNvSpPr>
            <p:nvPr/>
          </p:nvSpPr>
          <p:spPr bwMode="auto">
            <a:xfrm>
              <a:off x="4704" y="1591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38" name="Text Box 16"/>
            <p:cNvSpPr txBox="1">
              <a:spLocks noChangeArrowheads="1"/>
            </p:cNvSpPr>
            <p:nvPr/>
          </p:nvSpPr>
          <p:spPr bwMode="auto">
            <a:xfrm>
              <a:off x="4896" y="1447"/>
              <a:ext cx="576" cy="288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r>
                <a:rPr lang="en-US" sz="1200" b="1" dirty="0">
                  <a:cs typeface="Times New Roman" pitchFamily="18" charset="0"/>
                </a:rPr>
                <a:t>Interpret and report</a:t>
              </a:r>
            </a:p>
            <a:p>
              <a:pPr eaLnBrk="0" hangingPunct="0"/>
              <a:endParaRPr lang="en-US" b="1" dirty="0"/>
            </a:p>
          </p:txBody>
        </p:sp>
        <p:sp>
          <p:nvSpPr>
            <p:cNvPr id="34839" name="Line 9"/>
            <p:cNvSpPr>
              <a:spLocks noChangeShapeType="1"/>
            </p:cNvSpPr>
            <p:nvPr/>
          </p:nvSpPr>
          <p:spPr bwMode="auto">
            <a:xfrm flipH="1">
              <a:off x="3792" y="1680"/>
              <a:ext cx="14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20" name="Rectangle 24"/>
          <p:cNvSpPr>
            <a:spLocks noChangeArrowheads="1"/>
          </p:cNvSpPr>
          <p:nvPr/>
        </p:nvSpPr>
        <p:spPr bwMode="auto">
          <a:xfrm>
            <a:off x="0" y="1677988"/>
            <a:ext cx="9144000" cy="350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12" tIns="1142640" rIns="914112" bIns="1142640">
            <a:spAutoFit/>
          </a:bodyPr>
          <a:lstStyle/>
          <a:p>
            <a:pPr eaLnBrk="0" hangingPunct="0"/>
            <a:r>
              <a:rPr lang="en-US" sz="1400">
                <a:cs typeface="Times New Roman" pitchFamily="18" charset="0"/>
              </a:rPr>
              <a:t> </a:t>
            </a:r>
            <a:endParaRPr lang="en-US" sz="1200">
              <a:cs typeface="Times New Roman" pitchFamily="18" charset="0"/>
            </a:endParaRPr>
          </a:p>
          <a:p>
            <a:pPr eaLnBrk="0" hangingPunct="0"/>
            <a:r>
              <a:rPr lang="en-US" sz="1400">
                <a:cs typeface="Times New Roman" pitchFamily="18" charset="0"/>
              </a:rPr>
              <a:t> </a:t>
            </a:r>
            <a:endParaRPr lang="en-US" sz="1200">
              <a:cs typeface="Times New Roman" pitchFamily="18" charset="0"/>
            </a:endParaRPr>
          </a:p>
          <a:p>
            <a:pPr eaLnBrk="0" hangingPunct="0"/>
            <a:r>
              <a:rPr lang="en-US" sz="1400">
                <a:cs typeface="Times New Roman" pitchFamily="18" charset="0"/>
              </a:rPr>
              <a:t> </a:t>
            </a:r>
            <a:endParaRPr lang="en-US" sz="1200">
              <a:cs typeface="Times New Roman" pitchFamily="18" charset="0"/>
            </a:endParaRPr>
          </a:p>
          <a:p>
            <a:pPr eaLnBrk="0" hangingPunct="0"/>
            <a:r>
              <a:rPr lang="en-US" sz="1400">
                <a:cs typeface="Times New Roman" pitchFamily="18" charset="0"/>
              </a:rPr>
              <a:t> </a:t>
            </a:r>
            <a:endParaRPr lang="en-US" sz="1200">
              <a:cs typeface="Times New Roman" pitchFamily="18" charset="0"/>
            </a:endParaRPr>
          </a:p>
          <a:p>
            <a:pPr eaLnBrk="0" hangingPunct="0"/>
            <a:endParaRPr lang="en-US"/>
          </a:p>
        </p:txBody>
      </p:sp>
      <p:sp>
        <p:nvSpPr>
          <p:cNvPr id="34821" name="Rectangle 32"/>
          <p:cNvSpPr>
            <a:spLocks noChangeArrowheads="1"/>
          </p:cNvSpPr>
          <p:nvPr/>
        </p:nvSpPr>
        <p:spPr bwMode="auto">
          <a:xfrm>
            <a:off x="0" y="1677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822" name="Rectangle 33"/>
          <p:cNvSpPr>
            <a:spLocks noChangeArrowheads="1"/>
          </p:cNvSpPr>
          <p:nvPr/>
        </p:nvSpPr>
        <p:spPr bwMode="auto">
          <a:xfrm>
            <a:off x="0" y="16779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4823" name="Text Box 36"/>
          <p:cNvSpPr txBox="1">
            <a:spLocks noChangeArrowheads="1"/>
          </p:cNvSpPr>
          <p:nvPr/>
        </p:nvSpPr>
        <p:spPr bwMode="auto">
          <a:xfrm>
            <a:off x="2133600" y="46482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Research process in flow chart</a:t>
            </a:r>
          </a:p>
        </p:txBody>
      </p:sp>
    </p:spTree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Computers and researches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Word processing</a:t>
            </a:r>
          </a:p>
          <a:p>
            <a:pPr eaLnBrk="1" hangingPunct="1"/>
            <a:r>
              <a:rPr lang="en-US"/>
              <a:t>Performing calculations </a:t>
            </a:r>
          </a:p>
          <a:p>
            <a:pPr eaLnBrk="1" hangingPunct="1"/>
            <a:r>
              <a:rPr lang="en-US"/>
              <a:t>Data analysis</a:t>
            </a:r>
          </a:p>
          <a:p>
            <a:pPr eaLnBrk="1" hangingPunct="1"/>
            <a:r>
              <a:rPr lang="en-US"/>
              <a:t>Data storage</a:t>
            </a:r>
          </a:p>
          <a:p>
            <a:pPr eaLnBrk="1" hangingPunct="1"/>
            <a:r>
              <a:rPr lang="en-US"/>
              <a:t>Graphics</a:t>
            </a:r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Questionnaire design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Relevant to requirements gathering for, and evaluation of projects</a:t>
            </a:r>
          </a:p>
          <a:p>
            <a:r>
              <a:rPr lang="en-GB" dirty="0"/>
              <a:t>Self study pack by Arthur </a:t>
            </a:r>
            <a:r>
              <a:rPr lang="en-GB" dirty="0" err="1"/>
              <a:t>Rothwell</a:t>
            </a:r>
            <a:r>
              <a:rPr lang="en-GB" dirty="0"/>
              <a:t> covers:</a:t>
            </a:r>
          </a:p>
          <a:p>
            <a:pPr lvl="1"/>
            <a:r>
              <a:rPr lang="en-US" dirty="0"/>
              <a:t>Planning and logistics of questionnaire design</a:t>
            </a:r>
          </a:p>
          <a:p>
            <a:pPr lvl="1"/>
            <a:r>
              <a:rPr lang="en-US" dirty="0"/>
              <a:t>Layout issues</a:t>
            </a:r>
          </a:p>
          <a:p>
            <a:pPr lvl="1"/>
            <a:r>
              <a:rPr lang="en-US" dirty="0"/>
              <a:t>Forms of questions</a:t>
            </a:r>
          </a:p>
          <a:p>
            <a:pPr lvl="1"/>
            <a:r>
              <a:rPr lang="en-US" dirty="0"/>
              <a:t>Contents of questions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077200" cy="762000"/>
          </a:xfrm>
        </p:spPr>
        <p:txBody>
          <a:bodyPr>
            <a:normAutofit fontScale="90000"/>
          </a:bodyPr>
          <a:lstStyle/>
          <a:p>
            <a:r>
              <a:rPr lang="en-US"/>
              <a:t>Planning and logistics of questionnaire design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Quantitative or qualitative? </a:t>
            </a:r>
          </a:p>
          <a:p>
            <a:r>
              <a:rPr lang="en-US"/>
              <a:t>Legal requirements: the Data Protection Act</a:t>
            </a:r>
          </a:p>
          <a:p>
            <a:r>
              <a:rPr lang="en-US"/>
              <a:t>Confidentiality and anonymity </a:t>
            </a:r>
          </a:p>
          <a:p>
            <a:r>
              <a:rPr lang="en-US"/>
              <a:t>Sample size</a:t>
            </a:r>
          </a:p>
          <a:p>
            <a:r>
              <a:rPr lang="en-US"/>
              <a:t>Volunteer respondents </a:t>
            </a:r>
          </a:p>
          <a:p>
            <a:r>
              <a:rPr lang="en-US"/>
              <a:t>Identifying subject areas </a:t>
            </a:r>
          </a:p>
          <a:p>
            <a:r>
              <a:rPr lang="en-US"/>
              <a:t>Determining appropriate length </a:t>
            </a:r>
          </a:p>
          <a:p>
            <a:r>
              <a:rPr lang="en-US"/>
              <a:t>Typical time scale </a:t>
            </a:r>
          </a:p>
          <a:p>
            <a:r>
              <a:rPr lang="en-US"/>
              <a:t>Main components of questionnaires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Forms of question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and closed questions </a:t>
            </a:r>
          </a:p>
          <a:p>
            <a:r>
              <a:rPr lang="en-US" dirty="0"/>
              <a:t>Dichotomous items</a:t>
            </a:r>
          </a:p>
          <a:p>
            <a:r>
              <a:rPr lang="en-US" dirty="0"/>
              <a:t>Scaled items </a:t>
            </a:r>
          </a:p>
          <a:p>
            <a:r>
              <a:rPr lang="en-US" dirty="0"/>
              <a:t>Mid-point or no mid-point? </a:t>
            </a:r>
          </a:p>
          <a:p>
            <a:r>
              <a:rPr lang="en-US" dirty="0"/>
              <a:t>Ranking to show preference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90625"/>
          </a:xfrm>
        </p:spPr>
        <p:txBody>
          <a:bodyPr/>
          <a:lstStyle/>
          <a:p>
            <a:r>
              <a:rPr lang="en-US" sz="3600"/>
              <a:t>Components of Research Design</a:t>
            </a:r>
            <a:br>
              <a:rPr lang="en-US" sz="3600"/>
            </a:br>
            <a:r>
              <a:rPr lang="en-US" sz="3600"/>
              <a:t>The Basic Steps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27275"/>
            <a:ext cx="8229600" cy="45307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>
                <a:solidFill>
                  <a:schemeClr val="folHlink"/>
                </a:solidFill>
              </a:rPr>
              <a:t>A) The Research Question</a:t>
            </a: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folHlink"/>
                </a:solidFill>
              </a:rPr>
              <a:t>B) The Theory</a:t>
            </a: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folHlink"/>
                </a:solidFill>
              </a:rPr>
              <a:t>C) The Model</a:t>
            </a: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folHlink"/>
                </a:solidFill>
              </a:rPr>
              <a:t>D) The Data</a:t>
            </a:r>
          </a:p>
          <a:p>
            <a:pPr>
              <a:buFont typeface="Wingdings" pitchFamily="2" charset="2"/>
              <a:buNone/>
            </a:pPr>
            <a:r>
              <a:rPr lang="en-US">
                <a:solidFill>
                  <a:schemeClr val="folHlink"/>
                </a:solidFill>
              </a:rPr>
              <a:t>E) The Use of the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Elements of a Research Proposal</a:t>
            </a:r>
          </a:p>
        </p:txBody>
      </p:sp>
      <p:sp>
        <p:nvSpPr>
          <p:cNvPr id="116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Problem statement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Motivation: Raise the research question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Define the question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Benefit of solving the problem</a:t>
            </a:r>
          </a:p>
          <a:p>
            <a:pPr>
              <a:lnSpc>
                <a:spcPct val="80000"/>
              </a:lnSpc>
            </a:pPr>
            <a:r>
              <a:rPr lang="en-US" sz="2000"/>
              <a:t> Previous/Related work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What do we already know about the problem?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How would the proposed research increase our knowledge?</a:t>
            </a:r>
          </a:p>
          <a:p>
            <a:pPr>
              <a:lnSpc>
                <a:spcPct val="80000"/>
              </a:lnSpc>
            </a:pPr>
            <a:r>
              <a:rPr lang="en-US" sz="2000"/>
              <a:t>Research plan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How do you plan to solve the problem? 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Justify your plan (analytical, preliminary results)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Evaluation plan </a:t>
            </a:r>
          </a:p>
          <a:p>
            <a:pPr>
              <a:lnSpc>
                <a:spcPct val="80000"/>
              </a:lnSpc>
            </a:pPr>
            <a:r>
              <a:rPr lang="en-US" sz="2000"/>
              <a:t>Research management</a:t>
            </a:r>
          </a:p>
          <a:p>
            <a:pPr lvl="1">
              <a:lnSpc>
                <a:spcPct val="80000"/>
              </a:lnSpc>
            </a:pPr>
            <a:r>
              <a:rPr lang="en-US" sz="1800"/>
              <a:t>Schedule, milestones, fallback plans</a:t>
            </a:r>
          </a:p>
          <a:p>
            <a:pPr>
              <a:lnSpc>
                <a:spcPct val="80000"/>
              </a:lnSpc>
            </a:pPr>
            <a:r>
              <a:rPr lang="en-US" sz="2000"/>
              <a:t>Resource needs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865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“A clever person solves the problem</a:t>
            </a: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But a wise person avoids the problem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			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Albert Einstein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02B1EA-EDEE-42BB-844D-707B556F39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/>
              <a:t>Wed. July 16, 2008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AM220 Lecture 1</a:t>
            </a:r>
          </a:p>
        </p:txBody>
      </p:sp>
      <p:pic>
        <p:nvPicPr>
          <p:cNvPr id="19460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890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0"/>
            <a:ext cx="7772400" cy="1470025"/>
          </a:xfrm>
        </p:spPr>
        <p:txBody>
          <a:bodyPr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19812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Look forward to learning more about this wonderful topic with you…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06F11361E6F24687C8304AC968C8DB" ma:contentTypeVersion="0" ma:contentTypeDescription="Create a new document." ma:contentTypeScope="" ma:versionID="2f69da6e238a11dd5d580c724b5c91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C326DA-7240-4A79-B950-5B8A5D14256A}"/>
</file>

<file path=customXml/itemProps2.xml><?xml version="1.0" encoding="utf-8"?>
<ds:datastoreItem xmlns:ds="http://schemas.openxmlformats.org/officeDocument/2006/customXml" ds:itemID="{DC4B5E0A-D5A8-4820-8ADE-871C42C433CA}"/>
</file>

<file path=customXml/itemProps3.xml><?xml version="1.0" encoding="utf-8"?>
<ds:datastoreItem xmlns:ds="http://schemas.openxmlformats.org/officeDocument/2006/customXml" ds:itemID="{0E537C8C-0C17-44AD-B00C-B600FD38A226}"/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747</Words>
  <Application>Microsoft Office PowerPoint</Application>
  <PresentationFormat>On-screen Show (4:3)</PresentationFormat>
  <Paragraphs>167</Paragraphs>
  <Slides>28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Times New Roman</vt:lpstr>
      <vt:lpstr>Wingdings</vt:lpstr>
      <vt:lpstr>Office Theme</vt:lpstr>
      <vt:lpstr>Chart</vt:lpstr>
      <vt:lpstr>RESEARCH METHODOLOGY</vt:lpstr>
      <vt:lpstr>Formulation of hypothesis</vt:lpstr>
      <vt:lpstr>How to define an objective?</vt:lpstr>
      <vt:lpstr>Difference between aim and objective </vt:lpstr>
      <vt:lpstr>PowerPoint Presentation</vt:lpstr>
      <vt:lpstr>Protocol Writing</vt:lpstr>
      <vt:lpstr>Basic principles of experimental design</vt:lpstr>
      <vt:lpstr>The data</vt:lpstr>
      <vt:lpstr>Methods of data collection</vt:lpstr>
      <vt:lpstr>Secondary data</vt:lpstr>
      <vt:lpstr>Selection of the method depend upon </vt:lpstr>
      <vt:lpstr>Representation of data</vt:lpstr>
      <vt:lpstr>The table</vt:lpstr>
      <vt:lpstr>Table.1. Crude fibre content in certain vegetables   </vt:lpstr>
      <vt:lpstr>PowerPoint Presentation</vt:lpstr>
      <vt:lpstr>A bar diagram</vt:lpstr>
      <vt:lpstr>A graph</vt:lpstr>
      <vt:lpstr>PowerPoint Presentation</vt:lpstr>
      <vt:lpstr>PowerPoint Presentation</vt:lpstr>
      <vt:lpstr>PowerPoint Presentation</vt:lpstr>
      <vt:lpstr>Computers and researches</vt:lpstr>
      <vt:lpstr>Questionnaire design</vt:lpstr>
      <vt:lpstr>Planning and logistics of questionnaire design</vt:lpstr>
      <vt:lpstr>Forms of question</vt:lpstr>
      <vt:lpstr>Components of Research Design The Basic Steps</vt:lpstr>
      <vt:lpstr>5 Elements of a Research Proposal</vt:lpstr>
      <vt:lpstr>“A clever person solves the problem But a wise person avoids the problem”       Albert Einstein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METHODOLOGY</dc:title>
  <dc:creator/>
  <cp:lastModifiedBy>Smitha Chandran</cp:lastModifiedBy>
  <cp:revision>49</cp:revision>
  <dcterms:created xsi:type="dcterms:W3CDTF">2006-08-16T00:00:00Z</dcterms:created>
  <dcterms:modified xsi:type="dcterms:W3CDTF">2023-12-06T03:50:56Z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0x0101003A06F11361E6F24687C8304AC968C8DB</vt:lpwstr>
  </property>
</Properties>
</file>
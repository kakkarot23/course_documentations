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theme/theme1.xml" ContentType="application/vnd.openxmlformats-officedocument.theme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9" r:id="rId13"/>
    <p:sldId id="270" r:id="rId14"/>
    <p:sldId id="271" r:id="rId15"/>
    <p:sldId id="272" r:id="rId16"/>
    <p:sldId id="268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3563C-D758-48CA-AADC-F49DF3DC2D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3405E1-9E4F-4015-B858-18E19ACFEE1B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just"/>
          <a:r>
            <a:rPr lang="en-US" sz="2400" dirty="0" smtClean="0">
              <a:solidFill>
                <a:srgbClr val="FF0000"/>
              </a:solidFill>
            </a:rPr>
            <a:t>Simple correlation </a:t>
          </a:r>
          <a:r>
            <a:rPr lang="en-US" sz="2400" dirty="0" smtClean="0"/>
            <a:t>–In this only two variable are involved, and these two variables are taken in to consideration  at a time.</a:t>
          </a:r>
        </a:p>
        <a:p>
          <a:pPr algn="just"/>
          <a:r>
            <a:rPr lang="en-US" sz="2400" dirty="0" err="1" smtClean="0"/>
            <a:t>eg</a:t>
          </a:r>
          <a:r>
            <a:rPr lang="en-US" sz="2400" dirty="0" smtClean="0"/>
            <a:t>: yield of wheat and the amount (dose )of fertilizers</a:t>
          </a:r>
          <a:endParaRPr lang="en-US" sz="2400" dirty="0"/>
        </a:p>
      </dgm:t>
    </dgm:pt>
    <dgm:pt modelId="{58C9D030-7E25-41B5-B6A9-30916B3F65A0}" type="parTrans" cxnId="{7614541C-7D63-453D-B7C6-31422900361A}">
      <dgm:prSet/>
      <dgm:spPr/>
      <dgm:t>
        <a:bodyPr/>
        <a:lstStyle/>
        <a:p>
          <a:endParaRPr lang="en-US"/>
        </a:p>
      </dgm:t>
    </dgm:pt>
    <dgm:pt modelId="{33E12FA8-3733-440B-8F33-A94036B255C6}" type="sibTrans" cxnId="{7614541C-7D63-453D-B7C6-31422900361A}">
      <dgm:prSet/>
      <dgm:spPr/>
      <dgm:t>
        <a:bodyPr/>
        <a:lstStyle/>
        <a:p>
          <a:endParaRPr lang="en-US"/>
        </a:p>
      </dgm:t>
    </dgm:pt>
    <dgm:pt modelId="{FEB81A7F-B37F-4941-9ADE-8AF5A28A2DB3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just"/>
          <a:r>
            <a:rPr lang="en-US" sz="2400" dirty="0" smtClean="0">
              <a:solidFill>
                <a:srgbClr val="FF0000"/>
              </a:solidFill>
            </a:rPr>
            <a:t>Partial correlation</a:t>
          </a:r>
          <a:r>
            <a:rPr lang="en-US" sz="2400" dirty="0" smtClean="0">
              <a:solidFill>
                <a:schemeClr val="accent1">
                  <a:lumMod val="75000"/>
                </a:schemeClr>
              </a:solidFill>
            </a:rPr>
            <a:t>-</a:t>
          </a:r>
          <a:r>
            <a:rPr lang="en-US" sz="2400" dirty="0" smtClean="0"/>
            <a:t>*Relationship between three or more variables is studied.*In this type only two variables are into consideration and other variables are excluded.</a:t>
          </a:r>
        </a:p>
        <a:p>
          <a:pPr algn="just"/>
          <a:r>
            <a:rPr lang="en-US" sz="2400" dirty="0" err="1" smtClean="0"/>
            <a:t>eg</a:t>
          </a:r>
          <a:r>
            <a:rPr lang="en-US" sz="2400" dirty="0" smtClean="0"/>
            <a:t>: yield of wheat and the amount of fertilizers are taken into consideration and the effect of other variables such as effect of pesticides ,type of soil ,availability of water </a:t>
          </a:r>
          <a:r>
            <a:rPr lang="en-US" sz="2400" dirty="0" err="1" smtClean="0"/>
            <a:t>etc</a:t>
          </a:r>
          <a:r>
            <a:rPr lang="en-US" sz="2400" dirty="0" smtClean="0"/>
            <a:t> are not taken in to consideration.</a:t>
          </a:r>
          <a:endParaRPr lang="en-US" sz="2400" dirty="0"/>
        </a:p>
      </dgm:t>
    </dgm:pt>
    <dgm:pt modelId="{4C694DFC-E50F-445C-B7F9-6CD21496865B}" type="parTrans" cxnId="{76FD1275-CCD4-483F-B399-ECAF0A674EF0}">
      <dgm:prSet/>
      <dgm:spPr/>
      <dgm:t>
        <a:bodyPr/>
        <a:lstStyle/>
        <a:p>
          <a:endParaRPr lang="en-US"/>
        </a:p>
      </dgm:t>
    </dgm:pt>
    <dgm:pt modelId="{9D40DBEC-1A4A-4291-A09A-19DE8A09E0C5}" type="sibTrans" cxnId="{76FD1275-CCD4-483F-B399-ECAF0A674EF0}">
      <dgm:prSet/>
      <dgm:spPr/>
      <dgm:t>
        <a:bodyPr/>
        <a:lstStyle/>
        <a:p>
          <a:endParaRPr lang="en-US"/>
        </a:p>
      </dgm:t>
    </dgm:pt>
    <dgm:pt modelId="{74F28386-E75C-4026-837F-5DAA98B67EE3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just"/>
          <a:r>
            <a:rPr lang="en-US" sz="2400" dirty="0" smtClean="0">
              <a:solidFill>
                <a:srgbClr val="FF0000"/>
              </a:solidFill>
            </a:rPr>
            <a:t>Multiple correlation- </a:t>
          </a:r>
          <a:r>
            <a:rPr lang="en-US" sz="2400" dirty="0" smtClean="0"/>
            <a:t>*In this three or more variables are studied simultaneously.*However multiple correlation consist of measurements of relationships between a dependable variable and two or more independent variable . </a:t>
          </a:r>
          <a:r>
            <a:rPr lang="en-US" sz="2400" dirty="0" err="1" smtClean="0"/>
            <a:t>eg</a:t>
          </a:r>
          <a:r>
            <a:rPr lang="en-US" sz="2400" dirty="0" smtClean="0"/>
            <a:t>: relation between agricultural production ,rainfall and quantity of fertilizers used.</a:t>
          </a:r>
          <a:endParaRPr lang="en-US" sz="2400" dirty="0"/>
        </a:p>
      </dgm:t>
    </dgm:pt>
    <dgm:pt modelId="{CC5459C3-75F9-43EC-9A59-A8D8763231E4}" type="parTrans" cxnId="{4A29C3E5-1B5F-464E-A417-33585E2B88E8}">
      <dgm:prSet/>
      <dgm:spPr/>
      <dgm:t>
        <a:bodyPr/>
        <a:lstStyle/>
        <a:p>
          <a:endParaRPr lang="en-US"/>
        </a:p>
      </dgm:t>
    </dgm:pt>
    <dgm:pt modelId="{B69B0DEC-D441-4801-B147-C874689F0FC4}" type="sibTrans" cxnId="{4A29C3E5-1B5F-464E-A417-33585E2B88E8}">
      <dgm:prSet/>
      <dgm:spPr/>
      <dgm:t>
        <a:bodyPr/>
        <a:lstStyle/>
        <a:p>
          <a:endParaRPr lang="en-US"/>
        </a:p>
      </dgm:t>
    </dgm:pt>
    <dgm:pt modelId="{A8107D30-A10E-4234-B52E-4C63E910D746}" type="pres">
      <dgm:prSet presAssocID="{B9F3563C-D758-48CA-AADC-F49DF3DC2DB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6E9D17-C4B5-40DD-852F-D7AF2F0A3410}" type="pres">
      <dgm:prSet presAssocID="{263405E1-9E4F-4015-B858-18E19ACFEE1B}" presName="node" presStyleLbl="node1" presStyleIdx="0" presStyleCnt="3" custScaleX="107954" custScaleY="101082" custLinFactNeighborX="-12486" custLinFactNeighborY="-163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25019A-266D-4D08-B59C-F6AD628D130F}" type="pres">
      <dgm:prSet presAssocID="{33E12FA8-3733-440B-8F33-A94036B255C6}" presName="sibTrans" presStyleCnt="0"/>
      <dgm:spPr/>
    </dgm:pt>
    <dgm:pt modelId="{DD2EBCBA-A32D-416E-84FB-1EA184F5B635}" type="pres">
      <dgm:prSet presAssocID="{FEB81A7F-B37F-4941-9ADE-8AF5A28A2DB3}" presName="node" presStyleLbl="node1" presStyleIdx="1" presStyleCnt="3" custScaleX="159832" custScaleY="122606" custLinFactNeighborX="2663" custLinFactNeighborY="-113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CC18D5-C088-4DAF-95B2-BAFFB85B8150}" type="pres">
      <dgm:prSet presAssocID="{9D40DBEC-1A4A-4291-A09A-19DE8A09E0C5}" presName="sibTrans" presStyleCnt="0"/>
      <dgm:spPr/>
    </dgm:pt>
    <dgm:pt modelId="{1FA4D862-A851-4C4B-AC35-A822901B5B23}" type="pres">
      <dgm:prSet presAssocID="{74F28386-E75C-4026-837F-5DAA98B67EE3}" presName="node" presStyleLbl="node1" presStyleIdx="2" presStyleCnt="3" custScaleX="277883" custScaleY="63978" custLinFactNeighborX="-11602" custLinFactNeighborY="57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14541C-7D63-453D-B7C6-31422900361A}" srcId="{B9F3563C-D758-48CA-AADC-F49DF3DC2DB2}" destId="{263405E1-9E4F-4015-B858-18E19ACFEE1B}" srcOrd="0" destOrd="0" parTransId="{58C9D030-7E25-41B5-B6A9-30916B3F65A0}" sibTransId="{33E12FA8-3733-440B-8F33-A94036B255C6}"/>
    <dgm:cxn modelId="{1E6B4EA6-F8DB-4A72-B347-827822336E47}" type="presOf" srcId="{74F28386-E75C-4026-837F-5DAA98B67EE3}" destId="{1FA4D862-A851-4C4B-AC35-A822901B5B23}" srcOrd="0" destOrd="0" presId="urn:microsoft.com/office/officeart/2005/8/layout/default"/>
    <dgm:cxn modelId="{76FD1275-CCD4-483F-B399-ECAF0A674EF0}" srcId="{B9F3563C-D758-48CA-AADC-F49DF3DC2DB2}" destId="{FEB81A7F-B37F-4941-9ADE-8AF5A28A2DB3}" srcOrd="1" destOrd="0" parTransId="{4C694DFC-E50F-445C-B7F9-6CD21496865B}" sibTransId="{9D40DBEC-1A4A-4291-A09A-19DE8A09E0C5}"/>
    <dgm:cxn modelId="{2D289700-9183-470F-96EE-52747A74E762}" type="presOf" srcId="{263405E1-9E4F-4015-B858-18E19ACFEE1B}" destId="{4E6E9D17-C4B5-40DD-852F-D7AF2F0A3410}" srcOrd="0" destOrd="0" presId="urn:microsoft.com/office/officeart/2005/8/layout/default"/>
    <dgm:cxn modelId="{5A156159-07CA-4D5A-BFFB-3A4343B484EF}" type="presOf" srcId="{FEB81A7F-B37F-4941-9ADE-8AF5A28A2DB3}" destId="{DD2EBCBA-A32D-416E-84FB-1EA184F5B635}" srcOrd="0" destOrd="0" presId="urn:microsoft.com/office/officeart/2005/8/layout/default"/>
    <dgm:cxn modelId="{4A29C3E5-1B5F-464E-A417-33585E2B88E8}" srcId="{B9F3563C-D758-48CA-AADC-F49DF3DC2DB2}" destId="{74F28386-E75C-4026-837F-5DAA98B67EE3}" srcOrd="2" destOrd="0" parTransId="{CC5459C3-75F9-43EC-9A59-A8D8763231E4}" sibTransId="{B69B0DEC-D441-4801-B147-C874689F0FC4}"/>
    <dgm:cxn modelId="{DA82E0CE-BFC8-460E-B09C-8E8BE7041A28}" type="presOf" srcId="{B9F3563C-D758-48CA-AADC-F49DF3DC2DB2}" destId="{A8107D30-A10E-4234-B52E-4C63E910D746}" srcOrd="0" destOrd="0" presId="urn:microsoft.com/office/officeart/2005/8/layout/default"/>
    <dgm:cxn modelId="{176B3595-3931-423C-AE7F-29D6B2768101}" type="presParOf" srcId="{A8107D30-A10E-4234-B52E-4C63E910D746}" destId="{4E6E9D17-C4B5-40DD-852F-D7AF2F0A3410}" srcOrd="0" destOrd="0" presId="urn:microsoft.com/office/officeart/2005/8/layout/default"/>
    <dgm:cxn modelId="{0BB2513A-1584-4069-8450-530E2388BCEE}" type="presParOf" srcId="{A8107D30-A10E-4234-B52E-4C63E910D746}" destId="{5125019A-266D-4D08-B59C-F6AD628D130F}" srcOrd="1" destOrd="0" presId="urn:microsoft.com/office/officeart/2005/8/layout/default"/>
    <dgm:cxn modelId="{EFB256DC-2D60-4F34-8EF2-8792D6329246}" type="presParOf" srcId="{A8107D30-A10E-4234-B52E-4C63E910D746}" destId="{DD2EBCBA-A32D-416E-84FB-1EA184F5B635}" srcOrd="2" destOrd="0" presId="urn:microsoft.com/office/officeart/2005/8/layout/default"/>
    <dgm:cxn modelId="{987B410A-35A5-439C-A830-AD045DC368BB}" type="presParOf" srcId="{A8107D30-A10E-4234-B52E-4C63E910D746}" destId="{A8CC18D5-C088-4DAF-95B2-BAFFB85B8150}" srcOrd="3" destOrd="0" presId="urn:microsoft.com/office/officeart/2005/8/layout/default"/>
    <dgm:cxn modelId="{7C8CC9FD-ECD7-4EBC-BEC6-177EC4F65E3B}" type="presParOf" srcId="{A8107D30-A10E-4234-B52E-4C63E910D746}" destId="{1FA4D862-A851-4C4B-AC35-A822901B5B2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86ED7D-C59B-4DD8-A3B2-DD0255BC8F00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7453C-CF04-4EC0-9BEF-9140C73F3059}">
      <dgm:prSet phldrT="[Text]" custT="1"/>
      <dgm:spPr/>
      <dgm:t>
        <a:bodyPr/>
        <a:lstStyle/>
        <a:p>
          <a:r>
            <a:rPr lang="en-US" sz="3600" dirty="0" smtClean="0"/>
            <a:t>1.Scatter diagram</a:t>
          </a:r>
          <a:endParaRPr lang="en-US" sz="3600" dirty="0"/>
        </a:p>
      </dgm:t>
    </dgm:pt>
    <dgm:pt modelId="{597ED2AE-3BD3-453D-82B0-AD85B48394FC}" type="parTrans" cxnId="{2BAD24AA-5D8A-414D-9511-95C27E9C19CF}">
      <dgm:prSet/>
      <dgm:spPr/>
      <dgm:t>
        <a:bodyPr/>
        <a:lstStyle/>
        <a:p>
          <a:endParaRPr lang="en-US"/>
        </a:p>
      </dgm:t>
    </dgm:pt>
    <dgm:pt modelId="{FF87AC09-1B36-4DE1-909D-F50A1BFDBB5B}" type="sibTrans" cxnId="{2BAD24AA-5D8A-414D-9511-95C27E9C19CF}">
      <dgm:prSet/>
      <dgm:spPr/>
      <dgm:t>
        <a:bodyPr/>
        <a:lstStyle/>
        <a:p>
          <a:endParaRPr lang="en-US"/>
        </a:p>
      </dgm:t>
    </dgm:pt>
    <dgm:pt modelId="{37BF14B2-C092-4F3D-81CC-69313C7750E8}">
      <dgm:prSet phldrT="[Text]" custT="1"/>
      <dgm:spPr/>
      <dgm:t>
        <a:bodyPr/>
        <a:lstStyle/>
        <a:p>
          <a:r>
            <a:rPr lang="en-US" sz="3600" dirty="0" smtClean="0"/>
            <a:t>2.Graph method</a:t>
          </a:r>
          <a:endParaRPr lang="en-US" sz="3600" dirty="0"/>
        </a:p>
      </dgm:t>
    </dgm:pt>
    <dgm:pt modelId="{213A1647-A2AB-446B-A438-74813CF67237}" type="parTrans" cxnId="{F6C71478-E249-436D-AD68-8557CB871703}">
      <dgm:prSet/>
      <dgm:spPr/>
      <dgm:t>
        <a:bodyPr/>
        <a:lstStyle/>
        <a:p>
          <a:endParaRPr lang="en-US"/>
        </a:p>
      </dgm:t>
    </dgm:pt>
    <dgm:pt modelId="{EF633FAD-F1DC-439A-A80C-359619283A38}" type="sibTrans" cxnId="{F6C71478-E249-436D-AD68-8557CB871703}">
      <dgm:prSet/>
      <dgm:spPr/>
      <dgm:t>
        <a:bodyPr/>
        <a:lstStyle/>
        <a:p>
          <a:endParaRPr lang="en-US"/>
        </a:p>
      </dgm:t>
    </dgm:pt>
    <dgm:pt modelId="{9619D853-036E-4E35-987B-13C27411575F}">
      <dgm:prSet phldrT="[Text]" custT="1"/>
      <dgm:spPr/>
      <dgm:t>
        <a:bodyPr/>
        <a:lstStyle/>
        <a:p>
          <a:r>
            <a:rPr lang="en-US" sz="3600" dirty="0" smtClean="0"/>
            <a:t>3.Correlation coefficient</a:t>
          </a:r>
          <a:endParaRPr lang="en-US" sz="3600" dirty="0"/>
        </a:p>
      </dgm:t>
    </dgm:pt>
    <dgm:pt modelId="{16E46B82-EDA2-46E1-84EA-D8D85E514C61}" type="parTrans" cxnId="{9EBC57D9-1D3A-4F47-BA00-9074E126D322}">
      <dgm:prSet/>
      <dgm:spPr/>
      <dgm:t>
        <a:bodyPr/>
        <a:lstStyle/>
        <a:p>
          <a:endParaRPr lang="en-US"/>
        </a:p>
      </dgm:t>
    </dgm:pt>
    <dgm:pt modelId="{32072F57-C654-429A-8EB6-43A4A28C590F}" type="sibTrans" cxnId="{9EBC57D9-1D3A-4F47-BA00-9074E126D322}">
      <dgm:prSet/>
      <dgm:spPr/>
      <dgm:t>
        <a:bodyPr/>
        <a:lstStyle/>
        <a:p>
          <a:endParaRPr lang="en-US"/>
        </a:p>
      </dgm:t>
    </dgm:pt>
    <dgm:pt modelId="{8C8F0801-A5E1-4E1F-B198-C6A7C0649608}" type="pres">
      <dgm:prSet presAssocID="{2586ED7D-C59B-4DD8-A3B2-DD0255BC8F0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077C80-D722-44AD-8DB5-9A0A5B647AE1}" type="pres">
      <dgm:prSet presAssocID="{9A87453C-CF04-4EC0-9BEF-9140C73F3059}" presName="parentLin" presStyleCnt="0"/>
      <dgm:spPr/>
    </dgm:pt>
    <dgm:pt modelId="{8EECADBC-8E27-4F5E-A3D8-F82A6BE924BB}" type="pres">
      <dgm:prSet presAssocID="{9A87453C-CF04-4EC0-9BEF-9140C73F3059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65628476-EFA1-4639-AE1D-6A9AA65CEE81}" type="pres">
      <dgm:prSet presAssocID="{9A87453C-CF04-4EC0-9BEF-9140C73F3059}" presName="parentText" presStyleLbl="node1" presStyleIdx="0" presStyleCnt="3" custLinFactNeighborX="6428" custLinFactNeighborY="4045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053B62-9F8B-407F-8BD4-D8A9A0FF72EB}" type="pres">
      <dgm:prSet presAssocID="{9A87453C-CF04-4EC0-9BEF-9140C73F3059}" presName="negativeSpace" presStyleCnt="0"/>
      <dgm:spPr/>
    </dgm:pt>
    <dgm:pt modelId="{9B17CC46-C534-416E-BD15-4FA2F97FA34B}" type="pres">
      <dgm:prSet presAssocID="{9A87453C-CF04-4EC0-9BEF-9140C73F3059}" presName="childText" presStyleLbl="conFgAcc1" presStyleIdx="0" presStyleCnt="3">
        <dgm:presLayoutVars>
          <dgm:bulletEnabled val="1"/>
        </dgm:presLayoutVars>
      </dgm:prSet>
      <dgm:spPr/>
    </dgm:pt>
    <dgm:pt modelId="{3BEEA5AE-5FF3-44BB-A623-A7ED61CB9ED1}" type="pres">
      <dgm:prSet presAssocID="{FF87AC09-1B36-4DE1-909D-F50A1BFDBB5B}" presName="spaceBetweenRectangles" presStyleCnt="0"/>
      <dgm:spPr/>
    </dgm:pt>
    <dgm:pt modelId="{BFF3DE67-9AFD-4EA6-A9FD-F27F855F3D00}" type="pres">
      <dgm:prSet presAssocID="{37BF14B2-C092-4F3D-81CC-69313C7750E8}" presName="parentLin" presStyleCnt="0"/>
      <dgm:spPr/>
    </dgm:pt>
    <dgm:pt modelId="{9A6524D6-B88D-40A4-A244-F46E9E9FA03D}" type="pres">
      <dgm:prSet presAssocID="{37BF14B2-C092-4F3D-81CC-69313C7750E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87B00099-E69A-420E-A055-BAB3E34DBDC2}" type="pres">
      <dgm:prSet presAssocID="{37BF14B2-C092-4F3D-81CC-69313C7750E8}" presName="parentText" presStyleLbl="node1" presStyleIdx="1" presStyleCnt="3" custLinFactNeighborX="13929" custLinFactNeighborY="3237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ECBE99-8C5E-41AE-8CE3-119F94689330}" type="pres">
      <dgm:prSet presAssocID="{37BF14B2-C092-4F3D-81CC-69313C7750E8}" presName="negativeSpace" presStyleCnt="0"/>
      <dgm:spPr/>
    </dgm:pt>
    <dgm:pt modelId="{AC49FD92-9D01-4402-94C2-AA25E3052C5B}" type="pres">
      <dgm:prSet presAssocID="{37BF14B2-C092-4F3D-81CC-69313C7750E8}" presName="childText" presStyleLbl="conFgAcc1" presStyleIdx="1" presStyleCnt="3">
        <dgm:presLayoutVars>
          <dgm:bulletEnabled val="1"/>
        </dgm:presLayoutVars>
      </dgm:prSet>
      <dgm:spPr/>
    </dgm:pt>
    <dgm:pt modelId="{6AA288F4-A134-45E1-A8C7-2C0B0582EAA1}" type="pres">
      <dgm:prSet presAssocID="{EF633FAD-F1DC-439A-A80C-359619283A38}" presName="spaceBetweenRectangles" presStyleCnt="0"/>
      <dgm:spPr/>
    </dgm:pt>
    <dgm:pt modelId="{D8A06A68-37FA-48AC-A71C-CB0D6C8E3725}" type="pres">
      <dgm:prSet presAssocID="{9619D853-036E-4E35-987B-13C27411575F}" presName="parentLin" presStyleCnt="0"/>
      <dgm:spPr/>
    </dgm:pt>
    <dgm:pt modelId="{AEEF9E00-CBD9-4B43-A5CE-6AB51CBC4F35}" type="pres">
      <dgm:prSet presAssocID="{9619D853-036E-4E35-987B-13C27411575F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32CACE06-3062-45AC-AB0F-725F1422C3D4}" type="pres">
      <dgm:prSet presAssocID="{9619D853-036E-4E35-987B-13C27411575F}" presName="parentText" presStyleLbl="node1" presStyleIdx="2" presStyleCnt="3" custLinFactNeighborX="-3214" custLinFactNeighborY="2482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7A3C12-487A-4C97-90A7-3B21499E70DD}" type="pres">
      <dgm:prSet presAssocID="{9619D853-036E-4E35-987B-13C27411575F}" presName="negativeSpace" presStyleCnt="0"/>
      <dgm:spPr/>
    </dgm:pt>
    <dgm:pt modelId="{41DC9F1C-7AEC-421C-95C4-56273525BBB6}" type="pres">
      <dgm:prSet presAssocID="{9619D853-036E-4E35-987B-13C27411575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601A4F0-CE2E-41D9-82D6-24131CC7B600}" type="presOf" srcId="{9A87453C-CF04-4EC0-9BEF-9140C73F3059}" destId="{8EECADBC-8E27-4F5E-A3D8-F82A6BE924BB}" srcOrd="0" destOrd="0" presId="urn:microsoft.com/office/officeart/2005/8/layout/list1"/>
    <dgm:cxn modelId="{9EBC57D9-1D3A-4F47-BA00-9074E126D322}" srcId="{2586ED7D-C59B-4DD8-A3B2-DD0255BC8F00}" destId="{9619D853-036E-4E35-987B-13C27411575F}" srcOrd="2" destOrd="0" parTransId="{16E46B82-EDA2-46E1-84EA-D8D85E514C61}" sibTransId="{32072F57-C654-429A-8EB6-43A4A28C590F}"/>
    <dgm:cxn modelId="{99B4A7A5-8B18-4431-839C-2CDC9A3F35D6}" type="presOf" srcId="{2586ED7D-C59B-4DD8-A3B2-DD0255BC8F00}" destId="{8C8F0801-A5E1-4E1F-B198-C6A7C0649608}" srcOrd="0" destOrd="0" presId="urn:microsoft.com/office/officeart/2005/8/layout/list1"/>
    <dgm:cxn modelId="{2BAD24AA-5D8A-414D-9511-95C27E9C19CF}" srcId="{2586ED7D-C59B-4DD8-A3B2-DD0255BC8F00}" destId="{9A87453C-CF04-4EC0-9BEF-9140C73F3059}" srcOrd="0" destOrd="0" parTransId="{597ED2AE-3BD3-453D-82B0-AD85B48394FC}" sibTransId="{FF87AC09-1B36-4DE1-909D-F50A1BFDBB5B}"/>
    <dgm:cxn modelId="{D77412BE-CA0C-4C19-A316-D5D43DA85D4E}" type="presOf" srcId="{37BF14B2-C092-4F3D-81CC-69313C7750E8}" destId="{87B00099-E69A-420E-A055-BAB3E34DBDC2}" srcOrd="1" destOrd="0" presId="urn:microsoft.com/office/officeart/2005/8/layout/list1"/>
    <dgm:cxn modelId="{917E9BAB-19E4-4688-A063-46AB8DE75583}" type="presOf" srcId="{37BF14B2-C092-4F3D-81CC-69313C7750E8}" destId="{9A6524D6-B88D-40A4-A244-F46E9E9FA03D}" srcOrd="0" destOrd="0" presId="urn:microsoft.com/office/officeart/2005/8/layout/list1"/>
    <dgm:cxn modelId="{DAA38255-1147-4DB4-8007-1F5666C72A4E}" type="presOf" srcId="{9619D853-036E-4E35-987B-13C27411575F}" destId="{AEEF9E00-CBD9-4B43-A5CE-6AB51CBC4F35}" srcOrd="0" destOrd="0" presId="urn:microsoft.com/office/officeart/2005/8/layout/list1"/>
    <dgm:cxn modelId="{F6C71478-E249-436D-AD68-8557CB871703}" srcId="{2586ED7D-C59B-4DD8-A3B2-DD0255BC8F00}" destId="{37BF14B2-C092-4F3D-81CC-69313C7750E8}" srcOrd="1" destOrd="0" parTransId="{213A1647-A2AB-446B-A438-74813CF67237}" sibTransId="{EF633FAD-F1DC-439A-A80C-359619283A38}"/>
    <dgm:cxn modelId="{14EC7A5A-CB85-4EE0-8F0A-653B4A101372}" type="presOf" srcId="{9A87453C-CF04-4EC0-9BEF-9140C73F3059}" destId="{65628476-EFA1-4639-AE1D-6A9AA65CEE81}" srcOrd="1" destOrd="0" presId="urn:microsoft.com/office/officeart/2005/8/layout/list1"/>
    <dgm:cxn modelId="{E1B3EA51-471B-4173-A9D9-64F054A1A165}" type="presOf" srcId="{9619D853-036E-4E35-987B-13C27411575F}" destId="{32CACE06-3062-45AC-AB0F-725F1422C3D4}" srcOrd="1" destOrd="0" presId="urn:microsoft.com/office/officeart/2005/8/layout/list1"/>
    <dgm:cxn modelId="{7C733726-1B77-47D8-8A6D-CFD818BFF6FB}" type="presParOf" srcId="{8C8F0801-A5E1-4E1F-B198-C6A7C0649608}" destId="{22077C80-D722-44AD-8DB5-9A0A5B647AE1}" srcOrd="0" destOrd="0" presId="urn:microsoft.com/office/officeart/2005/8/layout/list1"/>
    <dgm:cxn modelId="{925DC090-DBFD-4916-8EEB-9B2BCA887A5D}" type="presParOf" srcId="{22077C80-D722-44AD-8DB5-9A0A5B647AE1}" destId="{8EECADBC-8E27-4F5E-A3D8-F82A6BE924BB}" srcOrd="0" destOrd="0" presId="urn:microsoft.com/office/officeart/2005/8/layout/list1"/>
    <dgm:cxn modelId="{900E8084-5DCB-4E2B-B21B-F1AA30D37E25}" type="presParOf" srcId="{22077C80-D722-44AD-8DB5-9A0A5B647AE1}" destId="{65628476-EFA1-4639-AE1D-6A9AA65CEE81}" srcOrd="1" destOrd="0" presId="urn:microsoft.com/office/officeart/2005/8/layout/list1"/>
    <dgm:cxn modelId="{12BD56F1-96F4-4C31-81C5-C0F50AACB8F5}" type="presParOf" srcId="{8C8F0801-A5E1-4E1F-B198-C6A7C0649608}" destId="{5F053B62-9F8B-407F-8BD4-D8A9A0FF72EB}" srcOrd="1" destOrd="0" presId="urn:microsoft.com/office/officeart/2005/8/layout/list1"/>
    <dgm:cxn modelId="{C8A01CAE-8BE2-466A-A0C3-7AC434D94492}" type="presParOf" srcId="{8C8F0801-A5E1-4E1F-B198-C6A7C0649608}" destId="{9B17CC46-C534-416E-BD15-4FA2F97FA34B}" srcOrd="2" destOrd="0" presId="urn:microsoft.com/office/officeart/2005/8/layout/list1"/>
    <dgm:cxn modelId="{1F22FA03-6CD1-4197-83A7-A878A84C6D74}" type="presParOf" srcId="{8C8F0801-A5E1-4E1F-B198-C6A7C0649608}" destId="{3BEEA5AE-5FF3-44BB-A623-A7ED61CB9ED1}" srcOrd="3" destOrd="0" presId="urn:microsoft.com/office/officeart/2005/8/layout/list1"/>
    <dgm:cxn modelId="{E891EA54-5014-4C8D-8854-ED4C8A5DBC7F}" type="presParOf" srcId="{8C8F0801-A5E1-4E1F-B198-C6A7C0649608}" destId="{BFF3DE67-9AFD-4EA6-A9FD-F27F855F3D00}" srcOrd="4" destOrd="0" presId="urn:microsoft.com/office/officeart/2005/8/layout/list1"/>
    <dgm:cxn modelId="{0D9721D3-E06A-4C6C-A17A-491EC2BE74C6}" type="presParOf" srcId="{BFF3DE67-9AFD-4EA6-A9FD-F27F855F3D00}" destId="{9A6524D6-B88D-40A4-A244-F46E9E9FA03D}" srcOrd="0" destOrd="0" presId="urn:microsoft.com/office/officeart/2005/8/layout/list1"/>
    <dgm:cxn modelId="{AFACDD68-2356-45CA-84E5-405C4428F64D}" type="presParOf" srcId="{BFF3DE67-9AFD-4EA6-A9FD-F27F855F3D00}" destId="{87B00099-E69A-420E-A055-BAB3E34DBDC2}" srcOrd="1" destOrd="0" presId="urn:microsoft.com/office/officeart/2005/8/layout/list1"/>
    <dgm:cxn modelId="{64D25587-9B33-44E3-A9E2-8E88A42C085C}" type="presParOf" srcId="{8C8F0801-A5E1-4E1F-B198-C6A7C0649608}" destId="{62ECBE99-8C5E-41AE-8CE3-119F94689330}" srcOrd="5" destOrd="0" presId="urn:microsoft.com/office/officeart/2005/8/layout/list1"/>
    <dgm:cxn modelId="{95B8A645-C1D3-4CD0-AFC6-085A66B522BA}" type="presParOf" srcId="{8C8F0801-A5E1-4E1F-B198-C6A7C0649608}" destId="{AC49FD92-9D01-4402-94C2-AA25E3052C5B}" srcOrd="6" destOrd="0" presId="urn:microsoft.com/office/officeart/2005/8/layout/list1"/>
    <dgm:cxn modelId="{B1992CAF-F061-484C-B788-58B5B8BEA81C}" type="presParOf" srcId="{8C8F0801-A5E1-4E1F-B198-C6A7C0649608}" destId="{6AA288F4-A134-45E1-A8C7-2C0B0582EAA1}" srcOrd="7" destOrd="0" presId="urn:microsoft.com/office/officeart/2005/8/layout/list1"/>
    <dgm:cxn modelId="{E116783E-B247-48C9-906D-194562AFC22A}" type="presParOf" srcId="{8C8F0801-A5E1-4E1F-B198-C6A7C0649608}" destId="{D8A06A68-37FA-48AC-A71C-CB0D6C8E3725}" srcOrd="8" destOrd="0" presId="urn:microsoft.com/office/officeart/2005/8/layout/list1"/>
    <dgm:cxn modelId="{181E3EA9-0F8D-474E-A293-AB34167EC5CE}" type="presParOf" srcId="{D8A06A68-37FA-48AC-A71C-CB0D6C8E3725}" destId="{AEEF9E00-CBD9-4B43-A5CE-6AB51CBC4F35}" srcOrd="0" destOrd="0" presId="urn:microsoft.com/office/officeart/2005/8/layout/list1"/>
    <dgm:cxn modelId="{0007A793-68A7-458B-8934-8BC02B7CBC99}" type="presParOf" srcId="{D8A06A68-37FA-48AC-A71C-CB0D6C8E3725}" destId="{32CACE06-3062-45AC-AB0F-725F1422C3D4}" srcOrd="1" destOrd="0" presId="urn:microsoft.com/office/officeart/2005/8/layout/list1"/>
    <dgm:cxn modelId="{E0DD9864-4B09-4218-949C-253E25DF0221}" type="presParOf" srcId="{8C8F0801-A5E1-4E1F-B198-C6A7C0649608}" destId="{167A3C12-487A-4C97-90A7-3B21499E70DD}" srcOrd="9" destOrd="0" presId="urn:microsoft.com/office/officeart/2005/8/layout/list1"/>
    <dgm:cxn modelId="{02DA7586-3A55-4F9F-BA4F-154C1CACEA1C}" type="presParOf" srcId="{8C8F0801-A5E1-4E1F-B198-C6A7C0649608}" destId="{41DC9F1C-7AEC-421C-95C4-56273525BBB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E9D17-C4B5-40DD-852F-D7AF2F0A3410}">
      <dsp:nvSpPr>
        <dsp:cNvPr id="0" name=""/>
        <dsp:cNvSpPr/>
      </dsp:nvSpPr>
      <dsp:spPr>
        <a:xfrm>
          <a:off x="0" y="0"/>
          <a:ext cx="4699216" cy="2640047"/>
        </a:xfrm>
        <a:prstGeom prst="rect">
          <a:avLst/>
        </a:prstGeom>
        <a:solidFill>
          <a:schemeClr val="bg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0000"/>
              </a:solidFill>
            </a:rPr>
            <a:t>Simple correlation </a:t>
          </a:r>
          <a:r>
            <a:rPr lang="en-US" sz="2400" kern="1200" dirty="0" smtClean="0"/>
            <a:t>–In this only two variable are involved, and these two variables are taken in to consideration  at a time.</a:t>
          </a:r>
        </a:p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eg</a:t>
          </a:r>
          <a:r>
            <a:rPr lang="en-US" sz="2400" kern="1200" dirty="0" smtClean="0"/>
            <a:t>: yield of wheat and the amount (dose )of fertilizers</a:t>
          </a:r>
          <a:endParaRPr lang="en-US" sz="2400" kern="1200" dirty="0"/>
        </a:p>
      </dsp:txBody>
      <dsp:txXfrm>
        <a:off x="0" y="0"/>
        <a:ext cx="4699216" cy="2640047"/>
      </dsp:txXfrm>
    </dsp:sp>
    <dsp:sp modelId="{DD2EBCBA-A32D-416E-84FB-1EA184F5B635}">
      <dsp:nvSpPr>
        <dsp:cNvPr id="0" name=""/>
        <dsp:cNvSpPr/>
      </dsp:nvSpPr>
      <dsp:spPr>
        <a:xfrm>
          <a:off x="5138749" y="0"/>
          <a:ext cx="6957455" cy="3202208"/>
        </a:xfrm>
        <a:prstGeom prst="rect">
          <a:avLst/>
        </a:prstGeom>
        <a:solidFill>
          <a:schemeClr val="bg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0000"/>
              </a:solidFill>
            </a:rPr>
            <a:t>Partial correlation</a:t>
          </a:r>
          <a:r>
            <a:rPr lang="en-US" sz="2400" kern="1200" dirty="0" smtClean="0">
              <a:solidFill>
                <a:schemeClr val="accent1">
                  <a:lumMod val="75000"/>
                </a:schemeClr>
              </a:solidFill>
            </a:rPr>
            <a:t>-</a:t>
          </a:r>
          <a:r>
            <a:rPr lang="en-US" sz="2400" kern="1200" dirty="0" smtClean="0"/>
            <a:t>*Relationship between three or more variables is studied.*In this type only two variables are into consideration and other variables are excluded.</a:t>
          </a:r>
        </a:p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eg</a:t>
          </a:r>
          <a:r>
            <a:rPr lang="en-US" sz="2400" kern="1200" dirty="0" smtClean="0"/>
            <a:t>: yield of wheat and the amount of fertilizers are taken into consideration and the effect of other variables such as effect of pesticides ,type of soil ,availability of water </a:t>
          </a:r>
          <a:r>
            <a:rPr lang="en-US" sz="2400" kern="1200" dirty="0" err="1" smtClean="0"/>
            <a:t>etc</a:t>
          </a:r>
          <a:r>
            <a:rPr lang="en-US" sz="2400" kern="1200" dirty="0" smtClean="0"/>
            <a:t> are not taken in to consideration.</a:t>
          </a:r>
          <a:endParaRPr lang="en-US" sz="2400" kern="1200" dirty="0"/>
        </a:p>
      </dsp:txBody>
      <dsp:txXfrm>
        <a:off x="5138749" y="0"/>
        <a:ext cx="6957455" cy="3202208"/>
      </dsp:txXfrm>
    </dsp:sp>
    <dsp:sp modelId="{1FA4D862-A851-4C4B-AC35-A822901B5B23}">
      <dsp:nvSpPr>
        <dsp:cNvPr id="0" name=""/>
        <dsp:cNvSpPr/>
      </dsp:nvSpPr>
      <dsp:spPr>
        <a:xfrm>
          <a:off x="0" y="3922985"/>
          <a:ext cx="12096191" cy="1670969"/>
        </a:xfrm>
        <a:prstGeom prst="rect">
          <a:avLst/>
        </a:prstGeom>
        <a:solidFill>
          <a:schemeClr val="bg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0000"/>
              </a:solidFill>
            </a:rPr>
            <a:t>Multiple correlation- </a:t>
          </a:r>
          <a:r>
            <a:rPr lang="en-US" sz="2400" kern="1200" dirty="0" smtClean="0"/>
            <a:t>*In this three or more variables are studied simultaneously.*However multiple correlation consist of measurements of relationships between a dependable variable and two or more independent variable . </a:t>
          </a:r>
          <a:r>
            <a:rPr lang="en-US" sz="2400" kern="1200" dirty="0" err="1" smtClean="0"/>
            <a:t>eg</a:t>
          </a:r>
          <a:r>
            <a:rPr lang="en-US" sz="2400" kern="1200" dirty="0" smtClean="0"/>
            <a:t>: relation between agricultural production ,rainfall and quantity of fertilizers used.</a:t>
          </a:r>
          <a:endParaRPr lang="en-US" sz="2400" kern="1200" dirty="0"/>
        </a:p>
      </dsp:txBody>
      <dsp:txXfrm>
        <a:off x="0" y="3922985"/>
        <a:ext cx="12096191" cy="1670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7CC46-C534-416E-BD15-4FA2F97FA34B}">
      <dsp:nvSpPr>
        <dsp:cNvPr id="0" name=""/>
        <dsp:cNvSpPr/>
      </dsp:nvSpPr>
      <dsp:spPr>
        <a:xfrm>
          <a:off x="0" y="63555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28476-EFA1-4639-AE1D-6A9AA65CEE81}">
      <dsp:nvSpPr>
        <dsp:cNvPr id="0" name=""/>
        <dsp:cNvSpPr/>
      </dsp:nvSpPr>
      <dsp:spPr>
        <a:xfrm>
          <a:off x="432523" y="520040"/>
          <a:ext cx="5689600" cy="1210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1.Scatter diagram</a:t>
          </a:r>
          <a:endParaRPr lang="en-US" sz="3600" kern="1200" dirty="0"/>
        </a:p>
      </dsp:txBody>
      <dsp:txXfrm>
        <a:off x="491606" y="579123"/>
        <a:ext cx="5571434" cy="1092154"/>
      </dsp:txXfrm>
    </dsp:sp>
    <dsp:sp modelId="{AC49FD92-9D01-4402-94C2-AA25E3052C5B}">
      <dsp:nvSpPr>
        <dsp:cNvPr id="0" name=""/>
        <dsp:cNvSpPr/>
      </dsp:nvSpPr>
      <dsp:spPr>
        <a:xfrm>
          <a:off x="0" y="249531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00099-E69A-420E-A055-BAB3E34DBDC2}">
      <dsp:nvSpPr>
        <dsp:cNvPr id="0" name=""/>
        <dsp:cNvSpPr/>
      </dsp:nvSpPr>
      <dsp:spPr>
        <a:xfrm>
          <a:off x="463007" y="2282043"/>
          <a:ext cx="5689600" cy="1210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2.Graph method</a:t>
          </a:r>
          <a:endParaRPr lang="en-US" sz="3600" kern="1200" dirty="0"/>
        </a:p>
      </dsp:txBody>
      <dsp:txXfrm>
        <a:off x="522090" y="2341126"/>
        <a:ext cx="5571434" cy="1092154"/>
      </dsp:txXfrm>
    </dsp:sp>
    <dsp:sp modelId="{41DC9F1C-7AEC-421C-95C4-56273525BBB6}">
      <dsp:nvSpPr>
        <dsp:cNvPr id="0" name=""/>
        <dsp:cNvSpPr/>
      </dsp:nvSpPr>
      <dsp:spPr>
        <a:xfrm>
          <a:off x="0" y="435507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ACE06-3062-45AC-AB0F-725F1422C3D4}">
      <dsp:nvSpPr>
        <dsp:cNvPr id="0" name=""/>
        <dsp:cNvSpPr/>
      </dsp:nvSpPr>
      <dsp:spPr>
        <a:xfrm>
          <a:off x="393338" y="4050363"/>
          <a:ext cx="5689600" cy="1210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3.Correlation coefficient</a:t>
          </a:r>
          <a:endParaRPr lang="en-US" sz="3600" kern="1200" dirty="0"/>
        </a:p>
      </dsp:txBody>
      <dsp:txXfrm>
        <a:off x="452421" y="4109446"/>
        <a:ext cx="5571434" cy="1092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82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3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8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5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70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1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0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95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94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4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B7847D-BA24-4A58-B5D5-72EC7005D8C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7DBBAEF-76C9-463D-8913-0BC56EEE80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5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9087" y="404949"/>
            <a:ext cx="10398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SS855 Research Methodology in Applied Science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6283235" y="3735977"/>
            <a:ext cx="54260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Presented by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  KUMARI S SARANYA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   AM.PS.R4PHY24006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   Department of Physics</a:t>
            </a:r>
            <a:endParaRPr lang="en-I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194560" y="1807960"/>
            <a:ext cx="858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CORRELATION AND  REGRESSION</a:t>
            </a:r>
            <a:endParaRPr lang="en-IN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61703" y="3735977"/>
            <a:ext cx="453281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Submitted to </a:t>
            </a:r>
          </a:p>
          <a:p>
            <a:r>
              <a:rPr lang="en-US" sz="3200" dirty="0" err="1" smtClean="0"/>
              <a:t>Dr</a:t>
            </a:r>
            <a:r>
              <a:rPr lang="en-US" sz="3200" dirty="0" smtClean="0"/>
              <a:t> </a:t>
            </a:r>
            <a:r>
              <a:rPr lang="en-US" sz="3200" dirty="0" err="1" smtClean="0"/>
              <a:t>Smitha</a:t>
            </a:r>
            <a:r>
              <a:rPr lang="en-US" sz="3200" dirty="0" smtClean="0"/>
              <a:t> </a:t>
            </a:r>
            <a:r>
              <a:rPr lang="en-US" sz="3200" dirty="0" err="1" smtClean="0"/>
              <a:t>Chandran</a:t>
            </a:r>
            <a:r>
              <a:rPr lang="en-US" sz="3200" dirty="0" smtClean="0"/>
              <a:t> S</a:t>
            </a:r>
          </a:p>
          <a:p>
            <a:r>
              <a:rPr lang="en-US" sz="3200" dirty="0" err="1" smtClean="0"/>
              <a:t>Assi</a:t>
            </a:r>
            <a:r>
              <a:rPr lang="en-US" sz="3200" dirty="0" smtClean="0"/>
              <a:t>. Professor </a:t>
            </a:r>
          </a:p>
          <a:p>
            <a:r>
              <a:rPr lang="en-US" sz="3200" dirty="0" smtClean="0"/>
              <a:t>Department of Chemistry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5590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0217" y="0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CORRELATION</a:t>
            </a:r>
            <a:endParaRPr lang="en-IN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61258" y="769441"/>
            <a:ext cx="114691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The extent (degree) of the linear relationship between two variables is called correlation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8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It is a statistical tool that measures the closeness or strength of the relationship between the variable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8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Correlation analysis is not only establishing relationship but also quantify it.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8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Correlation is unable to indicate the cause and effect relationship between two variables.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7138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143691"/>
            <a:ext cx="6936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        </a:t>
            </a:r>
            <a:r>
              <a:rPr lang="en-US" sz="4800" dirty="0" smtClean="0"/>
              <a:t>Types of Correlation</a:t>
            </a:r>
            <a:endParaRPr lang="en-IN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36023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             </a:t>
            </a:r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2090057" y="1420798"/>
            <a:ext cx="9379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000" dirty="0" smtClean="0"/>
              <a:t>I .Positive and negative correlation</a:t>
            </a:r>
          </a:p>
          <a:p>
            <a:pPr marL="400050" indent="-400050">
              <a:lnSpc>
                <a:spcPct val="200000"/>
              </a:lnSpc>
              <a:buAutoNum type="romanUcPeriod" startAt="2"/>
            </a:pPr>
            <a:r>
              <a:rPr lang="en-US" sz="4000" dirty="0" smtClean="0"/>
              <a:t>Simple , Partial and multiple correlation</a:t>
            </a:r>
          </a:p>
          <a:p>
            <a:pPr marL="400050" indent="-400050">
              <a:lnSpc>
                <a:spcPct val="200000"/>
              </a:lnSpc>
              <a:buAutoNum type="romanUcPeriod" startAt="2"/>
            </a:pPr>
            <a:r>
              <a:rPr lang="en-US" sz="4000" dirty="0" smtClean="0"/>
              <a:t>Linear and non-linear correlation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21184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886" y="-104503"/>
            <a:ext cx="7053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I. Positive and Negative correlation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8457" y="1018903"/>
            <a:ext cx="4637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Positive correlation</a:t>
            </a: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32857" y="1776549"/>
            <a:ext cx="13063" cy="14499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658983" y="3226526"/>
            <a:ext cx="2129246" cy="13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867989" y="1988421"/>
            <a:ext cx="1567542" cy="898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171508" y="1776549"/>
            <a:ext cx="65315" cy="1463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262949" y="3226526"/>
            <a:ext cx="2168434" cy="13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106194" y="1776549"/>
            <a:ext cx="1306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432766" y="1988421"/>
            <a:ext cx="1423851" cy="898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51760" y="3302411"/>
            <a:ext cx="126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 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958738" y="3487079"/>
            <a:ext cx="574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" y="2194560"/>
            <a:ext cx="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endParaRPr lang="en-IN" dirty="0"/>
          </a:p>
        </p:txBody>
      </p:sp>
      <p:cxnSp>
        <p:nvCxnSpPr>
          <p:cNvPr id="26" name="Straight Arrow Connector 25"/>
          <p:cNvCxnSpPr>
            <a:stCxn id="24" idx="0"/>
          </p:cNvCxnSpPr>
          <p:nvPr/>
        </p:nvCxnSpPr>
        <p:spPr>
          <a:xfrm flipH="1" flipV="1">
            <a:off x="1410788" y="1776549"/>
            <a:ext cx="1" cy="418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9153" y="3302411"/>
            <a:ext cx="1345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IN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245928" y="3435906"/>
            <a:ext cx="711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77595" y="2377441"/>
            <a:ext cx="24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</a:t>
            </a:r>
            <a:endParaRPr lang="en-IN" dirty="0"/>
          </a:p>
        </p:txBody>
      </p:sp>
      <p:cxnSp>
        <p:nvCxnSpPr>
          <p:cNvPr id="32" name="Straight Arrow Connector 31"/>
          <p:cNvCxnSpPr>
            <a:stCxn id="30" idx="0"/>
          </p:cNvCxnSpPr>
          <p:nvPr/>
        </p:nvCxnSpPr>
        <p:spPr>
          <a:xfrm flipH="1" flipV="1">
            <a:off x="6975565" y="1985554"/>
            <a:ext cx="26127" cy="39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06540" y="1016036"/>
            <a:ext cx="3882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Negative correlation</a:t>
            </a:r>
            <a:endParaRPr lang="en-IN" sz="2800" dirty="0"/>
          </a:p>
        </p:txBody>
      </p:sp>
      <p:sp>
        <p:nvSpPr>
          <p:cNvPr id="34" name="TextBox 33"/>
          <p:cNvSpPr txBox="1"/>
          <p:nvPr/>
        </p:nvSpPr>
        <p:spPr>
          <a:xfrm>
            <a:off x="0" y="3734564"/>
            <a:ext cx="57999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In this an increase or decrease in the value of one variable is associated with the increase or decrease in the value of the other</a:t>
            </a:r>
            <a:endParaRPr lang="en-IN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119257" y="3734564"/>
            <a:ext cx="49551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 this increase in one variable causes the proportionate decrease in the other variable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791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6262" y="91440"/>
            <a:ext cx="9339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II Simple ,Partial and Multiple correlation</a:t>
            </a:r>
            <a:endParaRPr lang="en-IN" sz="32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849141402"/>
              </p:ext>
            </p:extLst>
          </p:nvPr>
        </p:nvGraphicFramePr>
        <p:xfrm>
          <a:off x="0" y="676215"/>
          <a:ext cx="12096205" cy="5593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418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7703" y="182880"/>
            <a:ext cx="6766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III  Linear and Non linear correlation</a:t>
            </a:r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992777" y="1397726"/>
            <a:ext cx="3409406" cy="202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9" y="1060269"/>
            <a:ext cx="3657600" cy="2362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45994"/>
            <a:ext cx="3396343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3715083"/>
            <a:ext cx="3004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Values have constant ratio</a:t>
            </a:r>
          </a:p>
          <a:p>
            <a:r>
              <a:rPr lang="en-US" dirty="0" smtClean="0"/>
              <a:t>X=10,20,30,40</a:t>
            </a:r>
          </a:p>
          <a:p>
            <a:r>
              <a:rPr lang="en-US" dirty="0" smtClean="0"/>
              <a:t>Y=20,40,60,80</a:t>
            </a:r>
          </a:p>
          <a:p>
            <a:r>
              <a:rPr lang="en-US" dirty="0" smtClean="0"/>
              <a:t>X values doubled then Y also doubled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471954" y="3800808"/>
            <a:ext cx="3918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Values does not have constant ratio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If the fertilizer is doubled yield of wheat crop would not be exactly doubled.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16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886" y="130629"/>
            <a:ext cx="663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Measures of correlation</a:t>
            </a:r>
            <a:endParaRPr lang="en-IN" sz="48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91884749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037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23" y="1097281"/>
            <a:ext cx="11234057" cy="48855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83725" y="0"/>
            <a:ext cx="5812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1.Scatter diagram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2282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0034" y="195943"/>
            <a:ext cx="4898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2. Graph method</a:t>
            </a:r>
            <a:endParaRPr lang="en-IN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582" y="1162594"/>
            <a:ext cx="4114800" cy="3709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79" y="1319348"/>
            <a:ext cx="4770121" cy="34355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4479"/>
            <a:ext cx="3788229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8514" y="0"/>
            <a:ext cx="646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3.Correlation Coefficient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91439" y="877247"/>
            <a:ext cx="117826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Scatter diagram and graphic method only gives a rough idea about the relationship between two variables but does not give numerical measure of correlation.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The degree of relationship can be established by calculating the correlation coefficient which is  denoted by r.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Definition: The coefficient of correlation r can be defined as the measure of strength of the linear relationship between the two variables X and Y</a:t>
            </a: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" y="3500846"/>
            <a:ext cx="6041571" cy="2782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412" y="3093322"/>
            <a:ext cx="610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</a:rPr>
              <a:t>Karl Pearson’s coefficient of correlation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62503" y="3944983"/>
            <a:ext cx="49116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r=1 Perfect positive relationship</a:t>
            </a:r>
          </a:p>
          <a:p>
            <a:r>
              <a:rPr lang="en-US" sz="2800" dirty="0" smtClean="0"/>
              <a:t>r=-1Perfect negative relationship</a:t>
            </a:r>
          </a:p>
          <a:p>
            <a:r>
              <a:rPr lang="en-US" sz="2800" dirty="0" smtClean="0"/>
              <a:t>r=0 Non relationship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4183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88980"/>
            <a:ext cx="5682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Problem 1</a:t>
            </a:r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737360" y="1136469"/>
            <a:ext cx="8490857" cy="301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AutoShape 2" descr="blob:https://web.whatsapp.com/4785e8c9-c715-4649-91a4-14ee5ae084f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581785" y="2020388"/>
            <a:ext cx="8490857" cy="301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AutoShape 2" descr="blob:https://web.whatsapp.com/4785e8c9-c715-4649-91a4-14ee5ae084fb"/>
          <p:cNvSpPr>
            <a:spLocks noChangeAspect="1" noChangeArrowheads="1"/>
          </p:cNvSpPr>
          <p:nvPr/>
        </p:nvSpPr>
        <p:spPr bwMode="auto">
          <a:xfrm>
            <a:off x="0" y="73945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6496" y="249574"/>
            <a:ext cx="11375573" cy="5981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023794"/>
            <a:ext cx="434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 text of SS Gupta  page 389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70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0846" y="235131"/>
            <a:ext cx="518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Regression analysis</a:t>
            </a:r>
            <a:endParaRPr lang="en-IN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567543" y="1672046"/>
            <a:ext cx="93268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 smtClean="0"/>
              <a:t>Regression analysis measures the nature and extent of the relationship between two or more variables , thus enables us to make predictions.</a:t>
            </a:r>
          </a:p>
          <a:p>
            <a:endParaRPr lang="en-US" sz="3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 smtClean="0"/>
              <a:t>Regression is the measure of the average relationship between two or more variables.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2563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8435" y="326571"/>
            <a:ext cx="836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Comparison between Correlation and Regression</a:t>
            </a:r>
            <a:endParaRPr lang="en-IN"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28490"/>
              </p:ext>
            </p:extLst>
          </p:nvPr>
        </p:nvGraphicFramePr>
        <p:xfrm>
          <a:off x="940525" y="1660192"/>
          <a:ext cx="10411098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5549">
                  <a:extLst>
                    <a:ext uri="{9D8B030D-6E8A-4147-A177-3AD203B41FA5}">
                      <a16:colId xmlns:a16="http://schemas.microsoft.com/office/drawing/2014/main" val="4086418014"/>
                    </a:ext>
                  </a:extLst>
                </a:gridCol>
                <a:gridCol w="5205549">
                  <a:extLst>
                    <a:ext uri="{9D8B030D-6E8A-4147-A177-3AD203B41FA5}">
                      <a16:colId xmlns:a16="http://schemas.microsoft.com/office/drawing/2014/main" val="1016366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Correlation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Regression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461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Correlation</a:t>
                      </a:r>
                      <a:r>
                        <a:rPr lang="en-US" baseline="0" dirty="0" smtClean="0"/>
                        <a:t> is a measure of degree of relationship between X and 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Studies the nature of relationship between the variables so that one may</a:t>
                      </a:r>
                      <a:r>
                        <a:rPr lang="en-US" baseline="0" dirty="0" smtClean="0"/>
                        <a:t> be able to predict the value of one variable on the basis of another.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92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Does not</a:t>
                      </a:r>
                      <a:r>
                        <a:rPr lang="en-US" baseline="0" dirty="0" smtClean="0"/>
                        <a:t> always assume cause and effect relationship between two variables.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Clearly express the cause and effect relationship between</a:t>
                      </a:r>
                      <a:r>
                        <a:rPr lang="en-US" baseline="0" dirty="0" smtClean="0"/>
                        <a:t> two variables. The independent variable is cause and dependent variable is effect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099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Correlation doesn't help in making predictions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Regression enable us to make predictions using</a:t>
                      </a:r>
                      <a:r>
                        <a:rPr lang="en-US" baseline="0" dirty="0" smtClean="0"/>
                        <a:t> regression line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Independent of the change of origin and scale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/>
                        <a:t>Independent</a:t>
                      </a:r>
                      <a:r>
                        <a:rPr lang="en-US" baseline="0" dirty="0" smtClean="0"/>
                        <a:t> of change of origin but not of scale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156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003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97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3646" y="0"/>
            <a:ext cx="612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         Regression lines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8" y="822959"/>
            <a:ext cx="117348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/>
              <a:t>The regression line shows the average relationship between two variables .It is also called line of Best Fit.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/>
              <a:t>If two variables X and Y are given ,then there are two regression lines</a:t>
            </a:r>
          </a:p>
          <a:p>
            <a:r>
              <a:rPr lang="en-US" sz="3200" dirty="0" smtClean="0"/>
              <a:t>             1.Regression line of X on Y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            2.Regression line of Y on 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/>
              <a:t>  Nature of regression line 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            If r=± 1 then the regression lines are coincide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            If r=0 then the two regression lines  intersect each other at 90˚       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6452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5085" y="0"/>
            <a:ext cx="6165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Regression equations</a:t>
            </a:r>
            <a:endParaRPr lang="en-IN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162595" y="646331"/>
                <a:ext cx="10489474" cy="4848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/>
                  <a:t>Regression equation are the algebraic formulation of regression lines</a:t>
                </a:r>
              </a:p>
              <a:p>
                <a:r>
                  <a:rPr lang="en-US" sz="2800" dirty="0" smtClean="0"/>
                  <a:t>There are two regression equations </a:t>
                </a:r>
              </a:p>
              <a:p>
                <a:r>
                  <a:rPr lang="en-US" sz="2800" dirty="0" smtClean="0"/>
                  <a:t>Equation of Y on X                 Y=a + b x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 Y-Y̅= </a:t>
                </a:r>
                <a:r>
                  <a:rPr lang="en-US" sz="2800" dirty="0" err="1" smtClean="0"/>
                  <a:t>b</a:t>
                </a:r>
                <a:r>
                  <a:rPr lang="en-US" sz="2400" dirty="0" err="1" smtClean="0"/>
                  <a:t>yx</a:t>
                </a:r>
                <a:r>
                  <a:rPr lang="en-US" sz="2800" dirty="0" smtClean="0"/>
                  <a:t> (X-X̅)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  Y-Y̅=r 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y</a:t>
                </a:r>
                <a:r>
                  <a:rPr lang="en-US" sz="2800" dirty="0" smtClean="0"/>
                  <a:t>/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x</a:t>
                </a:r>
                <a:r>
                  <a:rPr lang="en-US" sz="2800" dirty="0" smtClean="0"/>
                  <a:t> (X-X̅</a:t>
                </a:r>
                <a:r>
                  <a:rPr lang="en-US" sz="2800" dirty="0" smtClean="0"/>
                  <a:t>)  </a:t>
                </a:r>
                <a:endParaRPr lang="en-US" sz="2800" dirty="0" smtClean="0"/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</a:t>
                </a:r>
                <a:r>
                  <a:rPr lang="en-US" sz="2800" dirty="0" err="1" smtClean="0"/>
                  <a:t>b</a:t>
                </a:r>
                <a:r>
                  <a:rPr lang="en-US" sz="2400" dirty="0" err="1" smtClean="0"/>
                  <a:t>yx</a:t>
                </a:r>
                <a:r>
                  <a:rPr lang="en-US" sz="2800" dirty="0" smtClean="0"/>
                  <a:t> =r 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y</a:t>
                </a:r>
                <a:r>
                  <a:rPr lang="en-US" sz="2800" dirty="0" smtClean="0"/>
                  <a:t>/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x</a:t>
                </a:r>
              </a:p>
              <a:p>
                <a:r>
                  <a:rPr lang="en-US" sz="2800" dirty="0" smtClean="0"/>
                  <a:t>Equation of X on Y                 X=a + b y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 X-X̅ =</a:t>
                </a:r>
                <a:r>
                  <a:rPr lang="en-US" sz="2800" dirty="0" err="1" smtClean="0"/>
                  <a:t>b</a:t>
                </a:r>
                <a:r>
                  <a:rPr lang="en-US" sz="2400" dirty="0" err="1" smtClean="0"/>
                  <a:t>xy</a:t>
                </a:r>
                <a:r>
                  <a:rPr lang="en-US" sz="2800" dirty="0" smtClean="0"/>
                  <a:t> (Y-Y̅)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 X-X̅ =r 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x</a:t>
                </a:r>
                <a:r>
                  <a:rPr lang="en-US" sz="2800" dirty="0" smtClean="0"/>
                  <a:t>/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y</a:t>
                </a:r>
                <a:r>
                  <a:rPr lang="en-US" sz="2800" dirty="0" smtClean="0"/>
                  <a:t> (Y-Y̅)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                               </a:t>
                </a:r>
                <a:r>
                  <a:rPr lang="en-US" sz="2800" dirty="0" err="1" smtClean="0"/>
                  <a:t>b</a:t>
                </a:r>
                <a:r>
                  <a:rPr lang="en-US" sz="2400" dirty="0" err="1" smtClean="0"/>
                  <a:t>xy</a:t>
                </a:r>
                <a:r>
                  <a:rPr lang="en-US" sz="2800" dirty="0" smtClean="0"/>
                  <a:t> =r</a:t>
                </a:r>
                <a:r>
                  <a:rPr lang="el-GR" sz="2800" dirty="0" smtClean="0"/>
                  <a:t>σ</a:t>
                </a:r>
                <a:r>
                  <a:rPr lang="en-US" sz="2400" dirty="0" smtClean="0"/>
                  <a:t>x</a:t>
                </a:r>
                <a:r>
                  <a:rPr lang="en-US" sz="2800" dirty="0" smtClean="0"/>
                  <a:t>/</a:t>
                </a:r>
                <a:r>
                  <a:rPr lang="el-GR" sz="2800" dirty="0" smtClean="0"/>
                  <a:t>σ</a:t>
                </a:r>
                <a:r>
                  <a:rPr lang="en-US" sz="2000" dirty="0" smtClean="0"/>
                  <a:t>y</a:t>
                </a:r>
              </a:p>
              <a:p>
                <a:r>
                  <a:rPr lang="en-US" sz="2000" b="1" dirty="0" smtClean="0"/>
                  <a:t>   </a:t>
                </a:r>
                <a:r>
                  <a:rPr lang="en-US" sz="2400" b="1" dirty="0" smtClean="0"/>
                  <a:t>Coefficient of correlation                 </a:t>
                </a:r>
                <a:r>
                  <a:rPr lang="en-US" sz="2400" dirty="0" smtClean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𝑏𝑥𝑦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𝑏𝑦𝑥</m:t>
                        </m:r>
                      </m:e>
                    </m:rad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95" y="646331"/>
                <a:ext cx="10489474" cy="4848443"/>
              </a:xfrm>
              <a:prstGeom prst="rect">
                <a:avLst/>
              </a:prstGeom>
              <a:blipFill>
                <a:blip r:embed="rId2"/>
                <a:stretch>
                  <a:fillRect l="-1221" t="-1132" b="-16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651" y="1800225"/>
            <a:ext cx="4023360" cy="312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0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514" y="209006"/>
            <a:ext cx="10672355" cy="61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6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4537" y="391886"/>
            <a:ext cx="6244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lgerian" panose="04020705040A02060702" pitchFamily="82" charset="0"/>
              </a:rPr>
              <a:t>References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5029" y="1528354"/>
            <a:ext cx="104894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4000" dirty="0" smtClean="0">
                <a:latin typeface="Bahnschrift Light SemiCondensed" panose="020B0502040204020203" pitchFamily="34" charset="0"/>
              </a:rPr>
              <a:t>CR Kothari :Research Methodology Methods and Techniques</a:t>
            </a:r>
          </a:p>
          <a:p>
            <a:endParaRPr lang="en-US" sz="4000" dirty="0" smtClean="0">
              <a:latin typeface="Bahnschrift Ligh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4000" dirty="0" smtClean="0">
                <a:latin typeface="Bahnschrift Light SemiCondensed" panose="020B0502040204020203" pitchFamily="34" charset="0"/>
              </a:rPr>
              <a:t>SS Gupta    : Statistical Methods</a:t>
            </a:r>
            <a:endParaRPr lang="en-IN" sz="4000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3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0" y="1136469"/>
            <a:ext cx="8334103" cy="3239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DE005F4EFEF4ABB122FA5CC3E42B3" ma:contentTypeVersion="4" ma:contentTypeDescription="Create a new document." ma:contentTypeScope="" ma:versionID="e138d9c9acd5a28633c3cb03c310d7df">
  <xsd:schema xmlns:xsd="http://www.w3.org/2001/XMLSchema" xmlns:xs="http://www.w3.org/2001/XMLSchema" xmlns:p="http://schemas.microsoft.com/office/2006/metadata/properties" xmlns:ns2="5d1431e1-d8bb-424a-8728-245b070c75c6" targetNamespace="http://schemas.microsoft.com/office/2006/metadata/properties" ma:root="true" ma:fieldsID="62b69a8eb5e0403e0c015daacdc41f15" ns2:_="">
    <xsd:import namespace="5d1431e1-d8bb-424a-8728-245b070c75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431e1-d8bb-424a-8728-245b070c7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7A8DA8-B139-439F-ACFC-4A9B65E0DC9E}"/>
</file>

<file path=customXml/itemProps2.xml><?xml version="1.0" encoding="utf-8"?>
<ds:datastoreItem xmlns:ds="http://schemas.openxmlformats.org/officeDocument/2006/customXml" ds:itemID="{A894B251-E51E-4F52-AB96-8730A464E21B}"/>
</file>

<file path=customXml/itemProps3.xml><?xml version="1.0" encoding="utf-8"?>
<ds:datastoreItem xmlns:ds="http://schemas.openxmlformats.org/officeDocument/2006/customXml" ds:itemID="{04DECB3C-8B64-45F0-81C5-40B8328F3625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478</TotalTime>
  <Words>825</Words>
  <Application>Microsoft Office PowerPoint</Application>
  <PresentationFormat>Widescreen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Bahnschrift Light SemiCondensed</vt:lpstr>
      <vt:lpstr>Calibri</vt:lpstr>
      <vt:lpstr>Calibri Light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amrita</dc:creator>
  <cp:lastModifiedBy>amrita</cp:lastModifiedBy>
  <cp:revision>57</cp:revision>
  <dcterms:created xsi:type="dcterms:W3CDTF">2024-10-23T07:46:40Z</dcterms:created>
  <dcterms:modified xsi:type="dcterms:W3CDTF">2024-10-29T01:12:47Z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0x010100662DE005F4EFEF4ABB122FA5CC3E42B3</vt:lpwstr>
  </property>
</Properties>
</file>
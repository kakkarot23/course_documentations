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40"/>
  </p:notesMasterIdLst>
  <p:handoutMasterIdLst>
    <p:handoutMasterId r:id="rId41"/>
  </p:handoutMasterIdLst>
  <p:sldIdLst>
    <p:sldId id="256" r:id="rId5"/>
    <p:sldId id="257" r:id="rId6"/>
    <p:sldId id="286" r:id="rId7"/>
    <p:sldId id="318" r:id="rId8"/>
    <p:sldId id="319" r:id="rId9"/>
    <p:sldId id="258" r:id="rId10"/>
    <p:sldId id="287" r:id="rId11"/>
    <p:sldId id="315" r:id="rId12"/>
    <p:sldId id="288" r:id="rId13"/>
    <p:sldId id="312" r:id="rId14"/>
    <p:sldId id="313" r:id="rId15"/>
    <p:sldId id="291" r:id="rId16"/>
    <p:sldId id="304" r:id="rId17"/>
    <p:sldId id="305" r:id="rId18"/>
    <p:sldId id="306" r:id="rId19"/>
    <p:sldId id="317" r:id="rId20"/>
    <p:sldId id="307" r:id="rId21"/>
    <p:sldId id="308" r:id="rId22"/>
    <p:sldId id="309" r:id="rId23"/>
    <p:sldId id="310" r:id="rId24"/>
    <p:sldId id="292" r:id="rId25"/>
    <p:sldId id="293" r:id="rId26"/>
    <p:sldId id="294" r:id="rId27"/>
    <p:sldId id="296" r:id="rId28"/>
    <p:sldId id="297" r:id="rId29"/>
    <p:sldId id="295" r:id="rId30"/>
    <p:sldId id="298" r:id="rId31"/>
    <p:sldId id="299" r:id="rId32"/>
    <p:sldId id="300" r:id="rId33"/>
    <p:sldId id="266" r:id="rId34"/>
    <p:sldId id="301" r:id="rId35"/>
    <p:sldId id="302" r:id="rId36"/>
    <p:sldId id="303" r:id="rId37"/>
    <p:sldId id="316" r:id="rId38"/>
    <p:sldId id="268"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7A1E46-7186-976E-FA62-FE05E2938E43}" v="1" dt="2024-11-19T02:33:25.4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517" autoAdjust="0"/>
    <p:restoredTop sz="94660"/>
  </p:normalViewPr>
  <p:slideViewPr>
    <p:cSldViewPr snapToGrid="0">
      <p:cViewPr varScale="1">
        <p:scale>
          <a:sx n="87" d="100"/>
          <a:sy n="87" d="100"/>
        </p:scale>
        <p:origin x="504" y="58"/>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11/18/2024</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11/18/2024</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40.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3086452" y="1402197"/>
            <a:ext cx="7077456" cy="1243584"/>
          </a:xfrm>
        </p:spPr>
        <p:txBody>
          <a:bodyPr/>
          <a:lstStyle/>
          <a:p>
            <a:r>
              <a:rPr lang="en-US" sz="5400" dirty="0">
                <a:latin typeface="Times New Roman" panose="02020603050405020304" pitchFamily="18" charset="0"/>
                <a:cs typeface="Times New Roman" panose="02020603050405020304" pitchFamily="18" charset="0"/>
              </a:rPr>
              <a:t>ANOVA and T-test</a:t>
            </a:r>
          </a:p>
        </p:txBody>
      </p:sp>
      <p:sp>
        <p:nvSpPr>
          <p:cNvPr id="3" name="Subtitle 2">
            <a:extLst>
              <a:ext uri="{FF2B5EF4-FFF2-40B4-BE49-F238E27FC236}">
                <a16:creationId xmlns:a16="http://schemas.microsoft.com/office/drawing/2014/main" id="{0D537F64-4C96-4AA8-BB21-E8053A3186DD}"/>
              </a:ext>
            </a:extLst>
          </p:cNvPr>
          <p:cNvSpPr>
            <a:spLocks noGrp="1"/>
          </p:cNvSpPr>
          <p:nvPr>
            <p:ph type="subTitle" idx="1"/>
          </p:nvPr>
        </p:nvSpPr>
        <p:spPr>
          <a:xfrm>
            <a:off x="4528036" y="3060776"/>
            <a:ext cx="3868616" cy="815223"/>
          </a:xfrm>
        </p:spPr>
        <p:txBody>
          <a:bodyPr>
            <a:normAutofit lnSpcReduction="10000"/>
          </a:bodyPr>
          <a:lstStyle/>
          <a:p>
            <a:pPr marL="0" indent="0">
              <a:buNone/>
            </a:pPr>
            <a:r>
              <a:rPr lang="en-US" sz="2400" dirty="0" err="1">
                <a:latin typeface="Times New Roman" panose="02020603050405020304" pitchFamily="18" charset="0"/>
                <a:cs typeface="Times New Roman" panose="02020603050405020304" pitchFamily="18" charset="0"/>
              </a:rPr>
              <a:t>Gopika</a:t>
            </a:r>
            <a:r>
              <a:rPr lang="en-US" sz="2400" dirty="0">
                <a:latin typeface="Times New Roman" panose="02020603050405020304" pitchFamily="18" charset="0"/>
                <a:cs typeface="Times New Roman" panose="02020603050405020304" pitchFamily="18" charset="0"/>
              </a:rPr>
              <a:t> Dinesh K C</a:t>
            </a:r>
          </a:p>
          <a:p>
            <a:pPr marL="0" indent="0">
              <a:buNone/>
            </a:pPr>
            <a:r>
              <a:rPr lang="en-US" sz="2000" dirty="0">
                <a:latin typeface="Times New Roman" panose="02020603050405020304" pitchFamily="18" charset="0"/>
                <a:cs typeface="Times New Roman" panose="02020603050405020304" pitchFamily="18" charset="0"/>
              </a:rPr>
              <a:t>AM.PS.R4MAT24001</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dirty="0"/>
          </a:p>
        </p:txBody>
      </p:sp>
      <p:sp>
        <p:nvSpPr>
          <p:cNvPr id="4" name="TextBox 3"/>
          <p:cNvSpPr txBox="1"/>
          <p:nvPr/>
        </p:nvSpPr>
        <p:spPr>
          <a:xfrm>
            <a:off x="5134706" y="5246774"/>
            <a:ext cx="3261946" cy="461665"/>
          </a:xfrm>
          <a:prstGeom prst="rect">
            <a:avLst/>
          </a:prstGeom>
          <a:noFill/>
        </p:spPr>
        <p:txBody>
          <a:bodyPr wrap="square" rtlCol="0">
            <a:spAutoFit/>
          </a:bodyPr>
          <a:lstStyle/>
          <a:p>
            <a:r>
              <a:rPr lang="en-US" sz="2400" dirty="0">
                <a:solidFill>
                  <a:schemeClr val="bg1"/>
                </a:solidFill>
                <a:latin typeface="Times New Roman" panose="02020603050405020304" pitchFamily="18" charset="0"/>
                <a:cs typeface="Times New Roman" panose="02020603050405020304" pitchFamily="18" charset="0"/>
              </a:rPr>
              <a:t>30 October 2024</a:t>
            </a:r>
          </a:p>
        </p:txBody>
      </p:sp>
      <p:sp>
        <p:nvSpPr>
          <p:cNvPr id="6" name="TextBox 5"/>
          <p:cNvSpPr txBox="1"/>
          <p:nvPr/>
        </p:nvSpPr>
        <p:spPr>
          <a:xfrm>
            <a:off x="2875086" y="4254772"/>
            <a:ext cx="7288822" cy="461665"/>
          </a:xfrm>
          <a:prstGeom prst="rect">
            <a:avLst/>
          </a:prstGeom>
          <a:noFill/>
        </p:spPr>
        <p:txBody>
          <a:bodyPr wrap="square" rtlCol="0">
            <a:spAutoFit/>
          </a:bodyPr>
          <a:lstStyle/>
          <a:p>
            <a:r>
              <a:rPr lang="en-US" sz="2400" dirty="0">
                <a:solidFill>
                  <a:schemeClr val="bg1"/>
                </a:solidFill>
                <a:latin typeface="Times New Roman" panose="02020603050405020304" pitchFamily="18" charset="0"/>
                <a:cs typeface="Times New Roman" panose="02020603050405020304" pitchFamily="18" charset="0"/>
              </a:rPr>
              <a:t>Course Title: Research Methodology in Applied Sciences</a:t>
            </a:r>
          </a:p>
        </p:txBody>
      </p:sp>
    </p:spTree>
    <p:extLst>
      <p:ext uri="{BB962C8B-B14F-4D97-AF65-F5344CB8AC3E}">
        <p14:creationId xmlns:p14="http://schemas.microsoft.com/office/powerpoint/2010/main" val="3946934594"/>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BD8413-C238-49D7-A4E1-E8FEF1811A0E}"/>
              </a:ext>
            </a:extLst>
          </p:cNvPr>
          <p:cNvSpPr>
            <a:spLocks noGrp="1"/>
          </p:cNvSpPr>
          <p:nvPr>
            <p:ph type="title"/>
          </p:nvPr>
        </p:nvSpPr>
        <p:spPr>
          <a:xfrm>
            <a:off x="594711" y="1134208"/>
            <a:ext cx="7781544" cy="859055"/>
          </a:xfrm>
        </p:spPr>
        <p:txBody>
          <a:bodyPr/>
          <a:lstStyle/>
          <a:p>
            <a:r>
              <a:rPr lang="en-US" dirty="0"/>
              <a:t>Contents</a:t>
            </a:r>
          </a:p>
        </p:txBody>
      </p:sp>
      <p:sp>
        <p:nvSpPr>
          <p:cNvPr id="2" name="Slide Number Placeholder 1">
            <a:extLst>
              <a:ext uri="{FF2B5EF4-FFF2-40B4-BE49-F238E27FC236}">
                <a16:creationId xmlns:a16="http://schemas.microsoft.com/office/drawing/2014/main" id="{0B24BF10-2B55-43AB-9F77-F1A1410384A9}"/>
              </a:ext>
            </a:extLst>
          </p:cNvPr>
          <p:cNvSpPr>
            <a:spLocks noGrp="1"/>
          </p:cNvSpPr>
          <p:nvPr>
            <p:ph type="sldNum" sz="quarter" idx="12"/>
          </p:nvPr>
        </p:nvSpPr>
        <p:spPr/>
        <p:txBody>
          <a:bodyPr/>
          <a:lstStyle/>
          <a:p>
            <a:fld id="{C263D6C4-4840-40CC-AC84-17E24B3B7BDE}" type="slidenum">
              <a:rPr lang="en-US" smtClean="0"/>
              <a:pPr/>
              <a:t>2</a:t>
            </a:fld>
            <a:endParaRPr lang="en-US" dirty="0"/>
          </a:p>
        </p:txBody>
      </p:sp>
      <p:sp>
        <p:nvSpPr>
          <p:cNvPr id="6" name="TextBox 5"/>
          <p:cNvSpPr txBox="1"/>
          <p:nvPr/>
        </p:nvSpPr>
        <p:spPr>
          <a:xfrm>
            <a:off x="1688123" y="2699238"/>
            <a:ext cx="5846885" cy="2554545"/>
          </a:xfrm>
          <a:prstGeom prst="rect">
            <a:avLst/>
          </a:prstGeom>
          <a:noFill/>
        </p:spPr>
        <p:txBody>
          <a:bodyPr wrap="square" rtlCol="0">
            <a:spAutoFit/>
          </a:bodyPr>
          <a:lstStyle/>
          <a:p>
            <a:pPr marL="285750" indent="-285750">
              <a:buFont typeface="Courier New" panose="02070309020205020404" pitchFamily="49" charset="0"/>
              <a:buChar char="o"/>
            </a:pPr>
            <a:r>
              <a:rPr lang="en-US" sz="3200" dirty="0">
                <a:solidFill>
                  <a:schemeClr val="bg1"/>
                </a:solidFill>
                <a:latin typeface="Times New Roman" panose="02020603050405020304" pitchFamily="18" charset="0"/>
                <a:cs typeface="Times New Roman" panose="02020603050405020304" pitchFamily="18" charset="0"/>
              </a:rPr>
              <a:t>Introduction</a:t>
            </a:r>
          </a:p>
          <a:p>
            <a:pPr marL="285750" indent="-285750">
              <a:buFont typeface="Courier New" panose="02070309020205020404" pitchFamily="49" charset="0"/>
              <a:buChar char="o"/>
            </a:pPr>
            <a:endParaRPr lang="en-US" sz="3200" dirty="0">
              <a:solidFill>
                <a:schemeClr val="bg1"/>
              </a:solidFill>
              <a:latin typeface="Times New Roman" panose="02020603050405020304" pitchFamily="18" charset="0"/>
              <a:cs typeface="Times New Roman" panose="02020603050405020304" pitchFamily="18" charset="0"/>
            </a:endParaRPr>
          </a:p>
          <a:p>
            <a:pPr marL="285750" indent="-285750">
              <a:buFont typeface="Courier New" panose="02070309020205020404" pitchFamily="49" charset="0"/>
              <a:buChar char="o"/>
            </a:pPr>
            <a:r>
              <a:rPr lang="en-US" sz="3200" dirty="0">
                <a:solidFill>
                  <a:schemeClr val="bg1"/>
                </a:solidFill>
                <a:latin typeface="Times New Roman" panose="02020603050405020304" pitchFamily="18" charset="0"/>
                <a:cs typeface="Times New Roman" panose="02020603050405020304" pitchFamily="18" charset="0"/>
              </a:rPr>
              <a:t>ANOVA</a:t>
            </a:r>
          </a:p>
          <a:p>
            <a:pPr marL="285750" indent="-285750">
              <a:buFont typeface="Courier New" panose="02070309020205020404" pitchFamily="49" charset="0"/>
              <a:buChar char="o"/>
            </a:pPr>
            <a:endParaRPr lang="en-US" sz="3200" dirty="0">
              <a:solidFill>
                <a:schemeClr val="bg1"/>
              </a:solidFill>
              <a:latin typeface="Times New Roman" panose="02020603050405020304" pitchFamily="18" charset="0"/>
              <a:cs typeface="Times New Roman" panose="02020603050405020304" pitchFamily="18" charset="0"/>
            </a:endParaRPr>
          </a:p>
          <a:p>
            <a:pPr marL="285750" indent="-285750">
              <a:buFont typeface="Courier New" panose="02070309020205020404" pitchFamily="49" charset="0"/>
              <a:buChar char="o"/>
            </a:pPr>
            <a:r>
              <a:rPr lang="en-US" sz="3200" dirty="0">
                <a:solidFill>
                  <a:schemeClr val="bg1"/>
                </a:solidFill>
                <a:latin typeface="Times New Roman" panose="02020603050405020304" pitchFamily="18" charset="0"/>
                <a:cs typeface="Times New Roman" panose="02020603050405020304" pitchFamily="18" charset="0"/>
              </a:rPr>
              <a:t>T-test</a:t>
            </a:r>
          </a:p>
        </p:txBody>
      </p:sp>
    </p:spTree>
    <p:extLst>
      <p:ext uri="{BB962C8B-B14F-4D97-AF65-F5344CB8AC3E}">
        <p14:creationId xmlns:p14="http://schemas.microsoft.com/office/powerpoint/2010/main" val="2902794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Introduction</a:t>
            </a:r>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3</a:t>
            </a:fld>
            <a:endParaRPr lang="en-US" noProof="0" dirty="0"/>
          </a:p>
        </p:txBody>
      </p:sp>
      <p:sp>
        <p:nvSpPr>
          <p:cNvPr id="5" name="TextBox 4"/>
          <p:cNvSpPr txBox="1"/>
          <p:nvPr/>
        </p:nvSpPr>
        <p:spPr>
          <a:xfrm>
            <a:off x="1389184" y="1899138"/>
            <a:ext cx="8959361" cy="3785652"/>
          </a:xfrm>
          <a:prstGeom prst="rect">
            <a:avLst/>
          </a:prstGeom>
          <a:noFill/>
        </p:spPr>
        <p:txBody>
          <a:bodyPr wrap="square" rtlCol="0">
            <a:spAutoFit/>
          </a:bodyPr>
          <a:lstStyle/>
          <a:p>
            <a:pPr marL="342900" indent="-342900">
              <a:buFont typeface="Arial" panose="020B0604020202020204" pitchFamily="34" charset="0"/>
              <a:buChar char="•"/>
            </a:pPr>
            <a:r>
              <a:rPr lang="en-US" sz="2400" b="1" dirty="0">
                <a:solidFill>
                  <a:schemeClr val="bg1"/>
                </a:solidFill>
                <a:latin typeface="Times New Roman" panose="02020603050405020304" pitchFamily="18" charset="0"/>
                <a:cs typeface="Times New Roman" panose="02020603050405020304" pitchFamily="18" charset="0"/>
              </a:rPr>
              <a:t>Sample: </a:t>
            </a:r>
            <a:r>
              <a:rPr lang="en-US" sz="2400" dirty="0">
                <a:solidFill>
                  <a:schemeClr val="bg1"/>
                </a:solidFill>
                <a:latin typeface="Times New Roman" panose="02020603050405020304" pitchFamily="18" charset="0"/>
                <a:cs typeface="Times New Roman" panose="02020603050405020304" pitchFamily="18" charset="0"/>
              </a:rPr>
              <a:t>A subset or small portion of data that is used to make inference about the whole data.</a:t>
            </a:r>
          </a:p>
          <a:p>
            <a:pPr marL="342900" indent="-342900">
              <a:buFont typeface="Arial" panose="020B0604020202020204" pitchFamily="34" charset="0"/>
              <a:buChar char="•"/>
            </a:pPr>
            <a:endParaRPr lang="en-US" sz="2400" b="1" dirty="0">
              <a:solidFill>
                <a:schemeClr val="bg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b="1" dirty="0">
                <a:solidFill>
                  <a:schemeClr val="bg1"/>
                </a:solidFill>
                <a:latin typeface="Times New Roman" panose="02020603050405020304" pitchFamily="18" charset="0"/>
                <a:cs typeface="Times New Roman" panose="02020603050405020304" pitchFamily="18" charset="0"/>
              </a:rPr>
              <a:t>Hypothesis Testing: </a:t>
            </a:r>
            <a:r>
              <a:rPr lang="en-US" sz="2400" dirty="0">
                <a:solidFill>
                  <a:schemeClr val="bg1"/>
                </a:solidFill>
                <a:latin typeface="Times New Roman" panose="02020603050405020304" pitchFamily="18" charset="0"/>
                <a:cs typeface="Times New Roman" panose="02020603050405020304" pitchFamily="18" charset="0"/>
              </a:rPr>
              <a:t>A statistical hypothesis is usually a statement about a set of parameters of a population distribution.</a:t>
            </a:r>
            <a:r>
              <a:rPr lang="en-US" dirty="0"/>
              <a:t> </a:t>
            </a:r>
            <a:r>
              <a:rPr lang="en-US" sz="2400" dirty="0">
                <a:solidFill>
                  <a:schemeClr val="bg1"/>
                </a:solidFill>
                <a:latin typeface="Times New Roman" panose="02020603050405020304" pitchFamily="18" charset="0"/>
                <a:cs typeface="Times New Roman" panose="02020603050405020304" pitchFamily="18" charset="0"/>
              </a:rPr>
              <a:t>The objective of a statistical test is not to explicitly determine whether or not H</a:t>
            </a:r>
            <a:r>
              <a:rPr lang="en-US" sz="1400" dirty="0">
                <a:solidFill>
                  <a:schemeClr val="bg1"/>
                </a:solidFill>
                <a:latin typeface="Times New Roman" panose="02020603050405020304" pitchFamily="18" charset="0"/>
                <a:cs typeface="Times New Roman" panose="02020603050405020304" pitchFamily="18" charset="0"/>
              </a:rPr>
              <a:t>0 </a:t>
            </a:r>
            <a:r>
              <a:rPr lang="en-US" sz="2400" dirty="0">
                <a:solidFill>
                  <a:schemeClr val="bg1"/>
                </a:solidFill>
                <a:latin typeface="Times New Roman" panose="02020603050405020304" pitchFamily="18" charset="0"/>
                <a:cs typeface="Times New Roman" panose="02020603050405020304" pitchFamily="18" charset="0"/>
              </a:rPr>
              <a:t>(Null Hypothesis) is true but rather to determine if its validity is consistent with the resultant data.</a:t>
            </a:r>
          </a:p>
          <a:p>
            <a:pPr marL="342900" indent="-342900">
              <a:buFont typeface="Arial" panose="020B0604020202020204" pitchFamily="34" charset="0"/>
              <a:buChar char="•"/>
            </a:pPr>
            <a:endParaRPr lang="en-US" sz="2400" b="1"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41161242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F-Test</a:t>
            </a:r>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4</a:t>
            </a:fld>
            <a:endParaRPr lang="en-US" noProof="0" dirty="0"/>
          </a:p>
        </p:txBody>
      </p:sp>
      <mc:AlternateContent xmlns:mc="http://schemas.openxmlformats.org/markup-compatibility/2006" xmlns:a14="http://schemas.microsoft.com/office/drawing/2010/main">
        <mc:Choice Requires="a14">
          <p:sp>
            <p:nvSpPr>
              <p:cNvPr id="4" name="Text Placeholder 3"/>
              <p:cNvSpPr>
                <a:spLocks noGrp="1"/>
              </p:cNvSpPr>
              <p:nvPr>
                <p:ph type="body" sz="quarter" idx="13"/>
              </p:nvPr>
            </p:nvSpPr>
            <p:spPr>
              <a:xfrm>
                <a:off x="444500" y="1625385"/>
                <a:ext cx="7943362" cy="4093243"/>
              </a:xfrm>
            </p:spPr>
            <p:txBody>
              <a:bodyPr/>
              <a:lstStyle/>
              <a:p>
                <a:r>
                  <a:rPr lang="en-US" sz="2400" dirty="0">
                    <a:latin typeface="Times New Roman" panose="02020603050405020304" pitchFamily="18" charset="0"/>
                    <a:cs typeface="Times New Roman" panose="02020603050405020304" pitchFamily="18" charset="0"/>
                  </a:rPr>
                  <a:t>F test uses  f test statistic to check whether the variances of two samples (or populations) are equal.</a:t>
                </a:r>
              </a:p>
              <a:p>
                <a:pPr marL="0" indent="0">
                  <a:buNone/>
                </a:pPr>
                <a:endParaRPr lang="en-US" sz="2400" dirty="0">
                  <a:latin typeface="Times New Roman" panose="02020603050405020304" pitchFamily="18" charset="0"/>
                  <a:cs typeface="Times New Roman" panose="02020603050405020304" pitchFamily="18" charset="0"/>
                </a:endParaRPr>
              </a:p>
              <a:p>
                <a:pPr fontAlgn="base"/>
                <a:r>
                  <a:rPr lang="en-US" sz="2400" b="1" dirty="0">
                    <a:latin typeface="Times New Roman" panose="02020603050405020304" pitchFamily="18" charset="0"/>
                    <a:cs typeface="Times New Roman" panose="02020603050405020304" pitchFamily="18" charset="0"/>
                  </a:rPr>
                  <a:t>Left Tailed Test:</a:t>
                </a:r>
                <a:endParaRPr lang="en-US" sz="2400" dirty="0">
                  <a:latin typeface="Times New Roman" panose="02020603050405020304" pitchFamily="18" charset="0"/>
                  <a:cs typeface="Times New Roman" panose="02020603050405020304" pitchFamily="18" charset="0"/>
                </a:endParaRPr>
              </a:p>
              <a:p>
                <a:pPr marL="0" indent="0" fontAlgn="base">
                  <a:buNone/>
                </a:pPr>
                <a:r>
                  <a:rPr lang="en-US" sz="2000" dirty="0">
                    <a:latin typeface="Times New Roman" panose="02020603050405020304" pitchFamily="18" charset="0"/>
                    <a:cs typeface="Times New Roman" panose="02020603050405020304" pitchFamily="18" charset="0"/>
                  </a:rPr>
                  <a:t>    Null Hypothesis: H</a:t>
                </a:r>
                <a:r>
                  <a:rPr lang="en-US" sz="1100" dirty="0">
                    <a:latin typeface="Times New Roman" panose="02020603050405020304" pitchFamily="18" charset="0"/>
                    <a:cs typeface="Times New Roman" panose="02020603050405020304" pitchFamily="18" charset="0"/>
                  </a:rPr>
                  <a:t>0</a:t>
                </a:r>
                <a:r>
                  <a:rPr lang="en-US" sz="2000" dirty="0">
                    <a:latin typeface="Times New Roman" panose="02020603050405020304" pitchFamily="18" charset="0"/>
                    <a:cs typeface="Times New Roman" panose="02020603050405020304" pitchFamily="18" charset="0"/>
                  </a:rPr>
                  <a:t> : </a:t>
                </a:r>
                <a14:m>
                  <m:oMath xmlns:m="http://schemas.openxmlformats.org/officeDocument/2006/math">
                    <m:sSup>
                      <m:sSupPr>
                        <m:ctrlPr>
                          <a:rPr lang="el-GR" sz="2000" i="1" dirty="0" smtClean="0">
                            <a:latin typeface="Cambria Math" panose="02040503050406030204" pitchFamily="18" charset="0"/>
                            <a:cs typeface="Times New Roman" panose="02020603050405020304" pitchFamily="18" charset="0"/>
                          </a:rPr>
                        </m:ctrlPr>
                      </m:sSupPr>
                      <m:e>
                        <m:r>
                          <m:rPr>
                            <m:nor/>
                          </m:rPr>
                          <a:rPr lang="el-GR" sz="2000" dirty="0">
                            <a:latin typeface="Times New Roman" panose="02020603050405020304" pitchFamily="18" charset="0"/>
                            <a:cs typeface="Times New Roman" panose="02020603050405020304" pitchFamily="18" charset="0"/>
                          </a:rPr>
                          <m:t>σ</m:t>
                        </m:r>
                        <m:r>
                          <m:rPr>
                            <m:nor/>
                          </m:rPr>
                          <a:rPr lang="en-US" sz="1200" dirty="0">
                            <a:latin typeface="Times New Roman" panose="02020603050405020304" pitchFamily="18" charset="0"/>
                            <a:cs typeface="Times New Roman" panose="02020603050405020304" pitchFamily="18" charset="0"/>
                          </a:rPr>
                          <m:t>1</m:t>
                        </m:r>
                      </m:e>
                      <m:sup>
                        <m:r>
                          <a:rPr lang="en-US" sz="2000" b="0" i="1" dirty="0" smtClean="0">
                            <a:latin typeface="Cambria Math" panose="02040503050406030204" pitchFamily="18" charset="0"/>
                            <a:cs typeface="Times New Roman" panose="02020603050405020304" pitchFamily="18" charset="0"/>
                          </a:rPr>
                          <m:t>2</m:t>
                        </m:r>
                      </m:sup>
                    </m:sSup>
                  </m:oMath>
                </a14:m>
                <a:r>
                  <a:rPr lang="el-GR" sz="2000" dirty="0">
                    <a:latin typeface="Times New Roman" panose="02020603050405020304" pitchFamily="18" charset="0"/>
                    <a:cs typeface="Times New Roman" panose="02020603050405020304" pitchFamily="18" charset="0"/>
                  </a:rPr>
                  <a:t>= </a:t>
                </a:r>
                <a14:m>
                  <m:oMath xmlns:m="http://schemas.openxmlformats.org/officeDocument/2006/math">
                    <m:sSup>
                      <m:sSupPr>
                        <m:ctrlPr>
                          <a:rPr lang="el-GR" sz="2000" i="1" dirty="0" smtClean="0">
                            <a:latin typeface="Cambria Math" panose="02040503050406030204" pitchFamily="18" charset="0"/>
                            <a:cs typeface="Times New Roman" panose="02020603050405020304" pitchFamily="18" charset="0"/>
                          </a:rPr>
                        </m:ctrlPr>
                      </m:sSupPr>
                      <m:e>
                        <m:r>
                          <m:rPr>
                            <m:nor/>
                          </m:rPr>
                          <a:rPr lang="el-GR" sz="2000" dirty="0">
                            <a:latin typeface="Times New Roman" panose="02020603050405020304" pitchFamily="18" charset="0"/>
                            <a:cs typeface="Times New Roman" panose="02020603050405020304" pitchFamily="18" charset="0"/>
                          </a:rPr>
                          <m:t>σ</m:t>
                        </m:r>
                        <m:r>
                          <m:rPr>
                            <m:nor/>
                          </m:rPr>
                          <a:rPr lang="en-US" sz="1200" dirty="0">
                            <a:latin typeface="Times New Roman" panose="02020603050405020304" pitchFamily="18" charset="0"/>
                            <a:cs typeface="Times New Roman" panose="02020603050405020304" pitchFamily="18" charset="0"/>
                          </a:rPr>
                          <m:t>2</m:t>
                        </m:r>
                        <m:r>
                          <m:rPr>
                            <m:nor/>
                          </m:rPr>
                          <a:rPr lang="el-GR" sz="2000" dirty="0">
                            <a:latin typeface="Times New Roman" panose="02020603050405020304" pitchFamily="18" charset="0"/>
                            <a:cs typeface="Times New Roman" panose="02020603050405020304" pitchFamily="18" charset="0"/>
                          </a:rPr>
                          <m:t> </m:t>
                        </m:r>
                      </m:e>
                      <m:sup>
                        <m:r>
                          <a:rPr lang="en-US" sz="2000" b="0" i="1" dirty="0" smtClean="0">
                            <a:latin typeface="Cambria Math" panose="02040503050406030204" pitchFamily="18" charset="0"/>
                            <a:cs typeface="Times New Roman" panose="02020603050405020304" pitchFamily="18" charset="0"/>
                          </a:rPr>
                          <m:t>2</m:t>
                        </m:r>
                      </m:sup>
                    </m:sSup>
                  </m:oMath>
                </a14:m>
                <a:endParaRPr lang="el-GR" sz="2000" dirty="0">
                  <a:latin typeface="Times New Roman" panose="02020603050405020304" pitchFamily="18" charset="0"/>
                  <a:cs typeface="Times New Roman" panose="02020603050405020304" pitchFamily="18" charset="0"/>
                </a:endParaRPr>
              </a:p>
              <a:p>
                <a:pPr marL="0" indent="0" fontAlgn="base">
                  <a:buNone/>
                </a:pPr>
                <a:r>
                  <a:rPr lang="en-US" sz="2000" dirty="0">
                    <a:latin typeface="Times New Roman" panose="02020603050405020304" pitchFamily="18" charset="0"/>
                    <a:cs typeface="Times New Roman" panose="02020603050405020304" pitchFamily="18" charset="0"/>
                  </a:rPr>
                  <a:t>    Alternate Hypothesis: H</a:t>
                </a:r>
                <a:r>
                  <a:rPr lang="en-US" sz="12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  </a:t>
                </a:r>
                <a14:m>
                  <m:oMath xmlns:m="http://schemas.openxmlformats.org/officeDocument/2006/math">
                    <m:sSup>
                      <m:sSupPr>
                        <m:ctrlPr>
                          <a:rPr lang="el-GR" sz="2000" i="1" dirty="0">
                            <a:latin typeface="Cambria Math" panose="02040503050406030204" pitchFamily="18" charset="0"/>
                            <a:cs typeface="Times New Roman" panose="02020603050405020304" pitchFamily="18" charset="0"/>
                          </a:rPr>
                        </m:ctrlPr>
                      </m:sSupPr>
                      <m:e>
                        <m:r>
                          <m:rPr>
                            <m:nor/>
                          </m:rPr>
                          <a:rPr lang="el-GR" sz="2000" dirty="0">
                            <a:latin typeface="Times New Roman" panose="02020603050405020304" pitchFamily="18" charset="0"/>
                            <a:cs typeface="Times New Roman" panose="02020603050405020304" pitchFamily="18" charset="0"/>
                          </a:rPr>
                          <m:t>σ</m:t>
                        </m:r>
                        <m:r>
                          <m:rPr>
                            <m:nor/>
                          </m:rPr>
                          <a:rPr lang="en-US" sz="1200" dirty="0">
                            <a:latin typeface="Times New Roman" panose="02020603050405020304" pitchFamily="18" charset="0"/>
                            <a:cs typeface="Times New Roman" panose="02020603050405020304" pitchFamily="18" charset="0"/>
                          </a:rPr>
                          <m:t>1</m:t>
                        </m:r>
                      </m:e>
                      <m:sup>
                        <m:r>
                          <a:rPr lang="en-US" sz="2000" i="1" dirty="0">
                            <a:latin typeface="Cambria Math" panose="02040503050406030204" pitchFamily="18" charset="0"/>
                            <a:cs typeface="Times New Roman" panose="02020603050405020304" pitchFamily="18" charset="0"/>
                          </a:rPr>
                          <m:t>2</m:t>
                        </m:r>
                      </m:sup>
                    </m:sSup>
                    <m:r>
                      <a:rPr lang="en-US" sz="2000" b="0" i="0" dirty="0" smtClean="0">
                        <a:latin typeface="Cambria Math" panose="02040503050406030204" pitchFamily="18" charset="0"/>
                        <a:cs typeface="Times New Roman" panose="02020603050405020304" pitchFamily="18" charset="0"/>
                      </a:rPr>
                      <m:t>&lt;</m:t>
                    </m:r>
                  </m:oMath>
                </a14:m>
                <a:r>
                  <a:rPr lang="el-GR" sz="2000" dirty="0">
                    <a:latin typeface="Times New Roman" panose="02020603050405020304" pitchFamily="18" charset="0"/>
                    <a:cs typeface="Times New Roman" panose="02020603050405020304" pitchFamily="18" charset="0"/>
                  </a:rPr>
                  <a:t> </a:t>
                </a:r>
                <a14:m>
                  <m:oMath xmlns:m="http://schemas.openxmlformats.org/officeDocument/2006/math">
                    <m:sSup>
                      <m:sSupPr>
                        <m:ctrlPr>
                          <a:rPr lang="el-GR" sz="2000" i="1" dirty="0">
                            <a:latin typeface="Cambria Math" panose="02040503050406030204" pitchFamily="18" charset="0"/>
                            <a:cs typeface="Times New Roman" panose="02020603050405020304" pitchFamily="18" charset="0"/>
                          </a:rPr>
                        </m:ctrlPr>
                      </m:sSupPr>
                      <m:e>
                        <m:r>
                          <m:rPr>
                            <m:nor/>
                          </m:rPr>
                          <a:rPr lang="el-GR" sz="2000" dirty="0">
                            <a:latin typeface="Times New Roman" panose="02020603050405020304" pitchFamily="18" charset="0"/>
                            <a:cs typeface="Times New Roman" panose="02020603050405020304" pitchFamily="18" charset="0"/>
                          </a:rPr>
                          <m:t>σ</m:t>
                        </m:r>
                        <m:r>
                          <m:rPr>
                            <m:nor/>
                          </m:rPr>
                          <a:rPr lang="en-US" sz="1200" dirty="0">
                            <a:latin typeface="Times New Roman" panose="02020603050405020304" pitchFamily="18" charset="0"/>
                            <a:cs typeface="Times New Roman" panose="02020603050405020304" pitchFamily="18" charset="0"/>
                          </a:rPr>
                          <m:t>2</m:t>
                        </m:r>
                        <m:r>
                          <m:rPr>
                            <m:nor/>
                          </m:rPr>
                          <a:rPr lang="el-GR" sz="2000" dirty="0">
                            <a:latin typeface="Times New Roman" panose="02020603050405020304" pitchFamily="18" charset="0"/>
                            <a:cs typeface="Times New Roman" panose="02020603050405020304" pitchFamily="18" charset="0"/>
                          </a:rPr>
                          <m:t> </m:t>
                        </m:r>
                      </m:e>
                      <m:sup>
                        <m:r>
                          <a:rPr lang="en-US" sz="2000" i="1" dirty="0">
                            <a:latin typeface="Cambria Math" panose="02040503050406030204" pitchFamily="18" charset="0"/>
                            <a:cs typeface="Times New Roman" panose="02020603050405020304" pitchFamily="18" charset="0"/>
                          </a:rPr>
                          <m:t>2</m:t>
                        </m:r>
                      </m:sup>
                    </m:sSup>
                  </m:oMath>
                </a14:m>
                <a:r>
                  <a:rPr lang="en-US" sz="2000" dirty="0">
                    <a:latin typeface="Times New Roman" panose="02020603050405020304" pitchFamily="18" charset="0"/>
                    <a:cs typeface="Times New Roman" panose="02020603050405020304" pitchFamily="18" charset="0"/>
                  </a:rPr>
                  <a:t>    </a:t>
                </a:r>
              </a:p>
              <a:p>
                <a:pPr marL="0" indent="0" fontAlgn="base">
                  <a:buNone/>
                </a:pPr>
                <a:r>
                  <a:rPr lang="en-US" sz="2000" dirty="0">
                    <a:latin typeface="Times New Roman" panose="02020603050405020304" pitchFamily="18" charset="0"/>
                    <a:cs typeface="Times New Roman" panose="02020603050405020304" pitchFamily="18" charset="0"/>
                  </a:rPr>
                  <a:t>    If the f statistic &lt; f critical value then reject the null  hypothesis</a:t>
                </a:r>
              </a:p>
              <a:p>
                <a:pPr marL="0" indent="0">
                  <a:buNone/>
                </a:pPr>
                <a:endParaRPr lang="en-US" sz="2400" dirty="0">
                  <a:latin typeface="Times New Roman" panose="02020603050405020304" pitchFamily="18" charset="0"/>
                  <a:cs typeface="Times New Roman" panose="02020603050405020304" pitchFamily="18" charset="0"/>
                </a:endParaRPr>
              </a:p>
            </p:txBody>
          </p:sp>
        </mc:Choice>
        <mc:Fallback xmlns="">
          <p:sp>
            <p:nvSpPr>
              <p:cNvPr id="4" name="Text Placeholder 3"/>
              <p:cNvSpPr>
                <a:spLocks noGrp="1" noRot="1" noChangeAspect="1" noMove="1" noResize="1" noEditPoints="1" noAdjustHandles="1" noChangeArrowheads="1" noChangeShapeType="1" noTextEdit="1"/>
              </p:cNvSpPr>
              <p:nvPr>
                <p:ph type="body" sz="quarter" idx="13"/>
              </p:nvPr>
            </p:nvSpPr>
            <p:spPr>
              <a:xfrm>
                <a:off x="444500" y="1625385"/>
                <a:ext cx="7943362" cy="4093243"/>
              </a:xfrm>
              <a:blipFill>
                <a:blip r:embed="rId2"/>
                <a:stretch>
                  <a:fillRect l="-1074" t="-1192"/>
                </a:stretch>
              </a:blipFill>
            </p:spPr>
            <p:txBody>
              <a:bodyPr/>
              <a:lstStyle/>
              <a:p>
                <a:r>
                  <a:rPr lang="en-US">
                    <a:noFill/>
                  </a:rPr>
                  <a:t> </a:t>
                </a:r>
              </a:p>
            </p:txBody>
          </p:sp>
        </mc:Fallback>
      </mc:AlternateContent>
    </p:spTree>
    <p:extLst>
      <p:ext uri="{BB962C8B-B14F-4D97-AF65-F5344CB8AC3E}">
        <p14:creationId xmlns:p14="http://schemas.microsoft.com/office/powerpoint/2010/main" val="2031029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263D6C4-4840-40CC-AC84-17E24B3B7BDE}" type="slidenum">
              <a:rPr lang="en-US" noProof="0" smtClean="0"/>
              <a:pPr/>
              <a:t>5</a:t>
            </a:fld>
            <a:endParaRPr lang="en-US" noProof="0" dirty="0"/>
          </a:p>
        </p:txBody>
      </p:sp>
      <mc:AlternateContent xmlns:mc="http://schemas.openxmlformats.org/markup-compatibility/2006" xmlns:a14="http://schemas.microsoft.com/office/drawing/2010/main">
        <mc:Choice Requires="a14">
          <p:sp>
            <p:nvSpPr>
              <p:cNvPr id="4" name="Text Placeholder 3"/>
              <p:cNvSpPr>
                <a:spLocks noGrp="1"/>
              </p:cNvSpPr>
              <p:nvPr>
                <p:ph type="body" sz="quarter" idx="13"/>
              </p:nvPr>
            </p:nvSpPr>
            <p:spPr>
              <a:xfrm>
                <a:off x="444500" y="764931"/>
                <a:ext cx="9736992" cy="4953697"/>
              </a:xfrm>
            </p:spPr>
            <p:txBody>
              <a:bodyPr/>
              <a:lstStyle/>
              <a:p>
                <a:pPr fontAlgn="base"/>
                <a:r>
                  <a:rPr lang="en-US" sz="2400" b="1" dirty="0">
                    <a:latin typeface="Times New Roman" panose="02020603050405020304" pitchFamily="18" charset="0"/>
                    <a:cs typeface="Times New Roman" panose="02020603050405020304" pitchFamily="18" charset="0"/>
                  </a:rPr>
                  <a:t>Right Tailed test</a:t>
                </a:r>
                <a:r>
                  <a:rPr lang="en-US" b="1" dirty="0"/>
                  <a:t>:</a:t>
                </a:r>
                <a:endParaRPr lang="en-US" dirty="0"/>
              </a:p>
              <a:p>
                <a:pPr marL="0" indent="0" fontAlgn="base">
                  <a:buNone/>
                </a:pPr>
                <a:r>
                  <a:rPr lang="en-US" sz="2000" dirty="0">
                    <a:latin typeface="Times New Roman" panose="02020603050405020304" pitchFamily="18" charset="0"/>
                    <a:cs typeface="Times New Roman" panose="02020603050405020304" pitchFamily="18" charset="0"/>
                  </a:rPr>
                  <a:t>Null Hypothesis: H</a:t>
                </a:r>
                <a:r>
                  <a:rPr lang="en-US" sz="1200" dirty="0">
                    <a:latin typeface="Times New Roman" panose="02020603050405020304" pitchFamily="18" charset="0"/>
                    <a:cs typeface="Times New Roman" panose="02020603050405020304" pitchFamily="18" charset="0"/>
                  </a:rPr>
                  <a:t>0</a:t>
                </a:r>
                <a:r>
                  <a:rPr lang="en-US" sz="2000" dirty="0">
                    <a:latin typeface="Times New Roman" panose="02020603050405020304" pitchFamily="18" charset="0"/>
                    <a:cs typeface="Times New Roman" panose="02020603050405020304" pitchFamily="18" charset="0"/>
                  </a:rPr>
                  <a:t> : </a:t>
                </a:r>
                <a14:m>
                  <m:oMath xmlns:m="http://schemas.openxmlformats.org/officeDocument/2006/math">
                    <m:sSup>
                      <m:sSupPr>
                        <m:ctrlPr>
                          <a:rPr lang="el-GR" sz="2000" i="1" dirty="0">
                            <a:latin typeface="Cambria Math" panose="02040503050406030204" pitchFamily="18" charset="0"/>
                            <a:cs typeface="Times New Roman" panose="02020603050405020304" pitchFamily="18" charset="0"/>
                          </a:rPr>
                        </m:ctrlPr>
                      </m:sSupPr>
                      <m:e>
                        <m:r>
                          <m:rPr>
                            <m:nor/>
                          </m:rPr>
                          <a:rPr lang="el-GR" sz="2000" dirty="0">
                            <a:latin typeface="Times New Roman" panose="02020603050405020304" pitchFamily="18" charset="0"/>
                            <a:cs typeface="Times New Roman" panose="02020603050405020304" pitchFamily="18" charset="0"/>
                          </a:rPr>
                          <m:t>σ</m:t>
                        </m:r>
                        <m:r>
                          <m:rPr>
                            <m:nor/>
                          </m:rPr>
                          <a:rPr lang="en-US" sz="1200" dirty="0">
                            <a:latin typeface="Times New Roman" panose="02020603050405020304" pitchFamily="18" charset="0"/>
                            <a:cs typeface="Times New Roman" panose="02020603050405020304" pitchFamily="18" charset="0"/>
                          </a:rPr>
                          <m:t>1</m:t>
                        </m:r>
                      </m:e>
                      <m:sup>
                        <m:r>
                          <a:rPr lang="en-US" sz="2000" i="1" dirty="0">
                            <a:latin typeface="Cambria Math" panose="02040503050406030204" pitchFamily="18" charset="0"/>
                            <a:cs typeface="Times New Roman" panose="02020603050405020304" pitchFamily="18" charset="0"/>
                          </a:rPr>
                          <m:t>2</m:t>
                        </m:r>
                      </m:sup>
                    </m:sSup>
                  </m:oMath>
                </a14:m>
                <a:r>
                  <a:rPr lang="el-GR" sz="2000" dirty="0">
                    <a:latin typeface="Times New Roman" panose="02020603050405020304" pitchFamily="18" charset="0"/>
                    <a:cs typeface="Times New Roman" panose="02020603050405020304" pitchFamily="18" charset="0"/>
                  </a:rPr>
                  <a:t>= </a:t>
                </a:r>
                <a14:m>
                  <m:oMath xmlns:m="http://schemas.openxmlformats.org/officeDocument/2006/math">
                    <m:sSup>
                      <m:sSupPr>
                        <m:ctrlPr>
                          <a:rPr lang="el-GR" sz="2000" i="1" dirty="0">
                            <a:latin typeface="Cambria Math" panose="02040503050406030204" pitchFamily="18" charset="0"/>
                            <a:cs typeface="Times New Roman" panose="02020603050405020304" pitchFamily="18" charset="0"/>
                          </a:rPr>
                        </m:ctrlPr>
                      </m:sSupPr>
                      <m:e>
                        <m:r>
                          <m:rPr>
                            <m:nor/>
                          </m:rPr>
                          <a:rPr lang="el-GR" sz="2000" dirty="0">
                            <a:latin typeface="Times New Roman" panose="02020603050405020304" pitchFamily="18" charset="0"/>
                            <a:cs typeface="Times New Roman" panose="02020603050405020304" pitchFamily="18" charset="0"/>
                          </a:rPr>
                          <m:t>σ</m:t>
                        </m:r>
                        <m:r>
                          <m:rPr>
                            <m:nor/>
                          </m:rPr>
                          <a:rPr lang="en-US" sz="1200" dirty="0">
                            <a:latin typeface="Times New Roman" panose="02020603050405020304" pitchFamily="18" charset="0"/>
                            <a:cs typeface="Times New Roman" panose="02020603050405020304" pitchFamily="18" charset="0"/>
                          </a:rPr>
                          <m:t>2</m:t>
                        </m:r>
                        <m:r>
                          <m:rPr>
                            <m:nor/>
                          </m:rPr>
                          <a:rPr lang="el-GR" sz="2000" dirty="0">
                            <a:latin typeface="Times New Roman" panose="02020603050405020304" pitchFamily="18" charset="0"/>
                            <a:cs typeface="Times New Roman" panose="02020603050405020304" pitchFamily="18" charset="0"/>
                          </a:rPr>
                          <m:t> </m:t>
                        </m:r>
                      </m:e>
                      <m:sup>
                        <m:r>
                          <a:rPr lang="en-US" sz="2000" i="1" dirty="0">
                            <a:latin typeface="Cambria Math" panose="02040503050406030204" pitchFamily="18" charset="0"/>
                            <a:cs typeface="Times New Roman" panose="02020603050405020304" pitchFamily="18" charset="0"/>
                          </a:rPr>
                          <m:t>2</m:t>
                        </m:r>
                      </m:sup>
                    </m:sSup>
                  </m:oMath>
                </a14:m>
                <a:endParaRPr lang="el-GR" sz="2000" dirty="0">
                  <a:latin typeface="Times New Roman" panose="02020603050405020304" pitchFamily="18" charset="0"/>
                  <a:cs typeface="Times New Roman" panose="02020603050405020304" pitchFamily="18" charset="0"/>
                </a:endParaRPr>
              </a:p>
              <a:p>
                <a:pPr marL="0" indent="0" fontAlgn="base">
                  <a:buNone/>
                </a:pPr>
                <a:r>
                  <a:rPr lang="en-US" sz="2000" dirty="0">
                    <a:latin typeface="Times New Roman" panose="02020603050405020304" pitchFamily="18" charset="0"/>
                    <a:cs typeface="Times New Roman" panose="02020603050405020304" pitchFamily="18" charset="0"/>
                  </a:rPr>
                  <a:t>Alternate Hypothesis: H1 :  </a:t>
                </a:r>
                <a14:m>
                  <m:oMath xmlns:m="http://schemas.openxmlformats.org/officeDocument/2006/math">
                    <m:sSup>
                      <m:sSupPr>
                        <m:ctrlPr>
                          <a:rPr lang="el-GR" sz="2000" i="1" dirty="0">
                            <a:latin typeface="Cambria Math" panose="02040503050406030204" pitchFamily="18" charset="0"/>
                            <a:cs typeface="Times New Roman" panose="02020603050405020304" pitchFamily="18" charset="0"/>
                          </a:rPr>
                        </m:ctrlPr>
                      </m:sSupPr>
                      <m:e>
                        <m:r>
                          <m:rPr>
                            <m:nor/>
                          </m:rPr>
                          <a:rPr lang="el-GR" sz="2000" dirty="0">
                            <a:latin typeface="Times New Roman" panose="02020603050405020304" pitchFamily="18" charset="0"/>
                            <a:cs typeface="Times New Roman" panose="02020603050405020304" pitchFamily="18" charset="0"/>
                          </a:rPr>
                          <m:t>σ</m:t>
                        </m:r>
                        <m:r>
                          <m:rPr>
                            <m:nor/>
                          </m:rPr>
                          <a:rPr lang="en-US" sz="1200" dirty="0">
                            <a:latin typeface="Times New Roman" panose="02020603050405020304" pitchFamily="18" charset="0"/>
                            <a:cs typeface="Times New Roman" panose="02020603050405020304" pitchFamily="18" charset="0"/>
                          </a:rPr>
                          <m:t>1</m:t>
                        </m:r>
                      </m:e>
                      <m:sup>
                        <m:r>
                          <a:rPr lang="en-US" sz="2000" i="1" dirty="0">
                            <a:latin typeface="Cambria Math" panose="02040503050406030204" pitchFamily="18" charset="0"/>
                            <a:cs typeface="Times New Roman" panose="02020603050405020304" pitchFamily="18" charset="0"/>
                          </a:rPr>
                          <m:t>2</m:t>
                        </m:r>
                      </m:sup>
                    </m:sSup>
                    <m:r>
                      <a:rPr lang="en-US" sz="2000" b="0" i="0" dirty="0" smtClean="0">
                        <a:latin typeface="Cambria Math" panose="02040503050406030204" pitchFamily="18" charset="0"/>
                        <a:cs typeface="Times New Roman" panose="02020603050405020304" pitchFamily="18" charset="0"/>
                      </a:rPr>
                      <m:t>&gt;</m:t>
                    </m:r>
                  </m:oMath>
                </a14:m>
                <a:r>
                  <a:rPr lang="el-GR" sz="2000" dirty="0">
                    <a:latin typeface="Times New Roman" panose="02020603050405020304" pitchFamily="18" charset="0"/>
                    <a:cs typeface="Times New Roman" panose="02020603050405020304" pitchFamily="18" charset="0"/>
                  </a:rPr>
                  <a:t> </a:t>
                </a:r>
                <a14:m>
                  <m:oMath xmlns:m="http://schemas.openxmlformats.org/officeDocument/2006/math">
                    <m:sSup>
                      <m:sSupPr>
                        <m:ctrlPr>
                          <a:rPr lang="el-GR" sz="2000" i="1" dirty="0">
                            <a:latin typeface="Cambria Math" panose="02040503050406030204" pitchFamily="18" charset="0"/>
                            <a:cs typeface="Times New Roman" panose="02020603050405020304" pitchFamily="18" charset="0"/>
                          </a:rPr>
                        </m:ctrlPr>
                      </m:sSupPr>
                      <m:e>
                        <m:r>
                          <m:rPr>
                            <m:nor/>
                          </m:rPr>
                          <a:rPr lang="el-GR" sz="2000" dirty="0">
                            <a:latin typeface="Times New Roman" panose="02020603050405020304" pitchFamily="18" charset="0"/>
                            <a:cs typeface="Times New Roman" panose="02020603050405020304" pitchFamily="18" charset="0"/>
                          </a:rPr>
                          <m:t>σ</m:t>
                        </m:r>
                        <m:r>
                          <m:rPr>
                            <m:nor/>
                          </m:rPr>
                          <a:rPr lang="en-US" sz="1200" dirty="0">
                            <a:latin typeface="Times New Roman" panose="02020603050405020304" pitchFamily="18" charset="0"/>
                            <a:cs typeface="Times New Roman" panose="02020603050405020304" pitchFamily="18" charset="0"/>
                          </a:rPr>
                          <m:t>2</m:t>
                        </m:r>
                        <m:r>
                          <m:rPr>
                            <m:nor/>
                          </m:rPr>
                          <a:rPr lang="el-GR" sz="2000" dirty="0">
                            <a:latin typeface="Times New Roman" panose="02020603050405020304" pitchFamily="18" charset="0"/>
                            <a:cs typeface="Times New Roman" panose="02020603050405020304" pitchFamily="18" charset="0"/>
                          </a:rPr>
                          <m:t> </m:t>
                        </m:r>
                      </m:e>
                      <m:sup>
                        <m:r>
                          <a:rPr lang="en-US" sz="2000" i="1" dirty="0">
                            <a:latin typeface="Cambria Math" panose="02040503050406030204" pitchFamily="18" charset="0"/>
                            <a:cs typeface="Times New Roman" panose="02020603050405020304" pitchFamily="18" charset="0"/>
                          </a:rPr>
                          <m:t>2</m:t>
                        </m:r>
                      </m:sup>
                    </m:sSup>
                  </m:oMath>
                </a14:m>
                <a:r>
                  <a:rPr lang="en-US" sz="2000" dirty="0">
                    <a:latin typeface="Times New Roman" panose="02020603050405020304" pitchFamily="18" charset="0"/>
                    <a:cs typeface="Times New Roman" panose="02020603050405020304" pitchFamily="18" charset="0"/>
                  </a:rPr>
                  <a:t>    </a:t>
                </a:r>
              </a:p>
              <a:p>
                <a:pPr marL="0" indent="0" fontAlgn="base">
                  <a:buNone/>
                </a:pPr>
                <a:r>
                  <a:rPr lang="en-US" sz="2000" dirty="0">
                    <a:latin typeface="Times New Roman" panose="02020603050405020304" pitchFamily="18" charset="0"/>
                    <a:cs typeface="Times New Roman" panose="02020603050405020304" pitchFamily="18" charset="0"/>
                  </a:rPr>
                  <a:t> If the f statistic &lt; f critical value then reject the null  hypothesis</a:t>
                </a:r>
              </a:p>
              <a:p>
                <a:pPr marL="0" indent="0" fontAlgn="base">
                  <a:buNone/>
                </a:pPr>
                <a:endParaRPr lang="en-US" sz="2400" dirty="0">
                  <a:latin typeface="Times New Roman" panose="02020603050405020304" pitchFamily="18" charset="0"/>
                  <a:cs typeface="Times New Roman" panose="02020603050405020304" pitchFamily="18" charset="0"/>
                </a:endParaRPr>
              </a:p>
              <a:p>
                <a:pPr fontAlgn="base"/>
                <a:r>
                  <a:rPr lang="en-US" sz="2400" b="1" dirty="0">
                    <a:latin typeface="Times New Roman" panose="02020603050405020304" pitchFamily="18" charset="0"/>
                    <a:cs typeface="Times New Roman" panose="02020603050405020304" pitchFamily="18" charset="0"/>
                  </a:rPr>
                  <a:t>Two Tailed test:</a:t>
                </a:r>
                <a:endParaRPr lang="en-US" sz="2400" dirty="0">
                  <a:latin typeface="Times New Roman" panose="02020603050405020304" pitchFamily="18" charset="0"/>
                  <a:cs typeface="Times New Roman" panose="02020603050405020304" pitchFamily="18" charset="0"/>
                </a:endParaRPr>
              </a:p>
              <a:p>
                <a:pPr marL="0" indent="0" fontAlgn="base">
                  <a:buNone/>
                </a:pPr>
                <a:r>
                  <a:rPr lang="en-US" sz="2000" dirty="0">
                    <a:latin typeface="Times New Roman" panose="02020603050405020304" pitchFamily="18" charset="0"/>
                    <a:cs typeface="Times New Roman" panose="02020603050405020304" pitchFamily="18" charset="0"/>
                  </a:rPr>
                  <a:t>Null Hypothesis: H</a:t>
                </a:r>
                <a:r>
                  <a:rPr lang="en-US" sz="1200" dirty="0">
                    <a:latin typeface="Times New Roman" panose="02020603050405020304" pitchFamily="18" charset="0"/>
                    <a:cs typeface="Times New Roman" panose="02020603050405020304" pitchFamily="18" charset="0"/>
                  </a:rPr>
                  <a:t>0</a:t>
                </a:r>
                <a:r>
                  <a:rPr lang="en-US" sz="2000" dirty="0">
                    <a:latin typeface="Times New Roman" panose="02020603050405020304" pitchFamily="18" charset="0"/>
                    <a:cs typeface="Times New Roman" panose="02020603050405020304" pitchFamily="18" charset="0"/>
                  </a:rPr>
                  <a:t> : </a:t>
                </a:r>
                <a14:m>
                  <m:oMath xmlns:m="http://schemas.openxmlformats.org/officeDocument/2006/math">
                    <m:sSup>
                      <m:sSupPr>
                        <m:ctrlPr>
                          <a:rPr lang="el-GR" sz="2000" i="1" dirty="0">
                            <a:latin typeface="Cambria Math" panose="02040503050406030204" pitchFamily="18" charset="0"/>
                            <a:cs typeface="Times New Roman" panose="02020603050405020304" pitchFamily="18" charset="0"/>
                          </a:rPr>
                        </m:ctrlPr>
                      </m:sSupPr>
                      <m:e>
                        <m:r>
                          <m:rPr>
                            <m:nor/>
                          </m:rPr>
                          <a:rPr lang="el-GR" sz="2000" dirty="0">
                            <a:latin typeface="Times New Roman" panose="02020603050405020304" pitchFamily="18" charset="0"/>
                            <a:cs typeface="Times New Roman" panose="02020603050405020304" pitchFamily="18" charset="0"/>
                          </a:rPr>
                          <m:t>σ</m:t>
                        </m:r>
                        <m:r>
                          <m:rPr>
                            <m:nor/>
                          </m:rPr>
                          <a:rPr lang="en-US" sz="1200" dirty="0">
                            <a:latin typeface="Times New Roman" panose="02020603050405020304" pitchFamily="18" charset="0"/>
                            <a:cs typeface="Times New Roman" panose="02020603050405020304" pitchFamily="18" charset="0"/>
                          </a:rPr>
                          <m:t>1</m:t>
                        </m:r>
                      </m:e>
                      <m:sup>
                        <m:r>
                          <a:rPr lang="en-US" sz="2000" i="1" dirty="0">
                            <a:latin typeface="Cambria Math" panose="02040503050406030204" pitchFamily="18" charset="0"/>
                            <a:cs typeface="Times New Roman" panose="02020603050405020304" pitchFamily="18" charset="0"/>
                          </a:rPr>
                          <m:t>2</m:t>
                        </m:r>
                      </m:sup>
                    </m:sSup>
                  </m:oMath>
                </a14:m>
                <a:r>
                  <a:rPr lang="el-GR" sz="2000" dirty="0">
                    <a:latin typeface="Times New Roman" panose="02020603050405020304" pitchFamily="18" charset="0"/>
                    <a:cs typeface="Times New Roman" panose="02020603050405020304" pitchFamily="18" charset="0"/>
                  </a:rPr>
                  <a:t>= </a:t>
                </a:r>
                <a14:m>
                  <m:oMath xmlns:m="http://schemas.openxmlformats.org/officeDocument/2006/math">
                    <m:sSup>
                      <m:sSupPr>
                        <m:ctrlPr>
                          <a:rPr lang="el-GR" sz="2000" i="1" dirty="0">
                            <a:latin typeface="Cambria Math" panose="02040503050406030204" pitchFamily="18" charset="0"/>
                            <a:cs typeface="Times New Roman" panose="02020603050405020304" pitchFamily="18" charset="0"/>
                          </a:rPr>
                        </m:ctrlPr>
                      </m:sSupPr>
                      <m:e>
                        <m:r>
                          <m:rPr>
                            <m:nor/>
                          </m:rPr>
                          <a:rPr lang="el-GR" sz="2000" dirty="0">
                            <a:latin typeface="Times New Roman" panose="02020603050405020304" pitchFamily="18" charset="0"/>
                            <a:cs typeface="Times New Roman" panose="02020603050405020304" pitchFamily="18" charset="0"/>
                          </a:rPr>
                          <m:t>σ</m:t>
                        </m:r>
                        <m:r>
                          <m:rPr>
                            <m:nor/>
                          </m:rPr>
                          <a:rPr lang="en-US" sz="1200" dirty="0">
                            <a:latin typeface="Times New Roman" panose="02020603050405020304" pitchFamily="18" charset="0"/>
                            <a:cs typeface="Times New Roman" panose="02020603050405020304" pitchFamily="18" charset="0"/>
                          </a:rPr>
                          <m:t>2</m:t>
                        </m:r>
                        <m:r>
                          <m:rPr>
                            <m:nor/>
                          </m:rPr>
                          <a:rPr lang="el-GR" sz="2000" dirty="0">
                            <a:latin typeface="Times New Roman" panose="02020603050405020304" pitchFamily="18" charset="0"/>
                            <a:cs typeface="Times New Roman" panose="02020603050405020304" pitchFamily="18" charset="0"/>
                          </a:rPr>
                          <m:t> </m:t>
                        </m:r>
                      </m:e>
                      <m:sup>
                        <m:r>
                          <a:rPr lang="en-US" sz="2000" i="1" dirty="0">
                            <a:latin typeface="Cambria Math" panose="02040503050406030204" pitchFamily="18" charset="0"/>
                            <a:cs typeface="Times New Roman" panose="02020603050405020304" pitchFamily="18" charset="0"/>
                          </a:rPr>
                          <m:t>2</m:t>
                        </m:r>
                      </m:sup>
                    </m:sSup>
                  </m:oMath>
                </a14:m>
                <a:endParaRPr lang="el-GR" sz="2000" dirty="0">
                  <a:latin typeface="Times New Roman" panose="02020603050405020304" pitchFamily="18" charset="0"/>
                  <a:cs typeface="Times New Roman" panose="02020603050405020304" pitchFamily="18" charset="0"/>
                </a:endParaRPr>
              </a:p>
              <a:p>
                <a:pPr marL="0" indent="0" fontAlgn="base">
                  <a:buNone/>
                </a:pPr>
                <a:r>
                  <a:rPr lang="en-US" sz="2000" dirty="0">
                    <a:latin typeface="Times New Roman" panose="02020603050405020304" pitchFamily="18" charset="0"/>
                    <a:cs typeface="Times New Roman" panose="02020603050405020304" pitchFamily="18" charset="0"/>
                  </a:rPr>
                  <a:t>Alternate Hypothesis: H</a:t>
                </a:r>
                <a:r>
                  <a:rPr lang="en-US" sz="12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  </a:t>
                </a:r>
                <a14:m>
                  <m:oMath xmlns:m="http://schemas.openxmlformats.org/officeDocument/2006/math">
                    <m:sSup>
                      <m:sSupPr>
                        <m:ctrlPr>
                          <a:rPr lang="el-GR" sz="2000" i="1" dirty="0">
                            <a:latin typeface="Cambria Math" panose="02040503050406030204" pitchFamily="18" charset="0"/>
                            <a:cs typeface="Times New Roman" panose="02020603050405020304" pitchFamily="18" charset="0"/>
                          </a:rPr>
                        </m:ctrlPr>
                      </m:sSupPr>
                      <m:e>
                        <m:r>
                          <m:rPr>
                            <m:nor/>
                          </m:rPr>
                          <a:rPr lang="el-GR" sz="2000" dirty="0">
                            <a:latin typeface="Times New Roman" panose="02020603050405020304" pitchFamily="18" charset="0"/>
                            <a:cs typeface="Times New Roman" panose="02020603050405020304" pitchFamily="18" charset="0"/>
                          </a:rPr>
                          <m:t>σ</m:t>
                        </m:r>
                        <m:r>
                          <m:rPr>
                            <m:nor/>
                          </m:rPr>
                          <a:rPr lang="en-US" sz="1200" dirty="0">
                            <a:latin typeface="Times New Roman" panose="02020603050405020304" pitchFamily="18" charset="0"/>
                            <a:cs typeface="Times New Roman" panose="02020603050405020304" pitchFamily="18" charset="0"/>
                          </a:rPr>
                          <m:t>1</m:t>
                        </m:r>
                      </m:e>
                      <m:sup>
                        <m:r>
                          <a:rPr lang="en-US" sz="2000" i="1" dirty="0">
                            <a:latin typeface="Cambria Math" panose="02040503050406030204" pitchFamily="18" charset="0"/>
                            <a:cs typeface="Times New Roman" panose="02020603050405020304" pitchFamily="18" charset="0"/>
                          </a:rPr>
                          <m:t>2</m:t>
                        </m:r>
                      </m:sup>
                    </m:sSup>
                  </m:oMath>
                </a14:m>
                <a:r>
                  <a:rPr lang="el-GR" sz="2000" dirty="0">
                    <a:latin typeface="Times New Roman" panose="02020603050405020304" pitchFamily="18" charset="0"/>
                    <a:cs typeface="Times New Roman" panose="02020603050405020304" pitchFamily="18" charset="0"/>
                  </a:rPr>
                  <a:t>≠</a:t>
                </a:r>
                <a14:m>
                  <m:oMath xmlns:m="http://schemas.openxmlformats.org/officeDocument/2006/math">
                    <m:sSup>
                      <m:sSupPr>
                        <m:ctrlPr>
                          <a:rPr lang="el-GR" sz="2000" i="1" dirty="0">
                            <a:latin typeface="Cambria Math" panose="02040503050406030204" pitchFamily="18" charset="0"/>
                            <a:cs typeface="Times New Roman" panose="02020603050405020304" pitchFamily="18" charset="0"/>
                          </a:rPr>
                        </m:ctrlPr>
                      </m:sSupPr>
                      <m:e>
                        <m:r>
                          <m:rPr>
                            <m:nor/>
                          </m:rPr>
                          <a:rPr lang="el-GR" sz="2000" dirty="0">
                            <a:latin typeface="Times New Roman" panose="02020603050405020304" pitchFamily="18" charset="0"/>
                            <a:cs typeface="Times New Roman" panose="02020603050405020304" pitchFamily="18" charset="0"/>
                          </a:rPr>
                          <m:t>σ</m:t>
                        </m:r>
                        <m:r>
                          <m:rPr>
                            <m:nor/>
                          </m:rPr>
                          <a:rPr lang="en-US" sz="1200" dirty="0">
                            <a:latin typeface="Times New Roman" panose="02020603050405020304" pitchFamily="18" charset="0"/>
                            <a:cs typeface="Times New Roman" panose="02020603050405020304" pitchFamily="18" charset="0"/>
                          </a:rPr>
                          <m:t>2</m:t>
                        </m:r>
                        <m:r>
                          <m:rPr>
                            <m:nor/>
                          </m:rPr>
                          <a:rPr lang="el-GR" sz="2000" dirty="0">
                            <a:latin typeface="Times New Roman" panose="02020603050405020304" pitchFamily="18" charset="0"/>
                            <a:cs typeface="Times New Roman" panose="02020603050405020304" pitchFamily="18" charset="0"/>
                          </a:rPr>
                          <m:t> </m:t>
                        </m:r>
                      </m:e>
                      <m:sup>
                        <m:r>
                          <a:rPr lang="en-US" sz="2000" i="1" dirty="0">
                            <a:latin typeface="Cambria Math" panose="02040503050406030204" pitchFamily="18" charset="0"/>
                            <a:cs typeface="Times New Roman" panose="02020603050405020304" pitchFamily="18" charset="0"/>
                          </a:rPr>
                          <m:t>2</m:t>
                        </m:r>
                      </m:sup>
                    </m:sSup>
                  </m:oMath>
                </a14:m>
                <a:endParaRPr lang="en-US" sz="2000" dirty="0">
                  <a:latin typeface="Times New Roman" panose="02020603050405020304" pitchFamily="18" charset="0"/>
                  <a:cs typeface="Times New Roman" panose="02020603050405020304" pitchFamily="18" charset="0"/>
                </a:endParaRPr>
              </a:p>
              <a:p>
                <a:pPr marL="0" indent="0" fontAlgn="base">
                  <a:buNone/>
                </a:pPr>
                <a:r>
                  <a:rPr lang="en-US" sz="2000" dirty="0">
                    <a:latin typeface="Times New Roman" panose="02020603050405020304" pitchFamily="18" charset="0"/>
                    <a:cs typeface="Times New Roman" panose="02020603050405020304" pitchFamily="18" charset="0"/>
                  </a:rPr>
                  <a:t>If the f statistic &lt; f critical value then reject the null  hypothesis</a:t>
                </a:r>
              </a:p>
              <a:p>
                <a:endParaRPr lang="en-US" sz="2400" dirty="0">
                  <a:latin typeface="Times New Roman" panose="02020603050405020304" pitchFamily="18" charset="0"/>
                  <a:cs typeface="Times New Roman" panose="02020603050405020304" pitchFamily="18" charset="0"/>
                </a:endParaRPr>
              </a:p>
            </p:txBody>
          </p:sp>
        </mc:Choice>
        <mc:Fallback xmlns="">
          <p:sp>
            <p:nvSpPr>
              <p:cNvPr id="4" name="Text Placeholder 3"/>
              <p:cNvSpPr>
                <a:spLocks noGrp="1" noRot="1" noChangeAspect="1" noMove="1" noResize="1" noEditPoints="1" noAdjustHandles="1" noChangeArrowheads="1" noChangeShapeType="1" noTextEdit="1"/>
              </p:cNvSpPr>
              <p:nvPr>
                <p:ph type="body" sz="quarter" idx="13"/>
              </p:nvPr>
            </p:nvSpPr>
            <p:spPr>
              <a:xfrm>
                <a:off x="444500" y="764931"/>
                <a:ext cx="9736992" cy="4953697"/>
              </a:xfrm>
              <a:blipFill>
                <a:blip r:embed="rId2"/>
                <a:stretch>
                  <a:fillRect l="-877" t="-984"/>
                </a:stretch>
              </a:blipFill>
            </p:spPr>
            <p:txBody>
              <a:bodyPr/>
              <a:lstStyle/>
              <a:p>
                <a:r>
                  <a:rPr lang="en-US">
                    <a:noFill/>
                  </a:rPr>
                  <a:t> </a:t>
                </a:r>
              </a:p>
            </p:txBody>
          </p:sp>
        </mc:Fallback>
      </mc:AlternateContent>
    </p:spTree>
    <p:extLst>
      <p:ext uri="{BB962C8B-B14F-4D97-AF65-F5344CB8AC3E}">
        <p14:creationId xmlns:p14="http://schemas.microsoft.com/office/powerpoint/2010/main" val="3152582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ANOVA</a:t>
            </a:r>
          </a:p>
        </p:txBody>
      </p:sp>
      <p:sp>
        <p:nvSpPr>
          <p:cNvPr id="10" name="Text Placeholder 9">
            <a:extLst>
              <a:ext uri="{FF2B5EF4-FFF2-40B4-BE49-F238E27FC236}">
                <a16:creationId xmlns:a16="http://schemas.microsoft.com/office/drawing/2014/main" id="{EF2BC084-E6DB-4DE7-B309-042A85EBA700}"/>
              </a:ext>
            </a:extLst>
          </p:cNvPr>
          <p:cNvSpPr>
            <a:spLocks noGrp="1"/>
          </p:cNvSpPr>
          <p:nvPr>
            <p:ph type="body" sz="quarter" idx="13"/>
          </p:nvPr>
        </p:nvSpPr>
        <p:spPr/>
        <p:txBody>
          <a:bodyPr/>
          <a:lstStyle/>
          <a:p>
            <a:r>
              <a:rPr lang="en-US" sz="2400" dirty="0">
                <a:latin typeface="Times New Roman" panose="02020603050405020304" pitchFamily="18" charset="0"/>
                <a:cs typeface="Times New Roman" panose="02020603050405020304" pitchFamily="18" charset="0"/>
              </a:rPr>
              <a:t>Analysis of Variance (ANOVA).</a:t>
            </a:r>
          </a:p>
          <a:p>
            <a:r>
              <a:rPr lang="en-US" sz="2400" dirty="0">
                <a:latin typeface="Times New Roman" panose="02020603050405020304" pitchFamily="18" charset="0"/>
                <a:cs typeface="Times New Roman" panose="02020603050405020304" pitchFamily="18" charset="0"/>
              </a:rPr>
              <a:t>Use when we need to find the significant difference between two or means at the same time.</a:t>
            </a:r>
          </a:p>
          <a:p>
            <a:r>
              <a:rPr lang="en-IN" sz="2400" dirty="0">
                <a:latin typeface="Times New Roman" panose="02020603050405020304" pitchFamily="18" charset="0"/>
                <a:ea typeface="Calibri" panose="020F0502020204030204" pitchFamily="34" charset="0"/>
                <a:cs typeface="Times New Roman" panose="02020603050405020304" pitchFamily="18" charset="0"/>
              </a:rPr>
              <a:t>To check if an independent variable have an effect on the dependent variable.</a:t>
            </a:r>
            <a:endParaRPr lang="en-IN" sz="2400" dirty="0">
              <a:latin typeface="Calibri" panose="020F0502020204030204" pitchFamily="34" charset="0"/>
              <a:ea typeface="Calibri" panose="020F0502020204030204" pitchFamily="34"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Example: To check the effect of different types of fertilizers in the growth of plant.</a:t>
            </a: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6</a:t>
            </a:fld>
            <a:endParaRPr lang="en-US" dirty="0"/>
          </a:p>
        </p:txBody>
      </p:sp>
    </p:spTree>
    <p:extLst>
      <p:ext uri="{BB962C8B-B14F-4D97-AF65-F5344CB8AC3E}">
        <p14:creationId xmlns:p14="http://schemas.microsoft.com/office/powerpoint/2010/main" val="373348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263D6C4-4840-40CC-AC84-17E24B3B7BDE}" type="slidenum">
              <a:rPr lang="en-US" noProof="0" smtClean="0"/>
              <a:pPr/>
              <a:t>7</a:t>
            </a:fld>
            <a:endParaRPr lang="en-US" noProof="0" dirty="0"/>
          </a:p>
        </p:txBody>
      </p:sp>
      <p:sp>
        <p:nvSpPr>
          <p:cNvPr id="4" name="Text Placeholder 3"/>
          <p:cNvSpPr>
            <a:spLocks noGrp="1"/>
          </p:cNvSpPr>
          <p:nvPr>
            <p:ph type="body" sz="quarter" idx="13"/>
          </p:nvPr>
        </p:nvSpPr>
        <p:spPr>
          <a:xfrm>
            <a:off x="690685" y="1433147"/>
            <a:ext cx="6718300" cy="3701562"/>
          </a:xfrm>
        </p:spPr>
        <p:txBody>
          <a:bodyPr/>
          <a:lstStyle/>
          <a:p>
            <a:r>
              <a:rPr lang="en-US" sz="2400" dirty="0">
                <a:latin typeface="Times New Roman" panose="02020603050405020304" pitchFamily="18" charset="0"/>
                <a:cs typeface="Times New Roman" panose="02020603050405020304" pitchFamily="18" charset="0"/>
              </a:rPr>
              <a:t>Null Hypothesis (H</a:t>
            </a:r>
            <a:r>
              <a:rPr lang="en-US" sz="1400" dirty="0">
                <a:latin typeface="Times New Roman" panose="02020603050405020304" pitchFamily="18" charset="0"/>
                <a:cs typeface="Times New Roman" panose="02020603050405020304" pitchFamily="18" charset="0"/>
              </a:rPr>
              <a:t>0</a:t>
            </a: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                 All means are equal,</a:t>
            </a:r>
          </a:p>
          <a:p>
            <a:pPr marL="0" indent="0">
              <a:buNone/>
            </a:pPr>
            <a:r>
              <a:rPr lang="en-US" sz="2400" dirty="0">
                <a:latin typeface="Times New Roman" panose="02020603050405020304" pitchFamily="18" charset="0"/>
                <a:cs typeface="Times New Roman" panose="02020603050405020304" pitchFamily="18" charset="0"/>
              </a:rPr>
              <a:t>                          H</a:t>
            </a:r>
            <a:r>
              <a:rPr lang="en-US" sz="1400" dirty="0">
                <a:latin typeface="Times New Roman" panose="02020603050405020304" pitchFamily="18" charset="0"/>
                <a:cs typeface="Times New Roman" panose="02020603050405020304" pitchFamily="18" charset="0"/>
              </a:rPr>
              <a:t>0</a:t>
            </a:r>
            <a:r>
              <a:rPr lang="en-US" sz="2400" dirty="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µ</a:t>
            </a:r>
            <a:r>
              <a:rPr lang="en-US" sz="1100" dirty="0">
                <a:latin typeface="Times New Roman" panose="02020603050405020304" pitchFamily="18" charset="0"/>
                <a:cs typeface="Times New Roman" panose="02020603050405020304" pitchFamily="18" charset="0"/>
              </a:rPr>
              <a:t>0</a:t>
            </a:r>
            <a:r>
              <a:rPr lang="en-US" sz="2400" dirty="0">
                <a:latin typeface="Times New Roman" panose="02020603050405020304" pitchFamily="18" charset="0"/>
                <a:cs typeface="Times New Roman" panose="02020603050405020304" pitchFamily="18" charset="0"/>
              </a:rPr>
              <a:t>=</a:t>
            </a:r>
            <a:r>
              <a:rPr lang="en-US" sz="3200" dirty="0">
                <a:latin typeface="Times New Roman" panose="02020603050405020304" pitchFamily="18" charset="0"/>
                <a:cs typeface="Times New Roman" panose="02020603050405020304" pitchFamily="18" charset="0"/>
              </a:rPr>
              <a:t>µ</a:t>
            </a:r>
            <a:r>
              <a:rPr lang="en-US" sz="1100"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a:t>
            </a:r>
            <a:r>
              <a:rPr lang="en-US" sz="3200" dirty="0">
                <a:latin typeface="Times New Roman" panose="02020603050405020304" pitchFamily="18" charset="0"/>
                <a:cs typeface="Times New Roman" panose="02020603050405020304" pitchFamily="18" charset="0"/>
              </a:rPr>
              <a:t>µ</a:t>
            </a:r>
            <a:r>
              <a:rPr lang="en-US" sz="14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µ</a:t>
            </a:r>
            <a:r>
              <a:rPr lang="en-US" sz="1400" dirty="0">
                <a:latin typeface="Times New Roman" panose="02020603050405020304" pitchFamily="18" charset="0"/>
                <a:cs typeface="Times New Roman" panose="02020603050405020304" pitchFamily="18" charset="0"/>
              </a:rPr>
              <a:t>n</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Alternate Hypothesis(H</a:t>
            </a:r>
            <a:r>
              <a:rPr lang="en-US" sz="1400"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rPr>
              <a:t>                 Not all means are equal.      </a:t>
            </a:r>
          </a:p>
        </p:txBody>
      </p:sp>
    </p:spTree>
    <p:extLst>
      <p:ext uri="{BB962C8B-B14F-4D97-AF65-F5344CB8AC3E}">
        <p14:creationId xmlns:p14="http://schemas.microsoft.com/office/powerpoint/2010/main" val="36966495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5177" y="1694717"/>
            <a:ext cx="11214100" cy="535531"/>
          </a:xfrm>
        </p:spPr>
        <p:txBody>
          <a:bodyPr/>
          <a:lstStyle/>
          <a:p>
            <a:r>
              <a:rPr lang="en-US" dirty="0">
                <a:latin typeface="Times New Roman" panose="02020603050405020304" pitchFamily="18" charset="0"/>
                <a:cs typeface="Times New Roman" panose="02020603050405020304" pitchFamily="18" charset="0"/>
              </a:rPr>
              <a:t>Variance</a:t>
            </a:r>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8</a:t>
            </a:fld>
            <a:endParaRPr lang="en-US" noProof="0" dirty="0"/>
          </a:p>
        </p:txBody>
      </p:sp>
      <mc:AlternateContent xmlns:mc="http://schemas.openxmlformats.org/markup-compatibility/2006" xmlns:a14="http://schemas.microsoft.com/office/drawing/2010/main">
        <mc:Choice Requires="a14">
          <p:sp>
            <p:nvSpPr>
              <p:cNvPr id="4" name="Text Placeholder 3"/>
              <p:cNvSpPr>
                <a:spLocks noGrp="1"/>
              </p:cNvSpPr>
              <p:nvPr>
                <p:ph type="body" sz="quarter" idx="13"/>
              </p:nvPr>
            </p:nvSpPr>
            <p:spPr/>
            <p:txBody>
              <a:bodyPr/>
              <a:lstStyle/>
              <a:p>
                <a:pPr marL="0" indent="0">
                  <a:buNone/>
                </a:pPr>
                <a:r>
                  <a:rPr lang="en-US" sz="2400" dirty="0">
                    <a:latin typeface="Times New Roman" panose="02020603050405020304" pitchFamily="18" charset="0"/>
                    <a:cs typeface="Times New Roman" panose="02020603050405020304" pitchFamily="18" charset="0"/>
                  </a:rPr>
                  <a:t>    </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                        </a:t>
                </a:r>
                <a14:m>
                  <m:oMath xmlns:m="http://schemas.openxmlformats.org/officeDocument/2006/math">
                    <m:sSup>
                      <m:sSupPr>
                        <m:ctrlPr>
                          <a:rPr lang="en-US" sz="3200" i="1" dirty="0" smtClean="0">
                            <a:latin typeface="Cambria Math" panose="02040503050406030204" pitchFamily="18" charset="0"/>
                            <a:cs typeface="Times New Roman" panose="02020603050405020304" pitchFamily="18" charset="0"/>
                          </a:rPr>
                        </m:ctrlPr>
                      </m:sSupPr>
                      <m:e>
                        <m:r>
                          <a:rPr lang="en-US" sz="3200" b="0" i="1" dirty="0" smtClean="0">
                            <a:latin typeface="Cambria Math" panose="02040503050406030204" pitchFamily="18" charset="0"/>
                            <a:cs typeface="Times New Roman" panose="02020603050405020304" pitchFamily="18" charset="0"/>
                          </a:rPr>
                          <m:t>𝑆</m:t>
                        </m:r>
                      </m:e>
                      <m:sup>
                        <m:r>
                          <a:rPr lang="en-US" sz="3200" b="0" i="1" dirty="0" smtClean="0">
                            <a:latin typeface="Cambria Math" panose="02040503050406030204" pitchFamily="18" charset="0"/>
                            <a:cs typeface="Times New Roman" panose="02020603050405020304" pitchFamily="18" charset="0"/>
                          </a:rPr>
                          <m:t>2</m:t>
                        </m:r>
                      </m:sup>
                    </m:sSup>
                    <m:r>
                      <a:rPr lang="en-US" sz="3200" i="1" dirty="0">
                        <a:latin typeface="Cambria Math" panose="02040503050406030204" pitchFamily="18" charset="0"/>
                        <a:cs typeface="Times New Roman" panose="02020603050405020304" pitchFamily="18" charset="0"/>
                      </a:rPr>
                      <m:t>=</m:t>
                    </m:r>
                    <m:f>
                      <m:fPr>
                        <m:ctrlPr>
                          <a:rPr lang="en-US" sz="3200" i="1" dirty="0">
                            <a:latin typeface="Cambria Math" panose="02040503050406030204" pitchFamily="18" charset="0"/>
                            <a:cs typeface="Times New Roman" panose="02020603050405020304" pitchFamily="18" charset="0"/>
                          </a:rPr>
                        </m:ctrlPr>
                      </m:fPr>
                      <m:num>
                        <m:nary>
                          <m:naryPr>
                            <m:chr m:val="∑"/>
                            <m:ctrlPr>
                              <a:rPr lang="en-US" sz="3200" i="1" dirty="0" smtClean="0">
                                <a:latin typeface="Cambria Math" panose="02040503050406030204" pitchFamily="18" charset="0"/>
                                <a:cs typeface="Times New Roman" panose="02020603050405020304" pitchFamily="18" charset="0"/>
                              </a:rPr>
                            </m:ctrlPr>
                          </m:naryPr>
                          <m:sub>
                            <m:r>
                              <m:rPr>
                                <m:brk m:alnAt="23"/>
                              </m:rPr>
                              <a:rPr lang="en-US" sz="3200" i="1" dirty="0">
                                <a:latin typeface="Cambria Math" panose="02040503050406030204" pitchFamily="18" charset="0"/>
                                <a:cs typeface="Times New Roman" panose="02020603050405020304" pitchFamily="18" charset="0"/>
                              </a:rPr>
                              <m:t>𝑖</m:t>
                            </m:r>
                            <m:r>
                              <a:rPr lang="en-US" sz="3200" i="1" dirty="0">
                                <a:latin typeface="Cambria Math" panose="02040503050406030204" pitchFamily="18" charset="0"/>
                                <a:cs typeface="Times New Roman" panose="02020603050405020304" pitchFamily="18" charset="0"/>
                              </a:rPr>
                              <m:t>=1</m:t>
                            </m:r>
                          </m:sub>
                          <m:sup>
                            <m:r>
                              <a:rPr lang="en-US" sz="3200" i="1" dirty="0">
                                <a:latin typeface="Cambria Math" panose="02040503050406030204" pitchFamily="18" charset="0"/>
                                <a:cs typeface="Times New Roman" panose="02020603050405020304" pitchFamily="18" charset="0"/>
                              </a:rPr>
                              <m:t>𝑛</m:t>
                            </m:r>
                          </m:sup>
                          <m:e>
                            <m:sSup>
                              <m:sSupPr>
                                <m:ctrlPr>
                                  <a:rPr lang="en-US" sz="3200" i="1" dirty="0" smtClean="0">
                                    <a:latin typeface="Cambria Math" panose="02040503050406030204" pitchFamily="18" charset="0"/>
                                    <a:cs typeface="Times New Roman" panose="02020603050405020304" pitchFamily="18" charset="0"/>
                                  </a:rPr>
                                </m:ctrlPr>
                              </m:sSupPr>
                              <m:e>
                                <m:r>
                                  <a:rPr lang="en-US" sz="3200" b="0" i="1" dirty="0" smtClean="0">
                                    <a:latin typeface="Cambria Math" panose="02040503050406030204" pitchFamily="18" charset="0"/>
                                    <a:cs typeface="Times New Roman" panose="02020603050405020304" pitchFamily="18" charset="0"/>
                                  </a:rPr>
                                  <m:t>(</m:t>
                                </m:r>
                                <m:r>
                                  <a:rPr lang="en-US" sz="3200" b="0" i="1" dirty="0" smtClean="0">
                                    <a:latin typeface="Cambria Math" panose="02040503050406030204" pitchFamily="18" charset="0"/>
                                    <a:cs typeface="Times New Roman" panose="02020603050405020304" pitchFamily="18" charset="0"/>
                                  </a:rPr>
                                  <m:t>𝑋</m:t>
                                </m:r>
                                <m:r>
                                  <a:rPr lang="en-US" sz="3200" b="0" i="1" dirty="0" smtClean="0">
                                    <a:latin typeface="Cambria Math" panose="02040503050406030204" pitchFamily="18" charset="0"/>
                                    <a:cs typeface="Times New Roman" panose="02020603050405020304" pitchFamily="18" charset="0"/>
                                  </a:rPr>
                                  <m:t>−</m:t>
                                </m:r>
                                <m:bar>
                                  <m:barPr>
                                    <m:pos m:val="top"/>
                                    <m:ctrlPr>
                                      <a:rPr lang="en-US" sz="3200" b="0" i="1" dirty="0" smtClean="0">
                                        <a:latin typeface="Cambria Math" panose="02040503050406030204" pitchFamily="18" charset="0"/>
                                        <a:cs typeface="Times New Roman" panose="02020603050405020304" pitchFamily="18" charset="0"/>
                                      </a:rPr>
                                    </m:ctrlPr>
                                  </m:barPr>
                                  <m:e>
                                    <m:r>
                                      <a:rPr lang="en-US" sz="3200" b="0" i="1" dirty="0" smtClean="0">
                                        <a:latin typeface="Cambria Math" panose="02040503050406030204" pitchFamily="18" charset="0"/>
                                        <a:cs typeface="Times New Roman" panose="02020603050405020304" pitchFamily="18" charset="0"/>
                                      </a:rPr>
                                      <m:t>𝑋</m:t>
                                    </m:r>
                                  </m:e>
                                </m:bar>
                                <m:r>
                                  <a:rPr lang="en-US" sz="3200" b="0" i="1" dirty="0" smtClean="0">
                                    <a:latin typeface="Cambria Math" panose="02040503050406030204" pitchFamily="18" charset="0"/>
                                    <a:cs typeface="Times New Roman" panose="02020603050405020304" pitchFamily="18" charset="0"/>
                                  </a:rPr>
                                  <m:t>)</m:t>
                                </m:r>
                              </m:e>
                              <m:sup>
                                <m:r>
                                  <a:rPr lang="en-US" sz="3200" b="0" i="1" dirty="0" smtClean="0">
                                    <a:latin typeface="Cambria Math" panose="02040503050406030204" pitchFamily="18" charset="0"/>
                                    <a:cs typeface="Times New Roman" panose="02020603050405020304" pitchFamily="18" charset="0"/>
                                  </a:rPr>
                                  <m:t>2</m:t>
                                </m:r>
                              </m:sup>
                            </m:sSup>
                          </m:e>
                        </m:nary>
                      </m:num>
                      <m:den>
                        <m:r>
                          <a:rPr lang="en-US" sz="3200" i="1" dirty="0">
                            <a:latin typeface="Cambria Math" panose="02040503050406030204" pitchFamily="18" charset="0"/>
                            <a:cs typeface="Times New Roman" panose="02020603050405020304" pitchFamily="18" charset="0"/>
                          </a:rPr>
                          <m:t>𝑛</m:t>
                        </m:r>
                        <m:r>
                          <a:rPr lang="en-US" sz="3200" i="1" dirty="0">
                            <a:latin typeface="Cambria Math" panose="02040503050406030204" pitchFamily="18" charset="0"/>
                            <a:cs typeface="Times New Roman" panose="02020603050405020304" pitchFamily="18" charset="0"/>
                          </a:rPr>
                          <m:t>−1</m:t>
                        </m:r>
                      </m:den>
                    </m:f>
                  </m:oMath>
                </a14:m>
                <a:endParaRPr lang="en-US" sz="32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X is the </a:t>
                </a:r>
                <a:r>
                  <a:rPr lang="en-US" sz="2400" dirty="0" err="1">
                    <a:latin typeface="Times New Roman" panose="02020603050405020304" pitchFamily="18" charset="0"/>
                    <a:cs typeface="Times New Roman" panose="02020603050405020304" pitchFamily="18" charset="0"/>
                  </a:rPr>
                  <a:t>datapoint</a:t>
                </a:r>
                <a:endParaRPr lang="en-US" sz="2400" dirty="0">
                  <a:latin typeface="Times New Roman" panose="02020603050405020304" pitchFamily="18" charset="0"/>
                  <a:cs typeface="Times New Roman" panose="02020603050405020304" pitchFamily="18" charset="0"/>
                </a:endParaRPr>
              </a:p>
              <a:p>
                <a14:m>
                  <m:oMath xmlns:m="http://schemas.openxmlformats.org/officeDocument/2006/math">
                    <m:bar>
                      <m:barPr>
                        <m:pos m:val="top"/>
                        <m:ctrlPr>
                          <a:rPr lang="en-US" sz="2400" b="0" i="1" smtClean="0">
                            <a:latin typeface="Cambria Math" panose="02040503050406030204" pitchFamily="18" charset="0"/>
                            <a:cs typeface="Times New Roman" panose="02020603050405020304" pitchFamily="18" charset="0"/>
                          </a:rPr>
                        </m:ctrlPr>
                      </m:barPr>
                      <m:e>
                        <m:r>
                          <a:rPr lang="en-US" sz="2400" b="0" i="1" smtClean="0">
                            <a:latin typeface="Cambria Math" panose="02040503050406030204" pitchFamily="18" charset="0"/>
                            <a:cs typeface="Times New Roman" panose="02020603050405020304" pitchFamily="18" charset="0"/>
                          </a:rPr>
                          <m:t>𝑋</m:t>
                        </m:r>
                      </m:e>
                    </m:bar>
                    <m:r>
                      <a:rPr lang="en-US" sz="2400" b="0" i="1" smtClean="0">
                        <a:latin typeface="Cambria Math" panose="02040503050406030204" pitchFamily="18" charset="0"/>
                        <a:cs typeface="Times New Roman" panose="02020603050405020304" pitchFamily="18" charset="0"/>
                      </a:rPr>
                      <m:t> </m:t>
                    </m:r>
                  </m:oMath>
                </a14:m>
                <a:r>
                  <a:rPr lang="en-US" sz="2400" dirty="0">
                    <a:latin typeface="Times New Roman" panose="02020603050405020304" pitchFamily="18" charset="0"/>
                    <a:cs typeface="Times New Roman" panose="02020603050405020304" pitchFamily="18" charset="0"/>
                  </a:rPr>
                  <a:t>is the mean</a:t>
                </a:r>
              </a:p>
              <a:p>
                <a:r>
                  <a:rPr lang="en-US" sz="2400" dirty="0">
                    <a:latin typeface="Times New Roman" panose="02020603050405020304" pitchFamily="18" charset="0"/>
                    <a:cs typeface="Times New Roman" panose="02020603050405020304" pitchFamily="18" charset="0"/>
                  </a:rPr>
                  <a:t>n is the sample size</a:t>
                </a:r>
              </a:p>
            </p:txBody>
          </p:sp>
        </mc:Choice>
        <mc:Fallback xmlns="">
          <p:sp>
            <p:nvSpPr>
              <p:cNvPr id="4" name="Text Placeholder 3"/>
              <p:cNvSpPr>
                <a:spLocks noGrp="1" noRot="1" noChangeAspect="1" noMove="1" noResize="1" noEditPoints="1" noAdjustHandles="1" noChangeArrowheads="1" noChangeShapeType="1" noTextEdit="1"/>
              </p:cNvSpPr>
              <p:nvPr>
                <p:ph type="body" sz="quarter" idx="13"/>
              </p:nvPr>
            </p:nvSpPr>
            <p:spPr>
              <a:blipFill>
                <a:blip r:embed="rId2"/>
                <a:stretch>
                  <a:fillRect l="-1270"/>
                </a:stretch>
              </a:blipFill>
            </p:spPr>
            <p:txBody>
              <a:bodyPr/>
              <a:lstStyle/>
              <a:p>
                <a:r>
                  <a:rPr lang="en-US">
                    <a:noFill/>
                  </a:rPr>
                  <a:t> </a:t>
                </a:r>
              </a:p>
            </p:txBody>
          </p:sp>
        </mc:Fallback>
      </mc:AlternateContent>
    </p:spTree>
    <p:extLst>
      <p:ext uri="{BB962C8B-B14F-4D97-AF65-F5344CB8AC3E}">
        <p14:creationId xmlns:p14="http://schemas.microsoft.com/office/powerpoint/2010/main" val="10112777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4500" y="542925"/>
            <a:ext cx="11214100" cy="480131"/>
          </a:xfrm>
        </p:spPr>
        <p:txBody>
          <a:bodyPr/>
          <a:lstStyle/>
          <a:p>
            <a:r>
              <a:rPr lang="en-US" sz="2800" dirty="0">
                <a:latin typeface="Times New Roman" panose="02020603050405020304" pitchFamily="18" charset="0"/>
                <a:cs typeface="Times New Roman" panose="02020603050405020304" pitchFamily="18" charset="0"/>
              </a:rPr>
              <a:t>Types of ANOVA</a:t>
            </a:r>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9</a:t>
            </a:fld>
            <a:endParaRPr lang="en-US" noProof="0" dirty="0"/>
          </a:p>
        </p:txBody>
      </p:sp>
      <p:sp>
        <p:nvSpPr>
          <p:cNvPr id="4" name="Text Placeholder 3"/>
          <p:cNvSpPr>
            <a:spLocks noGrp="1"/>
          </p:cNvSpPr>
          <p:nvPr>
            <p:ph type="body" sz="quarter" idx="13"/>
          </p:nvPr>
        </p:nvSpPr>
        <p:spPr/>
        <p:txBody>
          <a:bodyPr/>
          <a:lstStyle/>
          <a:p>
            <a:r>
              <a:rPr lang="en-US" sz="2400" dirty="0">
                <a:latin typeface="Times New Roman" panose="02020603050405020304" pitchFamily="18" charset="0"/>
                <a:cs typeface="Times New Roman" panose="02020603050405020304" pitchFamily="18" charset="0"/>
              </a:rPr>
              <a:t>One Way ANOVA</a:t>
            </a:r>
          </a:p>
          <a:p>
            <a:endParaRPr lang="en-US" sz="2400" dirty="0">
              <a:latin typeface="Times New Roman" panose="02020603050405020304" pitchFamily="18" charset="0"/>
              <a:cs typeface="Times New Roman" panose="02020603050405020304" pitchFamily="18" charset="0"/>
            </a:endParaRPr>
          </a:p>
        </p:txBody>
      </p:sp>
      <p:pic>
        <p:nvPicPr>
          <p:cNvPr id="5" name="Content Placeholder 3">
            <a:extLst>
              <a:ext uri="{FF2B5EF4-FFF2-40B4-BE49-F238E27FC236}">
                <a16:creationId xmlns:a16="http://schemas.microsoft.com/office/drawing/2014/main" id="{8969E46E-97C4-E080-1F0D-50C2454CF966}"/>
              </a:ext>
            </a:extLst>
          </p:cNvPr>
          <p:cNvPicPr>
            <a:picLocks noChangeAspect="1"/>
          </p:cNvPicPr>
          <p:nvPr/>
        </p:nvPicPr>
        <p:blipFill>
          <a:blip r:embed="rId2"/>
          <a:stretch>
            <a:fillRect/>
          </a:stretch>
        </p:blipFill>
        <p:spPr>
          <a:xfrm>
            <a:off x="2030218" y="2347545"/>
            <a:ext cx="7912514" cy="4079775"/>
          </a:xfrm>
          <a:prstGeom prst="rect">
            <a:avLst/>
          </a:prstGeom>
        </p:spPr>
      </p:pic>
    </p:spTree>
    <p:extLst>
      <p:ext uri="{BB962C8B-B14F-4D97-AF65-F5344CB8AC3E}">
        <p14:creationId xmlns:p14="http://schemas.microsoft.com/office/powerpoint/2010/main" val="30541317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4500" y="542925"/>
            <a:ext cx="11214100" cy="424732"/>
          </a:xfrm>
        </p:spPr>
        <p:txBody>
          <a:bodyPr/>
          <a:lstStyle/>
          <a:p>
            <a:pPr marL="342900" indent="-342900">
              <a:buFont typeface="Arial" panose="020B0604020202020204" pitchFamily="34" charset="0"/>
              <a:buChar char="•"/>
            </a:pPr>
            <a:r>
              <a:rPr lang="en-US" sz="2400" b="0" dirty="0">
                <a:latin typeface="Times New Roman" panose="02020603050405020304" pitchFamily="18" charset="0"/>
                <a:cs typeface="Times New Roman" panose="02020603050405020304" pitchFamily="18" charset="0"/>
              </a:rPr>
              <a:t>Two Way ANOVA</a:t>
            </a:r>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10</a:t>
            </a:fld>
            <a:endParaRPr lang="en-US" noProof="0" dirty="0"/>
          </a:p>
        </p:txBody>
      </p:sp>
      <p:pic>
        <p:nvPicPr>
          <p:cNvPr id="5" name="Picture 4"/>
          <p:cNvPicPr>
            <a:picLocks noChangeAspect="1"/>
          </p:cNvPicPr>
          <p:nvPr/>
        </p:nvPicPr>
        <p:blipFill>
          <a:blip r:embed="rId2"/>
          <a:stretch>
            <a:fillRect/>
          </a:stretch>
        </p:blipFill>
        <p:spPr>
          <a:xfrm>
            <a:off x="879230" y="1370566"/>
            <a:ext cx="8657070" cy="4602879"/>
          </a:xfrm>
          <a:prstGeom prst="rect">
            <a:avLst/>
          </a:prstGeom>
        </p:spPr>
      </p:pic>
      <p:sp>
        <p:nvSpPr>
          <p:cNvPr id="6" name="TextBox 5"/>
          <p:cNvSpPr txBox="1"/>
          <p:nvPr/>
        </p:nvSpPr>
        <p:spPr>
          <a:xfrm>
            <a:off x="4308231" y="1932082"/>
            <a:ext cx="237392" cy="369332"/>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o</a:t>
            </a:r>
          </a:p>
        </p:txBody>
      </p:sp>
    </p:spTree>
    <p:extLst>
      <p:ext uri="{BB962C8B-B14F-4D97-AF65-F5344CB8AC3E}">
        <p14:creationId xmlns:p14="http://schemas.microsoft.com/office/powerpoint/2010/main" val="15775304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Steps</a:t>
            </a:r>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11</a:t>
            </a:fld>
            <a:endParaRPr lang="en-US" noProof="0" dirty="0"/>
          </a:p>
        </p:txBody>
      </p:sp>
      <p:sp>
        <p:nvSpPr>
          <p:cNvPr id="4" name="Text Placeholder 3"/>
          <p:cNvSpPr>
            <a:spLocks noGrp="1"/>
          </p:cNvSpPr>
          <p:nvPr>
            <p:ph type="body" sz="quarter" idx="13"/>
          </p:nvPr>
        </p:nvSpPr>
        <p:spPr/>
        <p:txBody>
          <a:bodyPr/>
          <a:lstStyle/>
          <a:p>
            <a:r>
              <a:rPr lang="en-US" sz="2400" dirty="0">
                <a:latin typeface="Times New Roman" panose="02020603050405020304" pitchFamily="18" charset="0"/>
                <a:cs typeface="Times New Roman" panose="02020603050405020304" pitchFamily="18" charset="0"/>
              </a:rPr>
              <a:t>Calculate the mean square error between groups and within groups.</a:t>
            </a:r>
          </a:p>
          <a:p>
            <a:r>
              <a:rPr lang="en-US" sz="2400" dirty="0">
                <a:latin typeface="Times New Roman" panose="02020603050405020304" pitchFamily="18" charset="0"/>
                <a:cs typeface="Times New Roman" panose="02020603050405020304" pitchFamily="18" charset="0"/>
              </a:rPr>
              <a:t>Find the F value </a:t>
            </a:r>
          </a:p>
          <a:p>
            <a:r>
              <a:rPr lang="en-US" sz="2400" dirty="0">
                <a:latin typeface="Times New Roman" panose="02020603050405020304" pitchFamily="18" charset="0"/>
                <a:cs typeface="Times New Roman" panose="02020603050405020304" pitchFamily="18" charset="0"/>
              </a:rPr>
              <a:t>Find </a:t>
            </a:r>
            <a:r>
              <a:rPr lang="en-US" sz="2400" i="1" dirty="0" err="1">
                <a:latin typeface="Times New Roman" panose="02020603050405020304" pitchFamily="18" charset="0"/>
                <a:cs typeface="Times New Roman" panose="02020603050405020304" pitchFamily="18" charset="0"/>
              </a:rPr>
              <a:t>F</a:t>
            </a:r>
            <a:r>
              <a:rPr lang="en-US" i="1" dirty="0" err="1">
                <a:latin typeface="Times New Roman" panose="02020603050405020304" pitchFamily="18" charset="0"/>
                <a:cs typeface="Times New Roman" panose="02020603050405020304" pitchFamily="18" charset="0"/>
              </a:rPr>
              <a:t>ɑ</a:t>
            </a:r>
            <a:r>
              <a:rPr lang="en-US" sz="2400" i="1" dirty="0">
                <a:latin typeface="Times New Roman" panose="02020603050405020304" pitchFamily="18" charset="0"/>
                <a:cs typeface="Times New Roman" panose="02020603050405020304" pitchFamily="18" charset="0"/>
              </a:rPr>
              <a:t>(</a:t>
            </a:r>
            <a:r>
              <a:rPr lang="en-US" sz="2400" i="1" dirty="0" err="1">
                <a:latin typeface="Times New Roman" panose="02020603050405020304" pitchFamily="18" charset="0"/>
                <a:cs typeface="Times New Roman" panose="02020603050405020304" pitchFamily="18" charset="0"/>
              </a:rPr>
              <a:t>d</a:t>
            </a:r>
            <a:r>
              <a:rPr lang="en-US" sz="1400" i="1" dirty="0" err="1">
                <a:latin typeface="Times New Roman" panose="02020603050405020304" pitchFamily="18" charset="0"/>
                <a:cs typeface="Times New Roman" panose="02020603050405020304" pitchFamily="18" charset="0"/>
              </a:rPr>
              <a:t>b</a:t>
            </a:r>
            <a:r>
              <a:rPr lang="en-US" sz="2400" i="1" dirty="0" err="1">
                <a:latin typeface="Times New Roman" panose="02020603050405020304" pitchFamily="18" charset="0"/>
                <a:cs typeface="Times New Roman" panose="02020603050405020304" pitchFamily="18" charset="0"/>
              </a:rPr>
              <a:t>,d</a:t>
            </a:r>
            <a:r>
              <a:rPr lang="en-US" sz="1400" i="1" dirty="0" err="1">
                <a:latin typeface="Times New Roman" panose="02020603050405020304" pitchFamily="18" charset="0"/>
                <a:cs typeface="Times New Roman" panose="02020603050405020304" pitchFamily="18" charset="0"/>
              </a:rPr>
              <a:t>w</a:t>
            </a:r>
            <a:r>
              <a:rPr lang="en-US" sz="2400" i="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where </a:t>
            </a:r>
            <a:r>
              <a:rPr lang="en-US" sz="2400" i="1" dirty="0">
                <a:latin typeface="Times New Roman" panose="02020603050405020304" pitchFamily="18" charset="0"/>
                <a:cs typeface="Times New Roman" panose="02020603050405020304" pitchFamily="18" charset="0"/>
              </a:rPr>
              <a:t>ɑ </a:t>
            </a:r>
            <a:r>
              <a:rPr lang="en-US" sz="2400" dirty="0">
                <a:latin typeface="Times New Roman" panose="02020603050405020304" pitchFamily="18" charset="0"/>
                <a:cs typeface="Times New Roman" panose="02020603050405020304" pitchFamily="18" charset="0"/>
              </a:rPr>
              <a:t>is the significance level </a:t>
            </a:r>
            <a:r>
              <a:rPr lang="en-US" sz="2400" i="1" dirty="0" err="1">
                <a:latin typeface="Times New Roman" panose="02020603050405020304" pitchFamily="18" charset="0"/>
                <a:cs typeface="Times New Roman" panose="02020603050405020304" pitchFamily="18" charset="0"/>
              </a:rPr>
              <a:t>d</a:t>
            </a:r>
            <a:r>
              <a:rPr lang="en-US" sz="1400" i="1" dirty="0" err="1">
                <a:latin typeface="Times New Roman" panose="02020603050405020304" pitchFamily="18" charset="0"/>
                <a:cs typeface="Times New Roman" panose="02020603050405020304" pitchFamily="18" charset="0"/>
              </a:rPr>
              <a:t>b</a:t>
            </a:r>
            <a:r>
              <a:rPr lang="en-US" sz="2400" i="1" dirty="0">
                <a:latin typeface="Times New Roman" panose="02020603050405020304" pitchFamily="18" charset="0"/>
                <a:cs typeface="Times New Roman" panose="02020603050405020304" pitchFamily="18" charset="0"/>
              </a:rPr>
              <a:t> and </a:t>
            </a:r>
            <a:r>
              <a:rPr lang="en-US" sz="2400" i="1" dirty="0" err="1">
                <a:latin typeface="Times New Roman" panose="02020603050405020304" pitchFamily="18" charset="0"/>
                <a:cs typeface="Times New Roman" panose="02020603050405020304" pitchFamily="18" charset="0"/>
              </a:rPr>
              <a:t>d</a:t>
            </a:r>
            <a:r>
              <a:rPr lang="en-US" sz="1400" i="1" dirty="0" err="1">
                <a:latin typeface="Times New Roman" panose="02020603050405020304" pitchFamily="18" charset="0"/>
                <a:cs typeface="Times New Roman" panose="02020603050405020304" pitchFamily="18" charset="0"/>
              </a:rPr>
              <a:t>w</a:t>
            </a:r>
            <a:r>
              <a:rPr lang="en-US" sz="1400" i="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are degrees of freedom.</a:t>
            </a:r>
          </a:p>
          <a:p>
            <a:r>
              <a:rPr lang="en-US" sz="2400" dirty="0">
                <a:latin typeface="Times New Roman" panose="02020603050405020304" pitchFamily="18" charset="0"/>
                <a:cs typeface="Times New Roman" panose="02020603050405020304" pitchFamily="18" charset="0"/>
              </a:rPr>
              <a:t>If </a:t>
            </a:r>
            <a:r>
              <a:rPr lang="en-US" sz="2400" i="1" dirty="0">
                <a:latin typeface="Times New Roman" panose="02020603050405020304" pitchFamily="18" charset="0"/>
                <a:cs typeface="Times New Roman" panose="02020603050405020304" pitchFamily="18" charset="0"/>
              </a:rPr>
              <a:t>F &gt; </a:t>
            </a:r>
            <a:r>
              <a:rPr lang="en-US" sz="2400" i="1" dirty="0" err="1">
                <a:latin typeface="Times New Roman" panose="02020603050405020304" pitchFamily="18" charset="0"/>
                <a:cs typeface="Times New Roman" panose="02020603050405020304" pitchFamily="18" charset="0"/>
              </a:rPr>
              <a:t>F</a:t>
            </a:r>
            <a:r>
              <a:rPr lang="en-US" sz="1400" i="1" dirty="0" err="1">
                <a:latin typeface="Times New Roman" panose="02020603050405020304" pitchFamily="18" charset="0"/>
                <a:cs typeface="Times New Roman" panose="02020603050405020304" pitchFamily="18" charset="0"/>
              </a:rPr>
              <a:t>ɑ</a:t>
            </a:r>
            <a:r>
              <a:rPr lang="en-US" sz="2400" i="1" dirty="0">
                <a:latin typeface="Times New Roman" panose="02020603050405020304" pitchFamily="18" charset="0"/>
                <a:cs typeface="Times New Roman" panose="02020603050405020304" pitchFamily="18" charset="0"/>
              </a:rPr>
              <a:t>(</a:t>
            </a:r>
            <a:r>
              <a:rPr lang="en-US" sz="2400" i="1" dirty="0" err="1">
                <a:latin typeface="Times New Roman" panose="02020603050405020304" pitchFamily="18" charset="0"/>
                <a:cs typeface="Times New Roman" panose="02020603050405020304" pitchFamily="18" charset="0"/>
              </a:rPr>
              <a:t>d</a:t>
            </a:r>
            <a:r>
              <a:rPr lang="en-US" sz="1200" i="1" dirty="0" err="1">
                <a:latin typeface="Times New Roman" panose="02020603050405020304" pitchFamily="18" charset="0"/>
                <a:cs typeface="Times New Roman" panose="02020603050405020304" pitchFamily="18" charset="0"/>
              </a:rPr>
              <a:t>b</a:t>
            </a:r>
            <a:r>
              <a:rPr lang="en-US" sz="2400" i="1" dirty="0" err="1">
                <a:latin typeface="Times New Roman" panose="02020603050405020304" pitchFamily="18" charset="0"/>
                <a:cs typeface="Times New Roman" panose="02020603050405020304" pitchFamily="18" charset="0"/>
              </a:rPr>
              <a:t>,d</a:t>
            </a:r>
            <a:r>
              <a:rPr lang="en-US" sz="1400" i="1" dirty="0" err="1">
                <a:latin typeface="Times New Roman" panose="02020603050405020304" pitchFamily="18" charset="0"/>
                <a:cs typeface="Times New Roman" panose="02020603050405020304" pitchFamily="18" charset="0"/>
              </a:rPr>
              <a:t>w</a:t>
            </a:r>
            <a:r>
              <a:rPr lang="en-US" sz="2400" i="1" dirty="0">
                <a:latin typeface="Times New Roman" panose="02020603050405020304" pitchFamily="18" charset="0"/>
                <a:cs typeface="Times New Roman" panose="02020603050405020304" pitchFamily="18" charset="0"/>
              </a:rPr>
              <a:t>) </a:t>
            </a:r>
          </a:p>
          <a:p>
            <a:pPr marL="0" indent="0">
              <a:buNone/>
            </a:pPr>
            <a:r>
              <a:rPr lang="en-US" sz="2400" i="1" dirty="0">
                <a:latin typeface="Times New Roman" panose="02020603050405020304" pitchFamily="18" charset="0"/>
                <a:cs typeface="Times New Roman" panose="02020603050405020304" pitchFamily="18" charset="0"/>
              </a:rPr>
              <a:t>           Reject H</a:t>
            </a:r>
            <a:r>
              <a:rPr lang="en-US" sz="1200" i="1" dirty="0">
                <a:latin typeface="Times New Roman" panose="02020603050405020304" pitchFamily="18" charset="0"/>
                <a:cs typeface="Times New Roman" panose="02020603050405020304" pitchFamily="18" charset="0"/>
              </a:rPr>
              <a:t>0</a:t>
            </a:r>
          </a:p>
        </p:txBody>
      </p:sp>
    </p:spTree>
    <p:extLst>
      <p:ext uri="{BB962C8B-B14F-4D97-AF65-F5344CB8AC3E}">
        <p14:creationId xmlns:p14="http://schemas.microsoft.com/office/powerpoint/2010/main" val="22597380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12</a:t>
            </a:fld>
            <a:endParaRPr lang="en-US" noProof="0" dirty="0"/>
          </a:p>
        </p:txBody>
      </p:sp>
      <p:sp>
        <p:nvSpPr>
          <p:cNvPr id="4" name="Text Placeholder 3"/>
          <p:cNvSpPr>
            <a:spLocks noGrp="1"/>
          </p:cNvSpPr>
          <p:nvPr>
            <p:ph type="body" sz="quarter" idx="13"/>
          </p:nvPr>
        </p:nvSpPr>
        <p:spPr>
          <a:xfrm>
            <a:off x="444500" y="1078457"/>
            <a:ext cx="10807700" cy="5709206"/>
          </a:xfrm>
        </p:spPr>
        <p:txBody>
          <a:bodyPr/>
          <a:lstStyle/>
          <a:p>
            <a:r>
              <a:rPr lang="en-IN" sz="2400" dirty="0">
                <a:latin typeface="Times New Roman" panose="02020603050405020304" pitchFamily="18" charset="0"/>
                <a:ea typeface="Calibri" panose="020F0502020204030204" pitchFamily="34" charset="0"/>
                <a:cs typeface="Times New Roman" panose="02020603050405020304" pitchFamily="18" charset="0"/>
              </a:rPr>
              <a:t>Four popular weight loss programs are considered. The first is a low-calorie diet, the second is a low-fat diet, the third is a low- carbohydrate diet and the fourth is a control diet. A total of twenty patients participate in a study of healthy behaviours with weight loss and the patients were randomly assigned to one of the four diet groups. The difference in weights after and before participation is given below</a:t>
            </a:r>
          </a:p>
          <a:p>
            <a:endParaRPr lang="en-US" dirty="0"/>
          </a:p>
        </p:txBody>
      </p:sp>
      <p:pic>
        <p:nvPicPr>
          <p:cNvPr id="5" name="Picture 4"/>
          <p:cNvPicPr>
            <a:picLocks noChangeAspect="1"/>
          </p:cNvPicPr>
          <p:nvPr/>
        </p:nvPicPr>
        <p:blipFill>
          <a:blip r:embed="rId2"/>
          <a:stretch>
            <a:fillRect/>
          </a:stretch>
        </p:blipFill>
        <p:spPr>
          <a:xfrm>
            <a:off x="783471" y="3128913"/>
            <a:ext cx="7706012" cy="2128887"/>
          </a:xfrm>
          <a:prstGeom prst="rect">
            <a:avLst/>
          </a:prstGeom>
        </p:spPr>
      </p:pic>
      <p:sp>
        <p:nvSpPr>
          <p:cNvPr id="6" name="Rectangle 5"/>
          <p:cNvSpPr/>
          <p:nvPr/>
        </p:nvSpPr>
        <p:spPr>
          <a:xfrm>
            <a:off x="783471" y="5257800"/>
            <a:ext cx="10382760" cy="1200329"/>
          </a:xfrm>
          <a:prstGeom prst="rect">
            <a:avLst/>
          </a:prstGeom>
        </p:spPr>
        <p:txBody>
          <a:bodyPr wrap="square">
            <a:spAutoFit/>
          </a:bodyPr>
          <a:lstStyle/>
          <a:p>
            <a:pPr algn="just"/>
            <a:r>
              <a:rPr lang="en-IN" sz="2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Positive differences indicate weight loss and negative differences indicate weight gain. Is there a statistically significant difference in the mean weight loss among the four diets?</a:t>
            </a:r>
            <a:endParaRPr lang="en-IN" sz="240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193227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Solution</a:t>
            </a:r>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13</a:t>
            </a:fld>
            <a:endParaRPr lang="en-US" noProof="0" dirty="0"/>
          </a:p>
        </p:txBody>
      </p:sp>
      <mc:AlternateContent xmlns:mc="http://schemas.openxmlformats.org/markup-compatibility/2006" xmlns:a14="http://schemas.microsoft.com/office/drawing/2010/main">
        <mc:Choice Requires="a14">
          <p:sp>
            <p:nvSpPr>
              <p:cNvPr id="4" name="Text Placeholder 3"/>
              <p:cNvSpPr>
                <a:spLocks noGrp="1"/>
              </p:cNvSpPr>
              <p:nvPr>
                <p:ph type="body" sz="quarter" idx="13"/>
              </p:nvPr>
            </p:nvSpPr>
            <p:spPr>
              <a:xfrm>
                <a:off x="444500" y="1625385"/>
                <a:ext cx="10932746" cy="4093243"/>
              </a:xfrm>
            </p:spPr>
            <p:txBody>
              <a:bodyPr/>
              <a:lstStyle/>
              <a:p>
                <a:pPr marL="0" indent="0" algn="just">
                  <a:lnSpc>
                    <a:spcPct val="107000"/>
                  </a:lnSpc>
                  <a:spcAft>
                    <a:spcPts val="800"/>
                  </a:spcAft>
                  <a:buNone/>
                </a:pPr>
                <a:r>
                  <a:rPr lang="en-IN" sz="2400" dirty="0">
                    <a:latin typeface="Times New Roman" panose="02020603050405020304" pitchFamily="18" charset="0"/>
                    <a:ea typeface="Times New Roman" panose="02020603050405020304" pitchFamily="18" charset="0"/>
                    <a:cs typeface="Times New Roman" panose="02020603050405020304" pitchFamily="18" charset="0"/>
                  </a:rPr>
                  <a:t>Let </a:t>
                </a:r>
                <a14:m>
                  <m:oMath xmlns:m="http://schemas.openxmlformats.org/officeDocument/2006/math">
                    <m:sSub>
                      <m:sSubPr>
                        <m:ctrlPr>
                          <a:rPr lang="en-IN"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en-IN" sz="2400" i="1">
                            <a:latin typeface="Cambria Math" panose="02040503050406030204" pitchFamily="18" charset="0"/>
                            <a:ea typeface="Times New Roman" panose="02020603050405020304" pitchFamily="18" charset="0"/>
                            <a:cs typeface="Times New Roman" panose="02020603050405020304" pitchFamily="18" charset="0"/>
                          </a:rPr>
                          <m:t>𝜇</m:t>
                        </m:r>
                      </m:e>
                      <m:sub>
                        <m:r>
                          <a:rPr lang="en-IN" sz="2400" i="1">
                            <a:latin typeface="Cambria Math" panose="02040503050406030204" pitchFamily="18" charset="0"/>
                            <a:ea typeface="Times New Roman" panose="02020603050405020304" pitchFamily="18" charset="0"/>
                            <a:cs typeface="Times New Roman" panose="02020603050405020304" pitchFamily="18" charset="0"/>
                          </a:rPr>
                          <m:t>1</m:t>
                        </m:r>
                      </m:sub>
                    </m:sSub>
                  </m:oMath>
                </a14:m>
                <a:r>
                  <a:rPr lang="en-IN" sz="2400" dirty="0">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sSub>
                      <m:sSubPr>
                        <m:ctrlPr>
                          <a:rPr lang="en-IN"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en-IN" sz="2400" i="1">
                            <a:latin typeface="Cambria Math" panose="02040503050406030204" pitchFamily="18" charset="0"/>
                            <a:ea typeface="Times New Roman" panose="02020603050405020304" pitchFamily="18" charset="0"/>
                            <a:cs typeface="Times New Roman" panose="02020603050405020304" pitchFamily="18" charset="0"/>
                          </a:rPr>
                          <m:t>𝜇</m:t>
                        </m:r>
                      </m:e>
                      <m:sub>
                        <m:r>
                          <a:rPr lang="en-IN" sz="2400" i="1">
                            <a:latin typeface="Cambria Math" panose="02040503050406030204" pitchFamily="18" charset="0"/>
                            <a:ea typeface="Times New Roman" panose="02020603050405020304" pitchFamily="18" charset="0"/>
                            <a:cs typeface="Times New Roman" panose="02020603050405020304" pitchFamily="18" charset="0"/>
                          </a:rPr>
                          <m:t>2</m:t>
                        </m:r>
                      </m:sub>
                    </m:sSub>
                    <m:r>
                      <a:rPr lang="en-IN" sz="2400" i="1">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n-IN"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en-IN" sz="2400" i="1">
                            <a:latin typeface="Cambria Math" panose="02040503050406030204" pitchFamily="18" charset="0"/>
                            <a:ea typeface="Times New Roman" panose="02020603050405020304" pitchFamily="18" charset="0"/>
                            <a:cs typeface="Times New Roman" panose="02020603050405020304" pitchFamily="18" charset="0"/>
                          </a:rPr>
                          <m:t>𝜇</m:t>
                        </m:r>
                      </m:e>
                      <m:sub>
                        <m:r>
                          <a:rPr lang="en-IN" sz="2400" i="1">
                            <a:latin typeface="Cambria Math" panose="02040503050406030204" pitchFamily="18" charset="0"/>
                            <a:ea typeface="Times New Roman" panose="02020603050405020304" pitchFamily="18" charset="0"/>
                            <a:cs typeface="Times New Roman" panose="02020603050405020304" pitchFamily="18" charset="0"/>
                          </a:rPr>
                          <m:t>3</m:t>
                        </m:r>
                      </m:sub>
                    </m:sSub>
                  </m:oMath>
                </a14:m>
                <a:r>
                  <a:rPr lang="en-IN" sz="2400" dirty="0">
                    <a:latin typeface="Times New Roman" panose="02020603050405020304" pitchFamily="18" charset="0"/>
                    <a:ea typeface="Times New Roman" panose="02020603050405020304" pitchFamily="18" charset="0"/>
                    <a:cs typeface="Times New Roman" panose="02020603050405020304" pitchFamily="18" charset="0"/>
                  </a:rPr>
                  <a:t> and </a:t>
                </a:r>
                <a14:m>
                  <m:oMath xmlns:m="http://schemas.openxmlformats.org/officeDocument/2006/math">
                    <m:sSub>
                      <m:sSubPr>
                        <m:ctrlPr>
                          <a:rPr lang="en-IN"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en-IN" sz="2400" i="1">
                            <a:latin typeface="Cambria Math" panose="02040503050406030204" pitchFamily="18" charset="0"/>
                            <a:ea typeface="Times New Roman" panose="02020603050405020304" pitchFamily="18" charset="0"/>
                            <a:cs typeface="Times New Roman" panose="02020603050405020304" pitchFamily="18" charset="0"/>
                          </a:rPr>
                          <m:t>𝜇</m:t>
                        </m:r>
                      </m:e>
                      <m:sub>
                        <m:r>
                          <a:rPr lang="en-IN" sz="2400" i="1">
                            <a:latin typeface="Cambria Math" panose="02040503050406030204" pitchFamily="18" charset="0"/>
                            <a:ea typeface="Times New Roman" panose="02020603050405020304" pitchFamily="18" charset="0"/>
                            <a:cs typeface="Times New Roman" panose="02020603050405020304" pitchFamily="18" charset="0"/>
                          </a:rPr>
                          <m:t>4</m:t>
                        </m:r>
                      </m:sub>
                    </m:sSub>
                  </m:oMath>
                </a14:m>
                <a:r>
                  <a:rPr lang="en-IN" sz="2400" dirty="0">
                    <a:latin typeface="Times New Roman" panose="02020603050405020304" pitchFamily="18" charset="0"/>
                    <a:ea typeface="Times New Roman" panose="02020603050405020304" pitchFamily="18" charset="0"/>
                    <a:cs typeface="Times New Roman" panose="02020603050405020304" pitchFamily="18" charset="0"/>
                  </a:rPr>
                  <a:t> be mean weight loss for each program </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14:m>
                  <m:oMath xmlns:m="http://schemas.openxmlformats.org/officeDocument/2006/math">
                    <m:sSub>
                      <m:sSubPr>
                        <m:ctrlPr>
                          <a:rPr lang="en-IN" sz="2400" i="1">
                            <a:latin typeface="Cambria Math" panose="02040503050406030204" pitchFamily="18" charset="0"/>
                            <a:ea typeface="Calibri" panose="020F0502020204030204" pitchFamily="34" charset="0"/>
                            <a:cs typeface="Times New Roman" panose="02020603050405020304" pitchFamily="18" charset="0"/>
                          </a:rPr>
                        </m:ctrlPr>
                      </m:sSubPr>
                      <m:e>
                        <m:r>
                          <a:rPr lang="en-IN" sz="2400" i="1">
                            <a:latin typeface="Cambria Math" panose="02040503050406030204" pitchFamily="18" charset="0"/>
                            <a:ea typeface="Calibri" panose="020F0502020204030204" pitchFamily="34" charset="0"/>
                            <a:cs typeface="Times New Roman" panose="02020603050405020304" pitchFamily="18" charset="0"/>
                          </a:rPr>
                          <m:t>𝐻</m:t>
                        </m:r>
                      </m:e>
                      <m:sub>
                        <m:r>
                          <a:rPr lang="en-IN" sz="2400" i="1">
                            <a:latin typeface="Cambria Math" panose="02040503050406030204" pitchFamily="18" charset="0"/>
                            <a:ea typeface="Calibri" panose="020F0502020204030204" pitchFamily="34" charset="0"/>
                            <a:cs typeface="Times New Roman" panose="02020603050405020304" pitchFamily="18" charset="0"/>
                          </a:rPr>
                          <m:t>0</m:t>
                        </m:r>
                      </m:sub>
                    </m:sSub>
                    <m:r>
                      <a:rPr lang="en-IN" sz="2400" i="1">
                        <a:latin typeface="Cambria Math" panose="02040503050406030204" pitchFamily="18" charset="0"/>
                        <a:ea typeface="Calibri" panose="020F0502020204030204" pitchFamily="34" charset="0"/>
                        <a:cs typeface="Times New Roman" panose="02020603050405020304" pitchFamily="18" charset="0"/>
                      </a:rPr>
                      <m:t>:</m:t>
                    </m:r>
                    <m:sSub>
                      <m:sSubPr>
                        <m:ctrlPr>
                          <a:rPr lang="en-IN"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en-IN" sz="2400" i="1">
                            <a:latin typeface="Cambria Math" panose="02040503050406030204" pitchFamily="18" charset="0"/>
                            <a:ea typeface="Times New Roman" panose="02020603050405020304" pitchFamily="18" charset="0"/>
                            <a:cs typeface="Times New Roman" panose="02020603050405020304" pitchFamily="18" charset="0"/>
                          </a:rPr>
                          <m:t>𝜇</m:t>
                        </m:r>
                      </m:e>
                      <m:sub>
                        <m:r>
                          <a:rPr lang="en-IN" sz="2400" i="1">
                            <a:latin typeface="Cambria Math" panose="02040503050406030204" pitchFamily="18" charset="0"/>
                            <a:ea typeface="Times New Roman" panose="02020603050405020304" pitchFamily="18" charset="0"/>
                            <a:cs typeface="Times New Roman" panose="02020603050405020304" pitchFamily="18" charset="0"/>
                          </a:rPr>
                          <m:t>1</m:t>
                        </m:r>
                      </m:sub>
                    </m:sSub>
                    <m:sSub>
                      <m:sSubPr>
                        <m:ctrlPr>
                          <a:rPr lang="en-IN"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en-IN" sz="2400" i="1">
                            <a:latin typeface="Cambria Math" panose="02040503050406030204" pitchFamily="18" charset="0"/>
                            <a:ea typeface="Times New Roman" panose="02020603050405020304" pitchFamily="18" charset="0"/>
                            <a:cs typeface="Times New Roman" panose="02020603050405020304" pitchFamily="18" charset="0"/>
                          </a:rPr>
                          <m:t>=</m:t>
                        </m:r>
                        <m:r>
                          <a:rPr lang="en-IN" sz="2400" i="1">
                            <a:latin typeface="Cambria Math" panose="02040503050406030204" pitchFamily="18" charset="0"/>
                            <a:ea typeface="Times New Roman" panose="02020603050405020304" pitchFamily="18" charset="0"/>
                            <a:cs typeface="Times New Roman" panose="02020603050405020304" pitchFamily="18" charset="0"/>
                          </a:rPr>
                          <m:t>𝜇</m:t>
                        </m:r>
                      </m:e>
                      <m:sub>
                        <m:r>
                          <a:rPr lang="en-IN" sz="2400" i="1">
                            <a:latin typeface="Cambria Math" panose="02040503050406030204" pitchFamily="18" charset="0"/>
                            <a:ea typeface="Times New Roman" panose="02020603050405020304" pitchFamily="18" charset="0"/>
                            <a:cs typeface="Times New Roman" panose="02020603050405020304" pitchFamily="18" charset="0"/>
                          </a:rPr>
                          <m:t>2</m:t>
                        </m:r>
                      </m:sub>
                    </m:sSub>
                    <m:r>
                      <a:rPr lang="en-IN" sz="2400" i="1">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n-IN"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en-IN" sz="2400" i="1">
                            <a:latin typeface="Cambria Math" panose="02040503050406030204" pitchFamily="18" charset="0"/>
                            <a:ea typeface="Times New Roman" panose="02020603050405020304" pitchFamily="18" charset="0"/>
                            <a:cs typeface="Times New Roman" panose="02020603050405020304" pitchFamily="18" charset="0"/>
                          </a:rPr>
                          <m:t>𝜇</m:t>
                        </m:r>
                      </m:e>
                      <m:sub>
                        <m:r>
                          <a:rPr lang="en-IN" sz="2400" i="1">
                            <a:latin typeface="Cambria Math" panose="02040503050406030204" pitchFamily="18" charset="0"/>
                            <a:ea typeface="Times New Roman" panose="02020603050405020304" pitchFamily="18" charset="0"/>
                            <a:cs typeface="Times New Roman" panose="02020603050405020304" pitchFamily="18" charset="0"/>
                          </a:rPr>
                          <m:t>3</m:t>
                        </m:r>
                      </m:sub>
                    </m:sSub>
                    <m:r>
                      <a:rPr lang="en-IN" sz="2400" i="1">
                        <a:latin typeface="Cambria Math" panose="02040503050406030204" pitchFamily="18" charset="0"/>
                        <a:ea typeface="Calibri" panose="020F0502020204030204" pitchFamily="34" charset="0"/>
                        <a:cs typeface="Times New Roman" panose="02020603050405020304" pitchFamily="18" charset="0"/>
                      </a:rPr>
                      <m:t>=</m:t>
                    </m:r>
                    <m:sSub>
                      <m:sSubPr>
                        <m:ctrlPr>
                          <a:rPr lang="en-IN" sz="2400" i="1">
                            <a:latin typeface="Cambria Math" panose="02040503050406030204" pitchFamily="18" charset="0"/>
                            <a:ea typeface="Calibri" panose="020F0502020204030204" pitchFamily="34" charset="0"/>
                            <a:cs typeface="Times New Roman" panose="02020603050405020304" pitchFamily="18" charset="0"/>
                          </a:rPr>
                        </m:ctrlPr>
                      </m:sSubPr>
                      <m:e>
                        <m:r>
                          <a:rPr lang="en-IN" sz="2400" i="1">
                            <a:latin typeface="Cambria Math" panose="02040503050406030204" pitchFamily="18" charset="0"/>
                            <a:ea typeface="Calibri" panose="020F0502020204030204" pitchFamily="34" charset="0"/>
                            <a:cs typeface="Times New Roman" panose="02020603050405020304" pitchFamily="18" charset="0"/>
                          </a:rPr>
                          <m:t>𝜇</m:t>
                        </m:r>
                      </m:e>
                      <m:sub>
                        <m:r>
                          <a:rPr lang="en-US" sz="2400" b="0" i="1" smtClean="0">
                            <a:latin typeface="Cambria Math" panose="02040503050406030204" pitchFamily="18" charset="0"/>
                            <a:ea typeface="Calibri" panose="020F0502020204030204" pitchFamily="34" charset="0"/>
                            <a:cs typeface="Times New Roman" panose="02020603050405020304" pitchFamily="18" charset="0"/>
                          </a:rPr>
                          <m:t>4</m:t>
                        </m:r>
                      </m:sub>
                    </m:sSub>
                  </m:oMath>
                </a14:m>
                <a:r>
                  <a:rPr lang="en-IN" sz="2400" dirty="0">
                    <a:latin typeface="Times New Roman" panose="02020603050405020304" pitchFamily="18" charset="0"/>
                    <a:ea typeface="Times New Roman" panose="02020603050405020304" pitchFamily="18" charset="0"/>
                    <a:cs typeface="Times New Roman" panose="02020603050405020304" pitchFamily="18" charset="0"/>
                  </a:rPr>
                  <a:t>  against </a:t>
                </a:r>
                <a14:m>
                  <m:oMath xmlns:m="http://schemas.openxmlformats.org/officeDocument/2006/math">
                    <m:sSub>
                      <m:sSubPr>
                        <m:ctrlPr>
                          <a:rPr lang="en-IN" sz="2400" i="1">
                            <a:latin typeface="Cambria Math" panose="02040503050406030204" pitchFamily="18" charset="0"/>
                            <a:ea typeface="Calibri" panose="020F0502020204030204" pitchFamily="34" charset="0"/>
                            <a:cs typeface="Times New Roman" panose="02020603050405020304" pitchFamily="18" charset="0"/>
                          </a:rPr>
                        </m:ctrlPr>
                      </m:sSubPr>
                      <m:e>
                        <m:r>
                          <a:rPr lang="en-IN" sz="2400" i="1">
                            <a:latin typeface="Cambria Math" panose="02040503050406030204" pitchFamily="18" charset="0"/>
                            <a:ea typeface="Calibri" panose="020F0502020204030204" pitchFamily="34" charset="0"/>
                            <a:cs typeface="Times New Roman" panose="02020603050405020304" pitchFamily="18" charset="0"/>
                          </a:rPr>
                          <m:t>𝐻</m:t>
                        </m:r>
                      </m:e>
                      <m:sub>
                        <m:r>
                          <a:rPr lang="en-IN" sz="2400" i="1">
                            <a:latin typeface="Cambria Math" panose="02040503050406030204" pitchFamily="18" charset="0"/>
                            <a:ea typeface="Calibri" panose="020F0502020204030204" pitchFamily="34" charset="0"/>
                            <a:cs typeface="Times New Roman" panose="02020603050405020304" pitchFamily="18" charset="0"/>
                          </a:rPr>
                          <m:t>1</m:t>
                        </m:r>
                      </m:sub>
                    </m:sSub>
                    <m:r>
                      <a:rPr lang="en-IN" sz="2400" i="1">
                        <a:latin typeface="Cambria Math" panose="02040503050406030204" pitchFamily="18" charset="0"/>
                        <a:ea typeface="Calibri" panose="020F0502020204030204" pitchFamily="34" charset="0"/>
                        <a:cs typeface="Times New Roman" panose="02020603050405020304" pitchFamily="18" charset="0"/>
                      </a:rPr>
                      <m:t>: </m:t>
                    </m:r>
                  </m:oMath>
                </a14:m>
                <a:r>
                  <a:rPr lang="en-IN" sz="2400" dirty="0">
                    <a:latin typeface="Times New Roman" panose="02020603050405020304" pitchFamily="18" charset="0"/>
                    <a:ea typeface="Times New Roman" panose="02020603050405020304" pitchFamily="18" charset="0"/>
                    <a:cs typeface="Times New Roman" panose="02020603050405020304" pitchFamily="18" charset="0"/>
                  </a:rPr>
                  <a:t>at least two means are not equal</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14:m>
                  <m:oMath xmlns:m="http://schemas.openxmlformats.org/officeDocument/2006/math">
                    <m:r>
                      <a:rPr lang="en-IN" sz="2400" i="1">
                        <a:latin typeface="Cambria Math" panose="02040503050406030204" pitchFamily="18" charset="0"/>
                        <a:ea typeface="Times New Roman" panose="02020603050405020304" pitchFamily="18" charset="0"/>
                        <a:cs typeface="Times New Roman" panose="02020603050405020304" pitchFamily="18" charset="0"/>
                      </a:rPr>
                      <m:t>𝑘</m:t>
                    </m:r>
                    <m:r>
                      <a:rPr lang="en-IN" sz="2400" i="1">
                        <a:latin typeface="Cambria Math" panose="02040503050406030204" pitchFamily="18" charset="0"/>
                        <a:ea typeface="Times New Roman" panose="02020603050405020304" pitchFamily="18" charset="0"/>
                        <a:cs typeface="Times New Roman" panose="02020603050405020304" pitchFamily="18" charset="0"/>
                      </a:rPr>
                      <m:t>=4</m:t>
                    </m:r>
                  </m:oMath>
                </a14:m>
                <a:r>
                  <a:rPr lang="en-IN" sz="2400" dirty="0">
                    <a:latin typeface="Times New Roman" panose="02020603050405020304" pitchFamily="18" charset="0"/>
                    <a:ea typeface="Calibri" panose="020F0502020204030204" pitchFamily="34" charset="0"/>
                    <a:cs typeface="Times New Roman" panose="02020603050405020304" pitchFamily="18" charset="0"/>
                  </a:rPr>
                  <a:t> </a:t>
                </a:r>
              </a:p>
              <a:p>
                <a:pPr marL="0" indent="0">
                  <a:lnSpc>
                    <a:spcPct val="107000"/>
                  </a:lnSpc>
                  <a:spcAft>
                    <a:spcPts val="800"/>
                  </a:spcAft>
                  <a:buNone/>
                </a:pPr>
                <a14:m>
                  <m:oMath xmlns:m="http://schemas.openxmlformats.org/officeDocument/2006/math">
                    <m:r>
                      <a:rPr lang="en-IN" sz="2400" i="1">
                        <a:latin typeface="Cambria Math" panose="02040503050406030204" pitchFamily="18" charset="0"/>
                        <a:ea typeface="Times New Roman" panose="02020603050405020304" pitchFamily="18" charset="0"/>
                        <a:cs typeface="Times New Roman" panose="02020603050405020304" pitchFamily="18" charset="0"/>
                      </a:rPr>
                      <m:t>𝑛</m:t>
                    </m:r>
                    <m:r>
                      <a:rPr lang="en-IN" sz="2400" i="1">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2400" i="1">
                            <a:latin typeface="Cambria Math" panose="02040503050406030204" pitchFamily="18" charset="0"/>
                            <a:ea typeface="Calibri" panose="020F0502020204030204" pitchFamily="34" charset="0"/>
                            <a:cs typeface="Times New Roman" panose="02020603050405020304" pitchFamily="18" charset="0"/>
                          </a:rPr>
                        </m:ctrlPr>
                      </m:sSubPr>
                      <m:e>
                        <m:r>
                          <a:rPr lang="en-IN" sz="2400" i="1">
                            <a:latin typeface="Cambria Math" panose="02040503050406030204" pitchFamily="18" charset="0"/>
                            <a:ea typeface="Calibri" panose="020F0502020204030204" pitchFamily="34" charset="0"/>
                            <a:cs typeface="Times New Roman" panose="02020603050405020304" pitchFamily="18" charset="0"/>
                          </a:rPr>
                          <m:t>𝑛</m:t>
                        </m:r>
                      </m:e>
                      <m:sub>
                        <m:r>
                          <a:rPr lang="en-IN" sz="2400" i="1">
                            <a:latin typeface="Cambria Math" panose="02040503050406030204" pitchFamily="18" charset="0"/>
                            <a:ea typeface="Calibri" panose="020F0502020204030204" pitchFamily="34" charset="0"/>
                            <a:cs typeface="Times New Roman" panose="02020603050405020304" pitchFamily="18" charset="0"/>
                          </a:rPr>
                          <m:t>1</m:t>
                        </m:r>
                      </m:sub>
                    </m:sSub>
                    <m:r>
                      <a:rPr lang="en-IN" sz="2400" i="1">
                        <a:latin typeface="Cambria Math" panose="02040503050406030204" pitchFamily="18" charset="0"/>
                        <a:ea typeface="Calibri" panose="020F0502020204030204" pitchFamily="34" charset="0"/>
                        <a:cs typeface="Times New Roman" panose="02020603050405020304" pitchFamily="18" charset="0"/>
                      </a:rPr>
                      <m:t>+</m:t>
                    </m:r>
                    <m:sSub>
                      <m:sSubPr>
                        <m:ctrlPr>
                          <a:rPr lang="en-IN" sz="2400" i="1">
                            <a:latin typeface="Cambria Math" panose="02040503050406030204" pitchFamily="18" charset="0"/>
                            <a:ea typeface="Calibri" panose="020F0502020204030204" pitchFamily="34" charset="0"/>
                            <a:cs typeface="Times New Roman" panose="02020603050405020304" pitchFamily="18" charset="0"/>
                          </a:rPr>
                        </m:ctrlPr>
                      </m:sSubPr>
                      <m:e>
                        <m:r>
                          <a:rPr lang="en-IN" sz="2400" i="1">
                            <a:latin typeface="Cambria Math" panose="02040503050406030204" pitchFamily="18" charset="0"/>
                            <a:ea typeface="Calibri" panose="020F0502020204030204" pitchFamily="34" charset="0"/>
                            <a:cs typeface="Times New Roman" panose="02020603050405020304" pitchFamily="18" charset="0"/>
                          </a:rPr>
                          <m:t>𝑛</m:t>
                        </m:r>
                      </m:e>
                      <m:sub>
                        <m:r>
                          <a:rPr lang="en-IN" sz="2400" i="1">
                            <a:latin typeface="Cambria Math" panose="02040503050406030204" pitchFamily="18" charset="0"/>
                            <a:ea typeface="Calibri" panose="020F0502020204030204" pitchFamily="34" charset="0"/>
                            <a:cs typeface="Times New Roman" panose="02020603050405020304" pitchFamily="18" charset="0"/>
                          </a:rPr>
                          <m:t>2</m:t>
                        </m:r>
                      </m:sub>
                    </m:sSub>
                    <m:r>
                      <a:rPr lang="en-IN" sz="2400" i="1">
                        <a:latin typeface="Cambria Math" panose="02040503050406030204" pitchFamily="18" charset="0"/>
                        <a:ea typeface="Calibri" panose="020F0502020204030204" pitchFamily="34" charset="0"/>
                        <a:cs typeface="Times New Roman" panose="02020603050405020304" pitchFamily="18" charset="0"/>
                      </a:rPr>
                      <m:t>+ </m:t>
                    </m:r>
                    <m:sSub>
                      <m:sSubPr>
                        <m:ctrlPr>
                          <a:rPr lang="en-IN" sz="2400" i="1">
                            <a:latin typeface="Cambria Math" panose="02040503050406030204" pitchFamily="18" charset="0"/>
                            <a:ea typeface="Calibri" panose="020F0502020204030204" pitchFamily="34" charset="0"/>
                            <a:cs typeface="Times New Roman" panose="02020603050405020304" pitchFamily="18" charset="0"/>
                          </a:rPr>
                        </m:ctrlPr>
                      </m:sSubPr>
                      <m:e>
                        <m:r>
                          <a:rPr lang="en-IN" sz="2400" i="1">
                            <a:latin typeface="Cambria Math" panose="02040503050406030204" pitchFamily="18" charset="0"/>
                            <a:ea typeface="Calibri" panose="020F0502020204030204" pitchFamily="34" charset="0"/>
                            <a:cs typeface="Times New Roman" panose="02020603050405020304" pitchFamily="18" charset="0"/>
                          </a:rPr>
                          <m:t>𝑛</m:t>
                        </m:r>
                      </m:e>
                      <m:sub>
                        <m:r>
                          <a:rPr lang="en-IN" sz="2400" i="1">
                            <a:latin typeface="Cambria Math" panose="02040503050406030204" pitchFamily="18" charset="0"/>
                            <a:ea typeface="Calibri" panose="020F0502020204030204" pitchFamily="34" charset="0"/>
                            <a:cs typeface="Times New Roman" panose="02020603050405020304" pitchFamily="18" charset="0"/>
                          </a:rPr>
                          <m:t>3</m:t>
                        </m:r>
                      </m:sub>
                    </m:sSub>
                    <m:r>
                      <a:rPr lang="en-IN" sz="2400" i="1">
                        <a:latin typeface="Cambria Math" panose="02040503050406030204" pitchFamily="18" charset="0"/>
                        <a:ea typeface="Calibri" panose="020F0502020204030204" pitchFamily="34" charset="0"/>
                        <a:cs typeface="Times New Roman" panose="02020603050405020304" pitchFamily="18" charset="0"/>
                      </a:rPr>
                      <m:t>+ </m:t>
                    </m:r>
                    <m:sSub>
                      <m:sSubPr>
                        <m:ctrlPr>
                          <a:rPr lang="en-IN" sz="2400" i="1">
                            <a:latin typeface="Cambria Math" panose="02040503050406030204" pitchFamily="18" charset="0"/>
                            <a:ea typeface="Calibri" panose="020F0502020204030204" pitchFamily="34" charset="0"/>
                            <a:cs typeface="Times New Roman" panose="02020603050405020304" pitchFamily="18" charset="0"/>
                          </a:rPr>
                        </m:ctrlPr>
                      </m:sSubPr>
                      <m:e>
                        <m:r>
                          <a:rPr lang="en-IN" sz="2400" i="1">
                            <a:latin typeface="Cambria Math" panose="02040503050406030204" pitchFamily="18" charset="0"/>
                            <a:ea typeface="Calibri" panose="020F0502020204030204" pitchFamily="34" charset="0"/>
                            <a:cs typeface="Times New Roman" panose="02020603050405020304" pitchFamily="18" charset="0"/>
                          </a:rPr>
                          <m:t>𝑛</m:t>
                        </m:r>
                      </m:e>
                      <m:sub>
                        <m:r>
                          <a:rPr lang="en-IN" sz="2400" i="1">
                            <a:latin typeface="Cambria Math" panose="02040503050406030204" pitchFamily="18" charset="0"/>
                            <a:ea typeface="Calibri" panose="020F0502020204030204" pitchFamily="34" charset="0"/>
                            <a:cs typeface="Times New Roman" panose="02020603050405020304" pitchFamily="18" charset="0"/>
                          </a:rPr>
                          <m:t>4</m:t>
                        </m:r>
                      </m:sub>
                    </m:sSub>
                    <m:r>
                      <a:rPr lang="en-IN" sz="2400" i="1">
                        <a:latin typeface="Cambria Math" panose="02040503050406030204" pitchFamily="18" charset="0"/>
                        <a:ea typeface="Calibri" panose="020F0502020204030204" pitchFamily="34" charset="0"/>
                        <a:cs typeface="Times New Roman" panose="02020603050405020304" pitchFamily="18" charset="0"/>
                      </a:rPr>
                      <m:t> </m:t>
                    </m:r>
                  </m:oMath>
                </a14:m>
                <a:r>
                  <a:rPr lang="en-IN" dirty="0">
                    <a:latin typeface="Times New Roman" panose="02020603050405020304" pitchFamily="18" charset="0"/>
                    <a:ea typeface="Times New Roman" panose="02020603050405020304" pitchFamily="18" charset="0"/>
                    <a:cs typeface="Times New Roman" panose="02020603050405020304" pitchFamily="18" charset="0"/>
                  </a:rPr>
                  <a:t> </a:t>
                </a:r>
                <a:endParaRPr lang="en-IN" dirty="0">
                  <a:latin typeface="Times New Roman" panose="02020603050405020304" pitchFamily="18" charset="0"/>
                  <a:ea typeface="Calibri" panose="020F0502020204030204" pitchFamily="34" charset="0"/>
                  <a:cs typeface="Times New Roman" panose="02020603050405020304" pitchFamily="18" charset="0"/>
                </a:endParaRPr>
              </a:p>
              <a:p>
                <a:endParaRPr lang="en-US" dirty="0"/>
              </a:p>
            </p:txBody>
          </p:sp>
        </mc:Choice>
        <mc:Fallback xmlns="">
          <p:sp>
            <p:nvSpPr>
              <p:cNvPr id="4" name="Text Placeholder 3"/>
              <p:cNvSpPr>
                <a:spLocks noGrp="1" noRot="1" noChangeAspect="1" noMove="1" noResize="1" noEditPoints="1" noAdjustHandles="1" noChangeArrowheads="1" noChangeShapeType="1" noTextEdit="1"/>
              </p:cNvSpPr>
              <p:nvPr>
                <p:ph type="body" sz="quarter" idx="13"/>
              </p:nvPr>
            </p:nvSpPr>
            <p:spPr>
              <a:xfrm>
                <a:off x="444500" y="1625385"/>
                <a:ext cx="10932746" cy="4093243"/>
              </a:xfrm>
              <a:blipFill>
                <a:blip r:embed="rId2"/>
                <a:stretch>
                  <a:fillRect l="-892" t="-1192"/>
                </a:stretch>
              </a:blipFill>
            </p:spPr>
            <p:txBody>
              <a:bodyPr/>
              <a:lstStyle/>
              <a:p>
                <a:r>
                  <a:rPr lang="en-US">
                    <a:noFill/>
                  </a:rPr>
                  <a:t> </a:t>
                </a:r>
              </a:p>
            </p:txBody>
          </p:sp>
        </mc:Fallback>
      </mc:AlternateContent>
      <p:pic>
        <p:nvPicPr>
          <p:cNvPr id="5" name="Picture 4"/>
          <p:cNvPicPr>
            <a:picLocks noChangeAspect="1"/>
          </p:cNvPicPr>
          <p:nvPr/>
        </p:nvPicPr>
        <p:blipFill>
          <a:blip r:embed="rId3"/>
          <a:stretch>
            <a:fillRect/>
          </a:stretch>
        </p:blipFill>
        <p:spPr>
          <a:xfrm>
            <a:off x="765305" y="3857840"/>
            <a:ext cx="8536957" cy="2639797"/>
          </a:xfrm>
          <a:prstGeom prst="rect">
            <a:avLst/>
          </a:prstGeom>
        </p:spPr>
      </p:pic>
    </p:spTree>
    <p:extLst>
      <p:ext uri="{BB962C8B-B14F-4D97-AF65-F5344CB8AC3E}">
        <p14:creationId xmlns:p14="http://schemas.microsoft.com/office/powerpoint/2010/main" val="34767950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263D6C4-4840-40CC-AC84-17E24B3B7BDE}" type="slidenum">
              <a:rPr lang="en-US" noProof="0" smtClean="0"/>
              <a:pPr/>
              <a:t>14</a:t>
            </a:fld>
            <a:endParaRPr lang="en-US" noProof="0" dirty="0"/>
          </a:p>
        </p:txBody>
      </p:sp>
      <p:pic>
        <p:nvPicPr>
          <p:cNvPr id="5" name="Picture 4"/>
          <p:cNvPicPr>
            <a:picLocks noChangeAspect="1"/>
          </p:cNvPicPr>
          <p:nvPr/>
        </p:nvPicPr>
        <p:blipFill>
          <a:blip r:embed="rId2"/>
          <a:stretch>
            <a:fillRect/>
          </a:stretch>
        </p:blipFill>
        <p:spPr>
          <a:xfrm>
            <a:off x="826476" y="448407"/>
            <a:ext cx="7535009" cy="2708031"/>
          </a:xfrm>
          <a:prstGeom prst="rect">
            <a:avLst/>
          </a:prstGeom>
        </p:spPr>
      </p:pic>
      <mc:AlternateContent xmlns:mc="http://schemas.openxmlformats.org/markup-compatibility/2006" xmlns:a14="http://schemas.microsoft.com/office/drawing/2010/main">
        <mc:Choice Requires="a14">
          <p:sp>
            <p:nvSpPr>
              <p:cNvPr id="6" name="Rectangle 5"/>
              <p:cNvSpPr/>
              <p:nvPr/>
            </p:nvSpPr>
            <p:spPr>
              <a:xfrm>
                <a:off x="902676" y="3537904"/>
                <a:ext cx="9604131" cy="2777171"/>
              </a:xfrm>
              <a:prstGeom prst="rect">
                <a:avLst/>
              </a:prstGeom>
            </p:spPr>
            <p:txBody>
              <a:bodyPr wrap="square">
                <a:spAutoFit/>
              </a:bodyPr>
              <a:lstStyle/>
              <a:p>
                <a:r>
                  <a:rPr lang="en-IN" dirty="0">
                    <a:solidFill>
                      <a:schemeClr val="bg1"/>
                    </a:solidFill>
                    <a:latin typeface="Times New Roman" panose="02020603050405020304" pitchFamily="18" charset="0"/>
                    <a:cs typeface="Times New Roman" panose="02020603050405020304" pitchFamily="18" charset="0"/>
                  </a:rPr>
                  <a:t>Mean of the sample Means</a:t>
                </a:r>
              </a:p>
              <a:p>
                <a14:m>
                  <m:oMath xmlns:m="http://schemas.openxmlformats.org/officeDocument/2006/math">
                    <m:bar>
                      <m:barPr>
                        <m:pos m:val="top"/>
                        <m:ctrlP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barPr>
                      <m:e>
                        <m:bar>
                          <m:barPr>
                            <m:pos m:val="top"/>
                            <m:ctrlP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barPr>
                          <m:e>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𝑋</m:t>
                            </m:r>
                          </m:e>
                        </m:bar>
                      </m:e>
                    </m:bar>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m:t>
                    </m:r>
                    <m:f>
                      <m:fPr>
                        <m:ctrlP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ctrlPr>
                          </m:sSubPr>
                          <m:e>
                            <m:bar>
                              <m:barPr>
                                <m:pos m:val="top"/>
                                <m:ctrlP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ctrlPr>
                              </m:barPr>
                              <m:e>
                                <m: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t>𝑋</m:t>
                                </m:r>
                              </m:e>
                            </m:bar>
                          </m:e>
                          <m:sub>
                            <m: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t>1</m:t>
                            </m:r>
                          </m:sub>
                        </m:sSub>
                        <m: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ctrlPr>
                          </m:sSubPr>
                          <m:e>
                            <m:bar>
                              <m:barPr>
                                <m:pos m:val="top"/>
                                <m:ctrlP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ctrlPr>
                              </m:barPr>
                              <m:e>
                                <m: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t>𝑋</m:t>
                                </m:r>
                              </m:e>
                            </m:bar>
                          </m:e>
                          <m:sub>
                            <m: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t>2</m:t>
                            </m:r>
                          </m:sub>
                        </m:sSub>
                        <m: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ctrlPr>
                          </m:sSubPr>
                          <m:e>
                            <m:bar>
                              <m:barPr>
                                <m:pos m:val="top"/>
                                <m:ctrlP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ctrlPr>
                              </m:barPr>
                              <m:e>
                                <m: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t>𝑋</m:t>
                                </m:r>
                              </m:e>
                            </m:bar>
                          </m:e>
                          <m:sub>
                            <m: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t>3</m:t>
                            </m:r>
                          </m:sub>
                        </m:sSub>
                        <m: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ctrlPr>
                          </m:sSubPr>
                          <m:e>
                            <m:bar>
                              <m:barPr>
                                <m:pos m:val="top"/>
                                <m:ctrlP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ctrlPr>
                              </m:barPr>
                              <m:e>
                                <m: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t>𝑋</m:t>
                                </m:r>
                              </m:e>
                            </m:bar>
                          </m:e>
                          <m:sub>
                            <m: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t>4</m:t>
                            </m:r>
                          </m:sub>
                        </m:sSub>
                      </m:num>
                      <m:den>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4</m:t>
                        </m:r>
                      </m:den>
                    </m:f>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=3.6</m:t>
                    </m:r>
                  </m:oMath>
                </a14:m>
                <a:r>
                  <a:rPr lang="en-IN"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IN" dirty="0">
                  <a:solidFill>
                    <a:schemeClr val="bg1"/>
                  </a:solidFill>
                  <a:latin typeface="Times New Roman" panose="02020603050405020304"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𝑆𝑆</m:t>
                          </m:r>
                        </m:e>
                        <m:sub>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𝐵</m:t>
                          </m:r>
                        </m:sub>
                      </m:sSub>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𝑛</m:t>
                          </m:r>
                        </m:e>
                        <m:sub>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1</m:t>
                          </m:r>
                        </m:sub>
                      </m:sSub>
                      <m:sSup>
                        <m:sSupPr>
                          <m:ctrlP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i="1">
                                  <a:solidFill>
                                    <a:schemeClr val="bg1"/>
                                  </a:solidFill>
                                  <a:latin typeface="Cambria Math" panose="02040503050406030204" pitchFamily="18" charset="0"/>
                                  <a:cs typeface="Times New Roman" panose="02020603050405020304" pitchFamily="18" charset="0"/>
                                </a:rPr>
                              </m:ctrlPr>
                            </m:dPr>
                            <m:e>
                              <m:sSub>
                                <m:sSubPr>
                                  <m:ctrlPr>
                                    <a:rPr lang="en-IN" i="1">
                                      <a:solidFill>
                                        <a:schemeClr val="bg1"/>
                                      </a:solidFill>
                                      <a:latin typeface="Cambria Math" panose="02040503050406030204" pitchFamily="18" charset="0"/>
                                      <a:cs typeface="Times New Roman" panose="02020603050405020304" pitchFamily="18" charset="0"/>
                                    </a:rPr>
                                  </m:ctrlPr>
                                </m:sSubPr>
                                <m:e>
                                  <m:bar>
                                    <m:barPr>
                                      <m:pos m:val="top"/>
                                      <m:ctrlPr>
                                        <a:rPr lang="en-IN" i="1">
                                          <a:solidFill>
                                            <a:schemeClr val="bg1"/>
                                          </a:solidFill>
                                          <a:latin typeface="Cambria Math" panose="02040503050406030204" pitchFamily="18" charset="0"/>
                                          <a:cs typeface="Times New Roman" panose="02020603050405020304" pitchFamily="18" charset="0"/>
                                        </a:rPr>
                                      </m:ctrlPr>
                                    </m:barPr>
                                    <m:e>
                                      <m: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t>𝑋</m:t>
                                      </m:r>
                                    </m:e>
                                  </m:bar>
                                </m:e>
                                <m:sub>
                                  <m: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t>1</m:t>
                                  </m:r>
                                </m:sub>
                              </m:sSub>
                              <m: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t>−</m:t>
                              </m:r>
                              <m:bar>
                                <m:barPr>
                                  <m:pos m:val="top"/>
                                  <m:ctrlP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barPr>
                                <m:e>
                                  <m:bar>
                                    <m:barPr>
                                      <m:pos m:val="top"/>
                                      <m:ctrlP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barPr>
                                    <m:e>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𝑋</m:t>
                                      </m:r>
                                    </m:e>
                                  </m:bar>
                                </m:e>
                              </m:bar>
                            </m:e>
                          </m:d>
                        </m:e>
                        <m:sup>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2</m:t>
                          </m:r>
                        </m:sup>
                      </m:sSup>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𝑛</m:t>
                          </m:r>
                        </m:e>
                        <m:sub>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2</m:t>
                          </m:r>
                        </m:sub>
                      </m:sSub>
                      <m:sSup>
                        <m:sSupPr>
                          <m:ctrlP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i="1">
                                  <a:solidFill>
                                    <a:schemeClr val="bg1"/>
                                  </a:solidFill>
                                  <a:latin typeface="Cambria Math" panose="02040503050406030204" pitchFamily="18" charset="0"/>
                                  <a:cs typeface="Times New Roman" panose="02020603050405020304" pitchFamily="18" charset="0"/>
                                </a:rPr>
                              </m:ctrlPr>
                            </m:dPr>
                            <m:e>
                              <m:sSub>
                                <m:sSubPr>
                                  <m:ctrlPr>
                                    <a:rPr lang="en-IN" i="1">
                                      <a:solidFill>
                                        <a:schemeClr val="bg1"/>
                                      </a:solidFill>
                                      <a:latin typeface="Cambria Math" panose="02040503050406030204" pitchFamily="18" charset="0"/>
                                      <a:cs typeface="Times New Roman" panose="02020603050405020304" pitchFamily="18" charset="0"/>
                                    </a:rPr>
                                  </m:ctrlPr>
                                </m:sSubPr>
                                <m:e>
                                  <m:bar>
                                    <m:barPr>
                                      <m:pos m:val="top"/>
                                      <m:ctrlPr>
                                        <a:rPr lang="en-IN" i="1">
                                          <a:solidFill>
                                            <a:schemeClr val="bg1"/>
                                          </a:solidFill>
                                          <a:latin typeface="Cambria Math" panose="02040503050406030204" pitchFamily="18" charset="0"/>
                                          <a:cs typeface="Times New Roman" panose="02020603050405020304" pitchFamily="18" charset="0"/>
                                        </a:rPr>
                                      </m:ctrlPr>
                                    </m:barPr>
                                    <m:e>
                                      <m: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t>𝑋</m:t>
                                      </m:r>
                                    </m:e>
                                  </m:bar>
                                </m:e>
                                <m:sub>
                                  <m: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t>2</m:t>
                                  </m:r>
                                </m:sub>
                              </m:sSub>
                              <m: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t>−</m:t>
                              </m:r>
                              <m:bar>
                                <m:barPr>
                                  <m:pos m:val="top"/>
                                  <m:ctrlP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barPr>
                                <m:e>
                                  <m:bar>
                                    <m:barPr>
                                      <m:pos m:val="top"/>
                                      <m:ctrlP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barPr>
                                    <m:e>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𝑋</m:t>
                                      </m:r>
                                    </m:e>
                                  </m:bar>
                                </m:e>
                              </m:bar>
                            </m:e>
                          </m:d>
                        </m:e>
                        <m:sup>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2</m:t>
                          </m:r>
                        </m:sup>
                      </m:sSup>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𝑛</m:t>
                          </m:r>
                        </m:e>
                        <m:sub>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3</m:t>
                          </m:r>
                        </m:sub>
                      </m:sSub>
                      <m:sSup>
                        <m:sSupPr>
                          <m:ctrlP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i="1">
                                  <a:solidFill>
                                    <a:schemeClr val="bg1"/>
                                  </a:solidFill>
                                  <a:latin typeface="Cambria Math" panose="02040503050406030204" pitchFamily="18" charset="0"/>
                                  <a:cs typeface="Times New Roman" panose="02020603050405020304" pitchFamily="18" charset="0"/>
                                </a:rPr>
                              </m:ctrlPr>
                            </m:dPr>
                            <m:e>
                              <m:sSub>
                                <m:sSubPr>
                                  <m:ctrlPr>
                                    <a:rPr lang="en-IN" i="1">
                                      <a:solidFill>
                                        <a:schemeClr val="bg1"/>
                                      </a:solidFill>
                                      <a:latin typeface="Cambria Math" panose="02040503050406030204" pitchFamily="18" charset="0"/>
                                      <a:cs typeface="Times New Roman" panose="02020603050405020304" pitchFamily="18" charset="0"/>
                                    </a:rPr>
                                  </m:ctrlPr>
                                </m:sSubPr>
                                <m:e>
                                  <m:bar>
                                    <m:barPr>
                                      <m:pos m:val="top"/>
                                      <m:ctrlPr>
                                        <a:rPr lang="en-IN" i="1">
                                          <a:solidFill>
                                            <a:schemeClr val="bg1"/>
                                          </a:solidFill>
                                          <a:latin typeface="Cambria Math" panose="02040503050406030204" pitchFamily="18" charset="0"/>
                                          <a:cs typeface="Times New Roman" panose="02020603050405020304" pitchFamily="18" charset="0"/>
                                        </a:rPr>
                                      </m:ctrlPr>
                                    </m:barPr>
                                    <m:e>
                                      <m: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t>𝑋</m:t>
                                      </m:r>
                                    </m:e>
                                  </m:bar>
                                </m:e>
                                <m:sub>
                                  <m: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t>3</m:t>
                                  </m:r>
                                </m:sub>
                              </m:sSub>
                              <m: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t>−</m:t>
                              </m:r>
                              <m:bar>
                                <m:barPr>
                                  <m:pos m:val="top"/>
                                  <m:ctrlP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barPr>
                                <m:e>
                                  <m:bar>
                                    <m:barPr>
                                      <m:pos m:val="top"/>
                                      <m:ctrlP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barPr>
                                    <m:e>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𝑋</m:t>
                                      </m:r>
                                    </m:e>
                                  </m:bar>
                                </m:e>
                              </m:bar>
                            </m:e>
                          </m:d>
                        </m:e>
                        <m:sup>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2</m:t>
                          </m:r>
                        </m:sup>
                      </m:sSup>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𝑛</m:t>
                          </m:r>
                        </m:e>
                        <m:sub>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4</m:t>
                          </m:r>
                        </m:sub>
                      </m:sSub>
                      <m:sSup>
                        <m:sSupPr>
                          <m:ctrlP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i="1">
                                  <a:solidFill>
                                    <a:schemeClr val="bg1"/>
                                  </a:solidFill>
                                  <a:latin typeface="Cambria Math" panose="02040503050406030204" pitchFamily="18" charset="0"/>
                                  <a:cs typeface="Times New Roman" panose="02020603050405020304" pitchFamily="18" charset="0"/>
                                </a:rPr>
                              </m:ctrlPr>
                            </m:dPr>
                            <m:e>
                              <m:sSub>
                                <m:sSubPr>
                                  <m:ctrlPr>
                                    <a:rPr lang="en-IN" i="1">
                                      <a:solidFill>
                                        <a:schemeClr val="bg1"/>
                                      </a:solidFill>
                                      <a:latin typeface="Cambria Math" panose="02040503050406030204" pitchFamily="18" charset="0"/>
                                      <a:cs typeface="Times New Roman" panose="02020603050405020304" pitchFamily="18" charset="0"/>
                                    </a:rPr>
                                  </m:ctrlPr>
                                </m:sSubPr>
                                <m:e>
                                  <m:bar>
                                    <m:barPr>
                                      <m:pos m:val="top"/>
                                      <m:ctrlPr>
                                        <a:rPr lang="en-IN" i="1">
                                          <a:solidFill>
                                            <a:schemeClr val="bg1"/>
                                          </a:solidFill>
                                          <a:latin typeface="Cambria Math" panose="02040503050406030204" pitchFamily="18" charset="0"/>
                                          <a:cs typeface="Times New Roman" panose="02020603050405020304" pitchFamily="18" charset="0"/>
                                        </a:rPr>
                                      </m:ctrlPr>
                                    </m:barPr>
                                    <m:e>
                                      <m: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t>𝑋</m:t>
                                      </m:r>
                                    </m:e>
                                  </m:bar>
                                </m:e>
                                <m:sub>
                                  <m: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t>4</m:t>
                                  </m:r>
                                </m:sub>
                              </m:sSub>
                              <m: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t>−</m:t>
                              </m:r>
                              <m:bar>
                                <m:barPr>
                                  <m:pos m:val="top"/>
                                  <m:ctrlP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barPr>
                                <m:e>
                                  <m:bar>
                                    <m:barPr>
                                      <m:pos m:val="top"/>
                                      <m:ctrlP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barPr>
                                    <m:e>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𝑋</m:t>
                                      </m:r>
                                    </m:e>
                                  </m:bar>
                                </m:e>
                              </m:bar>
                            </m:e>
                          </m:d>
                        </m:e>
                        <m:sup>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2</m:t>
                          </m:r>
                        </m:sup>
                      </m:sSup>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=75.8 </m:t>
                      </m:r>
                    </m:oMath>
                  </m:oMathPara>
                </a14:m>
                <a:endParaRPr lang="en-IN"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𝑆𝑆</m:t>
                          </m:r>
                        </m:e>
                        <m:sub>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𝑤</m:t>
                          </m:r>
                        </m:sub>
                      </m:sSub>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m:t>
                      </m:r>
                      <m:nary>
                        <m:naryPr>
                          <m:chr m:val="∑"/>
                          <m:limLoc m:val="undOvr"/>
                          <m:subHide m:val="on"/>
                          <m:supHide m:val="on"/>
                          <m:ctrlP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naryPr>
                        <m:sub/>
                        <m:sup/>
                        <m:e>
                          <m:sSup>
                            <m:sSupPr>
                              <m:ctrlP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ctrlPr>
                                    </m:sSubPr>
                                    <m:e>
                                      <m:bar>
                                        <m:barPr>
                                          <m:pos m:val="top"/>
                                          <m:ctrlP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ctrlPr>
                                        </m:barPr>
                                        <m:e>
                                          <m: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t>𝑋</m:t>
                                          </m:r>
                                        </m:e>
                                      </m:bar>
                                    </m:e>
                                    <m:sub>
                                      <m: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t>1</m:t>
                                      </m:r>
                                      <m: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t>𝑖</m:t>
                                      </m:r>
                                    </m:sub>
                                  </m:sSub>
                                  <m: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sSubPr>
                                    <m:e>
                                      <m:bar>
                                        <m:barPr>
                                          <m:pos m:val="top"/>
                                          <m:ctrlP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barPr>
                                        <m:e>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𝑋</m:t>
                                          </m:r>
                                        </m:e>
                                      </m:bar>
                                    </m:e>
                                    <m:sub>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1</m:t>
                                      </m:r>
                                    </m:sub>
                                  </m:sSub>
                                </m:e>
                              </m:d>
                            </m:e>
                            <m:sup>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2</m:t>
                              </m:r>
                            </m:sup>
                          </m:sSup>
                        </m:e>
                      </m:nary>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m:t>
                      </m:r>
                      <m:nary>
                        <m:naryPr>
                          <m:chr m:val="∑"/>
                          <m:limLoc m:val="undOvr"/>
                          <m:subHide m:val="on"/>
                          <m:supHide m:val="on"/>
                          <m:ctrlP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naryPr>
                        <m:sub/>
                        <m:sup/>
                        <m:e>
                          <m:sSup>
                            <m:sSupPr>
                              <m:ctrlP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ctrlPr>
                                    </m:sSubPr>
                                    <m:e>
                                      <m:bar>
                                        <m:barPr>
                                          <m:pos m:val="top"/>
                                          <m:ctrlP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ctrlPr>
                                        </m:barPr>
                                        <m:e>
                                          <m: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t>𝑋</m:t>
                                          </m:r>
                                        </m:e>
                                      </m:bar>
                                    </m:e>
                                    <m:sub>
                                      <m: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t>2</m:t>
                                      </m:r>
                                      <m: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t>𝑖</m:t>
                                      </m:r>
                                    </m:sub>
                                  </m:sSub>
                                  <m: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sSubPr>
                                    <m:e>
                                      <m:bar>
                                        <m:barPr>
                                          <m:pos m:val="top"/>
                                          <m:ctrlP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barPr>
                                        <m:e>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𝑋</m:t>
                                          </m:r>
                                        </m:e>
                                      </m:bar>
                                    </m:e>
                                    <m:sub>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2</m:t>
                                      </m:r>
                                    </m:sub>
                                  </m:sSub>
                                </m:e>
                              </m:d>
                            </m:e>
                            <m:sup>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2</m:t>
                              </m:r>
                            </m:sup>
                          </m:sSup>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m:t>
                          </m:r>
                          <m:nary>
                            <m:naryPr>
                              <m:chr m:val="∑"/>
                              <m:limLoc m:val="undOvr"/>
                              <m:subHide m:val="on"/>
                              <m:supHide m:val="on"/>
                              <m:ctrlP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naryPr>
                            <m:sub/>
                            <m:sup/>
                            <m:e>
                              <m:sSup>
                                <m:sSupPr>
                                  <m:ctrlP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ctrlPr>
                                        </m:sSubPr>
                                        <m:e>
                                          <m:bar>
                                            <m:barPr>
                                              <m:pos m:val="top"/>
                                              <m:ctrlP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ctrlPr>
                                            </m:barPr>
                                            <m:e>
                                              <m: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t>𝑋</m:t>
                                              </m:r>
                                            </m:e>
                                          </m:bar>
                                        </m:e>
                                        <m:sub>
                                          <m: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t>3</m:t>
                                          </m:r>
                                          <m: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t>𝑖</m:t>
                                          </m:r>
                                        </m:sub>
                                      </m:sSub>
                                      <m: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sSubPr>
                                        <m:e>
                                          <m:bar>
                                            <m:barPr>
                                              <m:pos m:val="top"/>
                                              <m:ctrlP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barPr>
                                            <m:e>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𝑋</m:t>
                                              </m:r>
                                            </m:e>
                                          </m:bar>
                                        </m:e>
                                        <m:sub>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3</m:t>
                                          </m:r>
                                        </m:sub>
                                      </m:sSub>
                                    </m:e>
                                  </m:d>
                                </m:e>
                                <m:sup>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2</m:t>
                                  </m:r>
                                </m:sup>
                              </m:sSup>
                            </m:e>
                          </m:nary>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m:t>
                          </m:r>
                          <m:nary>
                            <m:naryPr>
                              <m:chr m:val="∑"/>
                              <m:limLoc m:val="undOvr"/>
                              <m:subHide m:val="on"/>
                              <m:supHide m:val="on"/>
                              <m:ctrlP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naryPr>
                            <m:sub/>
                            <m:sup/>
                            <m:e>
                              <m:sSup>
                                <m:sSupPr>
                                  <m:ctrlP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ctrlPr>
                                        </m:sSubPr>
                                        <m:e>
                                          <m:bar>
                                            <m:barPr>
                                              <m:pos m:val="top"/>
                                              <m:ctrlP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ctrlPr>
                                            </m:barPr>
                                            <m:e>
                                              <m: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t>𝑋</m:t>
                                              </m:r>
                                            </m:e>
                                          </m:bar>
                                        </m:e>
                                        <m:sub>
                                          <m: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t>4</m:t>
                                          </m:r>
                                          <m: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t>𝑖</m:t>
                                          </m:r>
                                        </m:sub>
                                      </m:sSub>
                                      <m:r>
                                        <a:rPr lang="en-IN" i="1">
                                          <a:solidFill>
                                            <a:schemeClr val="bg1"/>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sSubPr>
                                        <m:e>
                                          <m:bar>
                                            <m:barPr>
                                              <m:pos m:val="top"/>
                                              <m:ctrlP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barPr>
                                            <m:e>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𝑋</m:t>
                                              </m:r>
                                            </m:e>
                                          </m:bar>
                                        </m:e>
                                        <m:sub>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4</m:t>
                                          </m:r>
                                        </m:sub>
                                      </m:sSub>
                                    </m:e>
                                  </m:d>
                                </m:e>
                                <m:sup>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2</m:t>
                                  </m:r>
                                </m:sup>
                              </m:sSup>
                            </m:e>
                          </m:nary>
                        </m:e>
                      </m:nary>
                    </m:oMath>
                  </m:oMathPara>
                </a14:m>
                <a:endParaRPr lang="en-IN" dirty="0">
                  <a:solidFill>
                    <a:schemeClr val="bg1"/>
                  </a:solidFill>
                  <a:latin typeface="Times New Roman" panose="02020603050405020304" pitchFamily="18" charset="0"/>
                  <a:ea typeface="Calibri" panose="020F0502020204030204" pitchFamily="34" charset="0"/>
                  <a:cs typeface="Times New Roman" panose="02020603050405020304" pitchFamily="18" charset="0"/>
                </a:endParaRPr>
              </a:p>
              <a:p>
                <a:pPr indent="0">
                  <a:lnSpc>
                    <a:spcPct val="107000"/>
                  </a:lnSpc>
                  <a:spcAft>
                    <a:spcPts val="800"/>
                  </a:spcAft>
                  <a:buNone/>
                </a:pPr>
                <a14:m>
                  <m:oMath xmlns:m="http://schemas.openxmlformats.org/officeDocument/2006/math">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=21.2+10+5.2+10.6=47</m:t>
                    </m:r>
                  </m:oMath>
                </a14:m>
                <a:r>
                  <a:rPr lang="en-IN"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IN" dirty="0">
                  <a:solidFill>
                    <a:schemeClr val="bg1"/>
                  </a:solidFill>
                  <a:latin typeface="Times New Roman" panose="02020603050405020304" pitchFamily="18" charset="0"/>
                  <a:ea typeface="Calibri" panose="020F0502020204030204" pitchFamily="34" charset="0"/>
                  <a:cs typeface="Times New Roman" panose="02020603050405020304" pitchFamily="18" charset="0"/>
                </a:endParaRPr>
              </a:p>
              <a:p>
                <a:pPr marL="114300" indent="0">
                  <a:lnSpc>
                    <a:spcPct val="107000"/>
                  </a:lnSpc>
                  <a:buNone/>
                </a:pPr>
                <a14:m>
                  <m:oMath xmlns:m="http://schemas.openxmlformats.org/officeDocument/2006/math">
                    <m:sSub>
                      <m:sSubPr>
                        <m:ctrlP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𝑆𝑆</m:t>
                        </m:r>
                      </m:e>
                      <m:sub>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𝑇</m:t>
                        </m:r>
                      </m:sub>
                    </m:sSub>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𝑆𝑆</m:t>
                        </m:r>
                      </m:e>
                      <m:sub>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𝐵</m:t>
                        </m:r>
                      </m:sub>
                    </m:sSub>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𝑆𝑆</m:t>
                        </m:r>
                      </m:e>
                      <m:sub>
                        <m:r>
                          <a:rPr lang="en-IN"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𝑤</m:t>
                        </m:r>
                      </m:sub>
                    </m:sSub>
                  </m:oMath>
                </a14:m>
                <a:r>
                  <a:rPr lang="en-IN"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IN" dirty="0">
                  <a:solidFill>
                    <a:schemeClr val="bg1"/>
                  </a:solidFill>
                  <a:latin typeface="Times New Roman" panose="02020603050405020304" pitchFamily="18" charset="0"/>
                  <a:ea typeface="Calibri" panose="020F0502020204030204" pitchFamily="34" charset="0"/>
                  <a:cs typeface="Times New Roman" panose="02020603050405020304" pitchFamily="18" charset="0"/>
                </a:endParaRPr>
              </a:p>
            </p:txBody>
          </p:sp>
        </mc:Choice>
        <mc:Fallback xmlns="">
          <p:sp>
            <p:nvSpPr>
              <p:cNvPr id="6" name="Rectangle 5"/>
              <p:cNvSpPr>
                <a:spLocks noRot="1" noChangeAspect="1" noMove="1" noResize="1" noEditPoints="1" noAdjustHandles="1" noChangeArrowheads="1" noChangeShapeType="1" noTextEdit="1"/>
              </p:cNvSpPr>
              <p:nvPr/>
            </p:nvSpPr>
            <p:spPr>
              <a:xfrm>
                <a:off x="902676" y="3537904"/>
                <a:ext cx="9604131" cy="2777171"/>
              </a:xfrm>
              <a:prstGeom prst="rect">
                <a:avLst/>
              </a:prstGeom>
              <a:blipFill>
                <a:blip r:embed="rId3"/>
                <a:stretch>
                  <a:fillRect l="-508" t="-1096"/>
                </a:stretch>
              </a:blipFill>
            </p:spPr>
            <p:txBody>
              <a:bodyPr/>
              <a:lstStyle/>
              <a:p>
                <a:r>
                  <a:rPr lang="en-US">
                    <a:noFill/>
                  </a:rPr>
                  <a:t> </a:t>
                </a:r>
              </a:p>
            </p:txBody>
          </p:sp>
        </mc:Fallback>
      </mc:AlternateContent>
    </p:spTree>
    <p:extLst>
      <p:ext uri="{BB962C8B-B14F-4D97-AF65-F5344CB8AC3E}">
        <p14:creationId xmlns:p14="http://schemas.microsoft.com/office/powerpoint/2010/main" val="28682192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263D6C4-4840-40CC-AC84-17E24B3B7BDE}" type="slidenum">
              <a:rPr lang="en-US" noProof="0" smtClean="0"/>
              <a:pPr/>
              <a:t>15</a:t>
            </a:fld>
            <a:endParaRPr lang="en-US" noProof="0" dirty="0"/>
          </a:p>
        </p:txBody>
      </p:sp>
      <p:pic>
        <p:nvPicPr>
          <p:cNvPr id="5" name="Picture 4"/>
          <p:cNvPicPr>
            <a:picLocks noChangeAspect="1"/>
          </p:cNvPicPr>
          <p:nvPr/>
        </p:nvPicPr>
        <p:blipFill>
          <a:blip r:embed="rId2"/>
          <a:stretch>
            <a:fillRect/>
          </a:stretch>
        </p:blipFill>
        <p:spPr>
          <a:xfrm>
            <a:off x="571501" y="386862"/>
            <a:ext cx="6348046" cy="2672862"/>
          </a:xfrm>
          <a:prstGeom prst="rect">
            <a:avLst/>
          </a:prstGeom>
        </p:spPr>
      </p:pic>
      <mc:AlternateContent xmlns:mc="http://schemas.openxmlformats.org/markup-compatibility/2006" xmlns:a14="http://schemas.microsoft.com/office/drawing/2010/main">
        <mc:Choice Requires="a14">
          <p:sp>
            <p:nvSpPr>
              <p:cNvPr id="6" name="Rectangle 5"/>
              <p:cNvSpPr/>
              <p:nvPr/>
            </p:nvSpPr>
            <p:spPr>
              <a:xfrm>
                <a:off x="920261" y="3463985"/>
                <a:ext cx="8883161" cy="2375971"/>
              </a:xfrm>
              <a:prstGeom prst="rect">
                <a:avLst/>
              </a:prstGeom>
            </p:spPr>
            <p:txBody>
              <a:bodyPr wrap="square">
                <a:spAutoFit/>
              </a:bodyPr>
              <a:lstStyle/>
              <a:p>
                <a:pPr>
                  <a:lnSpc>
                    <a:spcPct val="107000"/>
                  </a:lnSpc>
                  <a:spcAft>
                    <a:spcPts val="800"/>
                  </a:spcAft>
                </a:pPr>
                <a:r>
                  <a:rPr lang="en-IN" sz="2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At a 5% significance level,</a:t>
                </a:r>
                <a:endParaRPr lang="en-IN" sz="2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IN" sz="2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Table value </a:t>
                </a:r>
                <a14:m>
                  <m:oMath xmlns:m="http://schemas.openxmlformats.org/officeDocument/2006/math">
                    <m:sSub>
                      <m:sSubPr>
                        <m:ctrlPr>
                          <a:rPr lang="en-IN" sz="2400"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IN" sz="2400"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𝐹</m:t>
                        </m:r>
                      </m:e>
                      <m:sub>
                        <m:r>
                          <a:rPr lang="en-IN" sz="2400"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0.05</m:t>
                        </m:r>
                      </m:sub>
                    </m:sSub>
                    <m:d>
                      <m:dPr>
                        <m:ctrlPr>
                          <a:rPr lang="en-IN" sz="2400"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dPr>
                      <m:e>
                        <m:r>
                          <a:rPr lang="en-IN" sz="2400"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3, 16</m:t>
                        </m:r>
                      </m:e>
                    </m:d>
                    <m:r>
                      <a:rPr lang="en-IN" sz="2400"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=3.2</m:t>
                    </m:r>
                    <m:r>
                      <a:rPr lang="en-US" sz="2400" b="0" i="1" smtClean="0">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3</m:t>
                    </m:r>
                  </m:oMath>
                </a14:m>
                <a:endParaRPr lang="en-IN" sz="2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IN" sz="2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Here </a:t>
                </a:r>
                <a14:m>
                  <m:oMath xmlns:m="http://schemas.openxmlformats.org/officeDocument/2006/math">
                    <m:r>
                      <a:rPr lang="en-IN" sz="2400"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𝐹</m:t>
                    </m:r>
                    <m:r>
                      <a:rPr lang="en-IN" sz="2400"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 </m:t>
                    </m:r>
                  </m:oMath>
                </a14:m>
                <a:r>
                  <a:rPr lang="en-IN" sz="2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&gt; </a:t>
                </a:r>
                <a14:m>
                  <m:oMath xmlns:m="http://schemas.openxmlformats.org/officeDocument/2006/math">
                    <m:sSub>
                      <m:sSubPr>
                        <m:ctrlPr>
                          <a:rPr lang="en-IN" sz="2400"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IN" sz="2400"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𝐹</m:t>
                        </m:r>
                      </m:e>
                      <m:sub>
                        <m:r>
                          <a:rPr lang="en-IN" sz="2400"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0.05</m:t>
                        </m:r>
                      </m:sub>
                    </m:sSub>
                    <m:r>
                      <a:rPr lang="en-IN" sz="2400"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(3, 16)</m:t>
                    </m:r>
                  </m:oMath>
                </a14:m>
                <a:r>
                  <a:rPr lang="en-IN" sz="2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reject </a:t>
                </a:r>
                <a14:m>
                  <m:oMath xmlns:m="http://schemas.openxmlformats.org/officeDocument/2006/math">
                    <m:sSub>
                      <m:sSubPr>
                        <m:ctrlPr>
                          <a:rPr lang="en-IN" sz="2400"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ctrlPr>
                      </m:sSubPr>
                      <m:e>
                        <m:r>
                          <a:rPr lang="en-IN" sz="2400"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𝐻</m:t>
                        </m:r>
                      </m:e>
                      <m:sub>
                        <m:r>
                          <a:rPr lang="en-IN" sz="2400" i="1">
                            <a:solidFill>
                              <a:schemeClr val="bg1"/>
                            </a:solidFill>
                            <a:latin typeface="Cambria Math" panose="02040503050406030204" pitchFamily="18" charset="0"/>
                            <a:ea typeface="Times New Roman" panose="02020603050405020304" pitchFamily="18" charset="0"/>
                            <a:cs typeface="Times New Roman" panose="02020603050405020304" pitchFamily="18" charset="0"/>
                          </a:rPr>
                          <m:t>0</m:t>
                        </m:r>
                      </m:sub>
                    </m:sSub>
                  </m:oMath>
                </a14:m>
                <a:endParaRPr lang="en-IN" sz="2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n-IN" sz="2400"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i</a:t>
                </a:r>
                <a:r>
                  <a:rPr lang="en-IN" sz="2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e, </a:t>
                </a:r>
                <a:r>
                  <a:rPr lang="en-IN" sz="2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there is a significant difference in the mean weight loss among the four diets</a:t>
                </a:r>
              </a:p>
            </p:txBody>
          </p:sp>
        </mc:Choice>
        <mc:Fallback xmlns="">
          <p:sp>
            <p:nvSpPr>
              <p:cNvPr id="6" name="Rectangle 5"/>
              <p:cNvSpPr>
                <a:spLocks noRot="1" noChangeAspect="1" noMove="1" noResize="1" noEditPoints="1" noAdjustHandles="1" noChangeArrowheads="1" noChangeShapeType="1" noTextEdit="1"/>
              </p:cNvSpPr>
              <p:nvPr/>
            </p:nvSpPr>
            <p:spPr>
              <a:xfrm>
                <a:off x="920261" y="3463985"/>
                <a:ext cx="8883161" cy="2375971"/>
              </a:xfrm>
              <a:prstGeom prst="rect">
                <a:avLst/>
              </a:prstGeom>
              <a:blipFill>
                <a:blip r:embed="rId3"/>
                <a:stretch>
                  <a:fillRect l="-1098" t="-2051" r="-686" b="-3846"/>
                </a:stretch>
              </a:blipFill>
            </p:spPr>
            <p:txBody>
              <a:bodyPr/>
              <a:lstStyle/>
              <a:p>
                <a:r>
                  <a:rPr lang="en-US">
                    <a:noFill/>
                  </a:rPr>
                  <a:t> </a:t>
                </a:r>
              </a:p>
            </p:txBody>
          </p:sp>
        </mc:Fallback>
      </mc:AlternateContent>
    </p:spTree>
    <p:extLst>
      <p:ext uri="{BB962C8B-B14F-4D97-AF65-F5344CB8AC3E}">
        <p14:creationId xmlns:p14="http://schemas.microsoft.com/office/powerpoint/2010/main" val="35852958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263D6C4-4840-40CC-AC84-17E24B3B7BDE}" type="slidenum">
              <a:rPr lang="en-US" noProof="0" smtClean="0"/>
              <a:pPr/>
              <a:t>16</a:t>
            </a:fld>
            <a:endParaRPr lang="en-US" noProof="0" dirty="0"/>
          </a:p>
        </p:txBody>
      </p:sp>
      <p:pic>
        <p:nvPicPr>
          <p:cNvPr id="5" name="Content Placeholder 6">
            <a:extLst>
              <a:ext uri="{FF2B5EF4-FFF2-40B4-BE49-F238E27FC236}">
                <a16:creationId xmlns:a16="http://schemas.microsoft.com/office/drawing/2014/main" id="{ED88E742-31DC-04A4-BF43-D9FA2472DC83}"/>
              </a:ext>
            </a:extLst>
          </p:cNvPr>
          <p:cNvPicPr>
            <a:picLocks noChangeAspect="1"/>
          </p:cNvPicPr>
          <p:nvPr/>
        </p:nvPicPr>
        <p:blipFill>
          <a:blip r:embed="rId2">
            <a:extLst>
              <a:ext uri="{28A0092B-C50C-407E-A947-70E740481C1C}">
                <a14:useLocalDpi xmlns:a14="http://schemas.microsoft.com/office/drawing/2010/main" val="0"/>
              </a:ext>
            </a:extLst>
          </a:blip>
          <a:srcRect l="-118"/>
          <a:stretch/>
        </p:blipFill>
        <p:spPr>
          <a:xfrm>
            <a:off x="2175030" y="341253"/>
            <a:ext cx="8868610" cy="6326535"/>
          </a:xfrm>
          <a:prstGeom prst="rect">
            <a:avLst/>
          </a:prstGeom>
        </p:spPr>
      </p:pic>
    </p:spTree>
    <p:extLst>
      <p:ext uri="{BB962C8B-B14F-4D97-AF65-F5344CB8AC3E}">
        <p14:creationId xmlns:p14="http://schemas.microsoft.com/office/powerpoint/2010/main" val="17686370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Example</a:t>
            </a:r>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17</a:t>
            </a:fld>
            <a:endParaRPr lang="en-US" noProof="0" dirty="0"/>
          </a:p>
        </p:txBody>
      </p:sp>
      <p:sp>
        <p:nvSpPr>
          <p:cNvPr id="4" name="Text Placeholder 3"/>
          <p:cNvSpPr>
            <a:spLocks noGrp="1"/>
          </p:cNvSpPr>
          <p:nvPr>
            <p:ph type="body" sz="quarter" idx="13"/>
          </p:nvPr>
        </p:nvSpPr>
        <p:spPr>
          <a:xfrm>
            <a:off x="444499" y="1078457"/>
            <a:ext cx="10888785" cy="5366306"/>
          </a:xfrm>
        </p:spPr>
        <p:txBody>
          <a:bodyPr/>
          <a:lstStyle/>
          <a:p>
            <a:r>
              <a:rPr lang="en-IN" sz="2400" dirty="0">
                <a:latin typeface="Times New Roman" panose="02020603050405020304" pitchFamily="18" charset="0"/>
                <a:ea typeface="Times New Roman" panose="02020603050405020304" pitchFamily="18" charset="0"/>
                <a:cs typeface="Times New Roman" panose="02020603050405020304" pitchFamily="18" charset="0"/>
              </a:rPr>
              <a:t>The following data represent the number of units of production per day turned out by 5 different workers using different types of machines</a:t>
            </a:r>
          </a:p>
          <a:p>
            <a:endParaRPr lang="en-US" dirty="0"/>
          </a:p>
        </p:txBody>
      </p:sp>
      <p:pic>
        <p:nvPicPr>
          <p:cNvPr id="6" name="Picture 5"/>
          <p:cNvPicPr>
            <a:picLocks noChangeAspect="1"/>
          </p:cNvPicPr>
          <p:nvPr/>
        </p:nvPicPr>
        <p:blipFill>
          <a:blip r:embed="rId2"/>
          <a:stretch>
            <a:fillRect/>
          </a:stretch>
        </p:blipFill>
        <p:spPr>
          <a:xfrm>
            <a:off x="858716" y="2290073"/>
            <a:ext cx="7431668" cy="2962913"/>
          </a:xfrm>
          <a:prstGeom prst="rect">
            <a:avLst/>
          </a:prstGeom>
        </p:spPr>
      </p:pic>
      <p:sp>
        <p:nvSpPr>
          <p:cNvPr id="7" name="Rectangle 6"/>
          <p:cNvSpPr/>
          <p:nvPr/>
        </p:nvSpPr>
        <p:spPr>
          <a:xfrm>
            <a:off x="858716" y="5534893"/>
            <a:ext cx="9428284" cy="882678"/>
          </a:xfrm>
          <a:prstGeom prst="rect">
            <a:avLst/>
          </a:prstGeom>
        </p:spPr>
        <p:txBody>
          <a:bodyPr wrap="square">
            <a:spAutoFit/>
          </a:bodyPr>
          <a:lstStyle/>
          <a:p>
            <a:pPr lvl="0" algn="just">
              <a:lnSpc>
                <a:spcPct val="107000"/>
              </a:lnSpc>
            </a:pPr>
            <a:r>
              <a:rPr lang="en-IN" sz="2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Test whether the mean productivity is the same for the different machine types and for workers respectively</a:t>
            </a:r>
            <a:endParaRPr lang="en-IN" sz="2400"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104095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263D6C4-4840-40CC-AC84-17E24B3B7BDE}" type="slidenum">
              <a:rPr lang="en-US" noProof="0" smtClean="0"/>
              <a:pPr/>
              <a:t>18</a:t>
            </a:fld>
            <a:endParaRPr lang="en-US" noProof="0" dirty="0"/>
          </a:p>
        </p:txBody>
      </p:sp>
      <mc:AlternateContent xmlns:mc="http://schemas.openxmlformats.org/markup-compatibility/2006" xmlns:a14="http://schemas.microsoft.com/office/drawing/2010/main">
        <mc:Choice Requires="a14">
          <p:sp>
            <p:nvSpPr>
              <p:cNvPr id="4" name="Text Placeholder 3"/>
              <p:cNvSpPr>
                <a:spLocks noGrp="1"/>
              </p:cNvSpPr>
              <p:nvPr>
                <p:ph type="body" sz="quarter" idx="13"/>
              </p:nvPr>
            </p:nvSpPr>
            <p:spPr>
              <a:xfrm>
                <a:off x="646723" y="1019908"/>
                <a:ext cx="7143262" cy="5410897"/>
              </a:xfrm>
            </p:spPr>
            <p:txBody>
              <a:bodyPr/>
              <a:lstStyle/>
              <a:p>
                <a:pPr marL="0" indent="0" algn="just">
                  <a:lnSpc>
                    <a:spcPct val="107000"/>
                  </a:lnSpc>
                  <a:spcAft>
                    <a:spcPts val="800"/>
                  </a:spcAft>
                  <a:buNone/>
                </a:pPr>
                <a:r>
                  <a:rPr lang="en-IN" sz="2400" dirty="0">
                    <a:latin typeface="Times New Roman" panose="02020603050405020304" pitchFamily="18" charset="0"/>
                    <a:ea typeface="Times New Roman" panose="02020603050405020304" pitchFamily="18" charset="0"/>
                    <a:cs typeface="Times New Roman" panose="02020603050405020304" pitchFamily="18" charset="0"/>
                  </a:rPr>
                  <a:t>Let </a:t>
                </a:r>
                <a14:m>
                  <m:oMath xmlns:m="http://schemas.openxmlformats.org/officeDocument/2006/math">
                    <m:sSub>
                      <m:sSubPr>
                        <m:ctrlPr>
                          <a:rPr lang="en-IN"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en-IN" sz="2400" i="1">
                            <a:latin typeface="Cambria Math" panose="02040503050406030204" pitchFamily="18" charset="0"/>
                            <a:ea typeface="Times New Roman" panose="02020603050405020304" pitchFamily="18" charset="0"/>
                            <a:cs typeface="Times New Roman" panose="02020603050405020304" pitchFamily="18" charset="0"/>
                          </a:rPr>
                          <m:t>𝜇</m:t>
                        </m:r>
                      </m:e>
                      <m:sub>
                        <m:r>
                          <a:rPr lang="en-IN" sz="2400" i="1">
                            <a:latin typeface="Cambria Math" panose="02040503050406030204" pitchFamily="18" charset="0"/>
                            <a:ea typeface="Times New Roman" panose="02020603050405020304" pitchFamily="18" charset="0"/>
                            <a:cs typeface="Times New Roman" panose="02020603050405020304" pitchFamily="18" charset="0"/>
                          </a:rPr>
                          <m:t>1</m:t>
                        </m:r>
                      </m:sub>
                    </m:sSub>
                  </m:oMath>
                </a14:m>
                <a:r>
                  <a:rPr lang="en-IN" sz="2400" dirty="0">
                    <a:latin typeface="Times New Roman" panose="02020603050405020304" pitchFamily="18" charset="0"/>
                    <a:ea typeface="Times New Roman" panose="02020603050405020304" pitchFamily="18" charset="0"/>
                    <a:cs typeface="Times New Roman" panose="02020603050405020304" pitchFamily="18" charset="0"/>
                  </a:rPr>
                  <a:t>,</a:t>
                </a:r>
                <a14:m>
                  <m:oMath xmlns:m="http://schemas.openxmlformats.org/officeDocument/2006/math">
                    <m:sSub>
                      <m:sSubPr>
                        <m:ctrlPr>
                          <a:rPr lang="en-IN"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en-IN" sz="2400" i="1">
                            <a:latin typeface="Cambria Math" panose="02040503050406030204" pitchFamily="18" charset="0"/>
                            <a:ea typeface="Times New Roman" panose="02020603050405020304" pitchFamily="18" charset="0"/>
                            <a:cs typeface="Times New Roman" panose="02020603050405020304" pitchFamily="18" charset="0"/>
                          </a:rPr>
                          <m:t>𝜇</m:t>
                        </m:r>
                      </m:e>
                      <m:sub>
                        <m:r>
                          <a:rPr lang="en-IN" sz="2400" i="1">
                            <a:latin typeface="Cambria Math" panose="02040503050406030204" pitchFamily="18" charset="0"/>
                            <a:ea typeface="Times New Roman" panose="02020603050405020304" pitchFamily="18" charset="0"/>
                            <a:cs typeface="Times New Roman" panose="02020603050405020304" pitchFamily="18" charset="0"/>
                          </a:rPr>
                          <m:t>2</m:t>
                        </m:r>
                      </m:sub>
                    </m:sSub>
                    <m:r>
                      <a:rPr lang="en-IN" sz="2400" i="1">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n-IN"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en-IN" sz="2400" i="1">
                            <a:latin typeface="Cambria Math" panose="02040503050406030204" pitchFamily="18" charset="0"/>
                            <a:ea typeface="Times New Roman" panose="02020603050405020304" pitchFamily="18" charset="0"/>
                            <a:cs typeface="Times New Roman" panose="02020603050405020304" pitchFamily="18" charset="0"/>
                          </a:rPr>
                          <m:t>𝜇</m:t>
                        </m:r>
                      </m:e>
                      <m:sub>
                        <m:r>
                          <a:rPr lang="en-IN" sz="2400" i="1">
                            <a:latin typeface="Cambria Math" panose="02040503050406030204" pitchFamily="18" charset="0"/>
                            <a:ea typeface="Times New Roman" panose="02020603050405020304" pitchFamily="18" charset="0"/>
                            <a:cs typeface="Times New Roman" panose="02020603050405020304" pitchFamily="18" charset="0"/>
                          </a:rPr>
                          <m:t>3</m:t>
                        </m:r>
                      </m:sub>
                    </m:sSub>
                  </m:oMath>
                </a14:m>
                <a:r>
                  <a:rPr lang="en-IN" sz="2400" dirty="0">
                    <a:latin typeface="Times New Roman" panose="02020603050405020304" pitchFamily="18" charset="0"/>
                    <a:ea typeface="Times New Roman" panose="02020603050405020304" pitchFamily="18" charset="0"/>
                    <a:cs typeface="Times New Roman" panose="02020603050405020304" pitchFamily="18" charset="0"/>
                  </a:rPr>
                  <a:t> and </a:t>
                </a:r>
                <a:r>
                  <a:rPr lang="en-IN" sz="2800" i="1" dirty="0">
                    <a:latin typeface="Times New Roman" panose="02020603050405020304" pitchFamily="18" charset="0"/>
                    <a:ea typeface="Times New Roman" panose="02020603050405020304" pitchFamily="18" charset="0"/>
                    <a:cs typeface="Times New Roman" panose="02020603050405020304" pitchFamily="18" charset="0"/>
                  </a:rPr>
                  <a:t>µ</a:t>
                </a:r>
                <a:r>
                  <a:rPr lang="en-IN" sz="1400" i="1" dirty="0">
                    <a:latin typeface="Times New Roman" panose="02020603050405020304" pitchFamily="18" charset="0"/>
                    <a:ea typeface="Times New Roman" panose="02020603050405020304" pitchFamily="18" charset="0"/>
                    <a:cs typeface="Times New Roman" panose="02020603050405020304" pitchFamily="18" charset="0"/>
                  </a:rPr>
                  <a:t>4</a:t>
                </a:r>
                <a:r>
                  <a:rPr lang="en-IN" sz="1400" dirty="0">
                    <a:latin typeface="Times New Roman" panose="02020603050405020304" pitchFamily="18" charset="0"/>
                    <a:ea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ea typeface="Times New Roman" panose="02020603050405020304" pitchFamily="18" charset="0"/>
                    <a:cs typeface="Times New Roman" panose="02020603050405020304" pitchFamily="18" charset="0"/>
                  </a:rPr>
                  <a:t>be mean productivity of the 4 machines respectively and Let </a:t>
                </a:r>
                <a14:m>
                  <m:oMath xmlns:m="http://schemas.openxmlformats.org/officeDocument/2006/math">
                    <m:sSub>
                      <m:sSubPr>
                        <m:ctrlPr>
                          <a:rPr lang="en-IN"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en-IN" sz="2400" i="1">
                            <a:latin typeface="Cambria Math" panose="02040503050406030204" pitchFamily="18" charset="0"/>
                            <a:ea typeface="Times New Roman" panose="02020603050405020304" pitchFamily="18" charset="0"/>
                            <a:cs typeface="Times New Roman" panose="02020603050405020304" pitchFamily="18" charset="0"/>
                          </a:rPr>
                          <m:t>𝛽</m:t>
                        </m:r>
                      </m:e>
                      <m:sub>
                        <m:r>
                          <a:rPr lang="en-IN" sz="2400" i="1">
                            <a:latin typeface="Cambria Math" panose="02040503050406030204" pitchFamily="18" charset="0"/>
                            <a:ea typeface="Times New Roman" panose="02020603050405020304" pitchFamily="18" charset="0"/>
                            <a:cs typeface="Times New Roman" panose="02020603050405020304" pitchFamily="18" charset="0"/>
                          </a:rPr>
                          <m:t>1</m:t>
                        </m:r>
                      </m:sub>
                    </m:sSub>
                  </m:oMath>
                </a14:m>
                <a:r>
                  <a:rPr lang="en-IN" sz="2400" dirty="0">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sSub>
                      <m:sSubPr>
                        <m:ctrlPr>
                          <a:rPr lang="en-IN"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en-IN" sz="2400" i="1">
                            <a:latin typeface="Cambria Math" panose="02040503050406030204" pitchFamily="18" charset="0"/>
                            <a:ea typeface="Times New Roman" panose="02020603050405020304" pitchFamily="18" charset="0"/>
                            <a:cs typeface="Times New Roman" panose="02020603050405020304" pitchFamily="18" charset="0"/>
                          </a:rPr>
                          <m:t>𝛽</m:t>
                        </m:r>
                      </m:e>
                      <m:sub>
                        <m:r>
                          <a:rPr lang="en-IN" sz="2400" i="1">
                            <a:latin typeface="Cambria Math" panose="02040503050406030204" pitchFamily="18" charset="0"/>
                            <a:ea typeface="Times New Roman" panose="02020603050405020304" pitchFamily="18" charset="0"/>
                            <a:cs typeface="Times New Roman" panose="02020603050405020304" pitchFamily="18" charset="0"/>
                          </a:rPr>
                          <m:t>2</m:t>
                        </m:r>
                      </m:sub>
                    </m:sSub>
                    <m:r>
                      <a:rPr lang="en-IN" sz="2400" i="1">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n-IN"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en-IN" sz="2400" i="1">
                            <a:latin typeface="Cambria Math" panose="02040503050406030204" pitchFamily="18" charset="0"/>
                            <a:ea typeface="Times New Roman" panose="02020603050405020304" pitchFamily="18" charset="0"/>
                            <a:cs typeface="Times New Roman" panose="02020603050405020304" pitchFamily="18" charset="0"/>
                          </a:rPr>
                          <m:t>𝛽</m:t>
                        </m:r>
                      </m:e>
                      <m:sub>
                        <m:r>
                          <a:rPr lang="en-IN" sz="2400" i="1">
                            <a:latin typeface="Cambria Math" panose="02040503050406030204" pitchFamily="18" charset="0"/>
                            <a:ea typeface="Times New Roman" panose="02020603050405020304" pitchFamily="18" charset="0"/>
                            <a:cs typeface="Times New Roman" panose="02020603050405020304" pitchFamily="18" charset="0"/>
                          </a:rPr>
                          <m:t>3</m:t>
                        </m:r>
                      </m:sub>
                    </m:sSub>
                    <m:r>
                      <a:rPr lang="en-IN" sz="2400" i="1">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n-IN"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en-IN" sz="2400" i="1">
                            <a:latin typeface="Cambria Math" panose="02040503050406030204" pitchFamily="18" charset="0"/>
                            <a:ea typeface="Times New Roman" panose="02020603050405020304" pitchFamily="18" charset="0"/>
                            <a:cs typeface="Times New Roman" panose="02020603050405020304" pitchFamily="18" charset="0"/>
                          </a:rPr>
                          <m:t>𝛽</m:t>
                        </m:r>
                      </m:e>
                      <m:sub>
                        <m:r>
                          <a:rPr lang="en-IN" sz="2400" i="1">
                            <a:latin typeface="Cambria Math" panose="02040503050406030204" pitchFamily="18" charset="0"/>
                            <a:ea typeface="Times New Roman" panose="02020603050405020304" pitchFamily="18" charset="0"/>
                            <a:cs typeface="Times New Roman" panose="02020603050405020304" pitchFamily="18" charset="0"/>
                          </a:rPr>
                          <m:t>4</m:t>
                        </m:r>
                      </m:sub>
                    </m:sSub>
                  </m:oMath>
                </a14:m>
                <a:r>
                  <a:rPr lang="en-IN" sz="2400" dirty="0">
                    <a:latin typeface="Times New Roman" panose="02020603050405020304" pitchFamily="18" charset="0"/>
                    <a:ea typeface="Times New Roman" panose="02020603050405020304" pitchFamily="18" charset="0"/>
                    <a:cs typeface="Times New Roman" panose="02020603050405020304" pitchFamily="18" charset="0"/>
                  </a:rPr>
                  <a:t> and </a:t>
                </a:r>
                <a14:m>
                  <m:oMath xmlns:m="http://schemas.openxmlformats.org/officeDocument/2006/math">
                    <m:sSub>
                      <m:sSubPr>
                        <m:ctrlPr>
                          <a:rPr lang="en-IN"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en-IN" sz="2400" i="1">
                            <a:latin typeface="Cambria Math" panose="02040503050406030204" pitchFamily="18" charset="0"/>
                            <a:ea typeface="Times New Roman" panose="02020603050405020304" pitchFamily="18" charset="0"/>
                            <a:cs typeface="Times New Roman" panose="02020603050405020304" pitchFamily="18" charset="0"/>
                          </a:rPr>
                          <m:t>𝛽</m:t>
                        </m:r>
                      </m:e>
                      <m:sub>
                        <m:r>
                          <a:rPr lang="en-IN" sz="2400" i="1">
                            <a:latin typeface="Cambria Math" panose="02040503050406030204" pitchFamily="18" charset="0"/>
                            <a:ea typeface="Times New Roman" panose="02020603050405020304" pitchFamily="18" charset="0"/>
                            <a:cs typeface="Times New Roman" panose="02020603050405020304" pitchFamily="18" charset="0"/>
                          </a:rPr>
                          <m:t>5</m:t>
                        </m:r>
                      </m:sub>
                    </m:sSub>
                  </m:oMath>
                </a14:m>
                <a:r>
                  <a:rPr lang="en-IN" sz="2400" dirty="0">
                    <a:latin typeface="Times New Roman" panose="02020603050405020304" pitchFamily="18" charset="0"/>
                    <a:ea typeface="Times New Roman" panose="02020603050405020304" pitchFamily="18" charset="0"/>
                    <a:cs typeface="Times New Roman" panose="02020603050405020304" pitchFamily="18" charset="0"/>
                  </a:rPr>
                  <a:t> be mean productivity of the 5 men respectively</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14:m>
                  <m:oMath xmlns:m="http://schemas.openxmlformats.org/officeDocument/2006/math">
                    <m:sSub>
                      <m:sSubPr>
                        <m:ctrlPr>
                          <a:rPr lang="en-IN" sz="2400" i="1">
                            <a:latin typeface="Cambria Math" panose="02040503050406030204" pitchFamily="18" charset="0"/>
                            <a:ea typeface="Calibri" panose="020F0502020204030204" pitchFamily="34" charset="0"/>
                            <a:cs typeface="Times New Roman" panose="02020603050405020304" pitchFamily="18" charset="0"/>
                          </a:rPr>
                        </m:ctrlPr>
                      </m:sSubPr>
                      <m:e>
                        <m:r>
                          <a:rPr lang="en-IN" sz="2400" i="1">
                            <a:latin typeface="Cambria Math" panose="02040503050406030204" pitchFamily="18" charset="0"/>
                            <a:ea typeface="Calibri" panose="020F0502020204030204" pitchFamily="34" charset="0"/>
                            <a:cs typeface="Times New Roman" panose="02020603050405020304" pitchFamily="18" charset="0"/>
                          </a:rPr>
                          <m:t>𝐻</m:t>
                        </m:r>
                      </m:e>
                      <m:sub>
                        <m:r>
                          <a:rPr lang="en-IN" sz="2400" i="1">
                            <a:latin typeface="Cambria Math" panose="02040503050406030204" pitchFamily="18" charset="0"/>
                            <a:ea typeface="Calibri" panose="020F0502020204030204" pitchFamily="34" charset="0"/>
                            <a:cs typeface="Times New Roman" panose="02020603050405020304" pitchFamily="18" charset="0"/>
                          </a:rPr>
                          <m:t>0</m:t>
                        </m:r>
                      </m:sub>
                    </m:sSub>
                    <m:r>
                      <a:rPr lang="en-IN" sz="2400" i="1">
                        <a:latin typeface="Cambria Math" panose="02040503050406030204" pitchFamily="18" charset="0"/>
                        <a:ea typeface="Calibri" panose="020F0502020204030204" pitchFamily="34" charset="0"/>
                        <a:cs typeface="Times New Roman" panose="02020603050405020304" pitchFamily="18" charset="0"/>
                      </a:rPr>
                      <m:t>:</m:t>
                    </m:r>
                    <m:sSub>
                      <m:sSubPr>
                        <m:ctrlPr>
                          <a:rPr lang="en-IN"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en-IN" sz="2400" i="1">
                            <a:latin typeface="Cambria Math" panose="02040503050406030204" pitchFamily="18" charset="0"/>
                            <a:ea typeface="Times New Roman" panose="02020603050405020304" pitchFamily="18" charset="0"/>
                            <a:cs typeface="Times New Roman" panose="02020603050405020304" pitchFamily="18" charset="0"/>
                          </a:rPr>
                          <m:t>𝜇</m:t>
                        </m:r>
                      </m:e>
                      <m:sub>
                        <m:r>
                          <a:rPr lang="en-IN" sz="2400" i="1">
                            <a:latin typeface="Cambria Math" panose="02040503050406030204" pitchFamily="18" charset="0"/>
                            <a:ea typeface="Times New Roman" panose="02020603050405020304" pitchFamily="18" charset="0"/>
                            <a:cs typeface="Times New Roman" panose="02020603050405020304" pitchFamily="18" charset="0"/>
                          </a:rPr>
                          <m:t>1</m:t>
                        </m:r>
                      </m:sub>
                    </m:sSub>
                    <m:sSub>
                      <m:sSubPr>
                        <m:ctrlPr>
                          <a:rPr lang="en-IN"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en-IN" sz="2400" i="1">
                            <a:latin typeface="Cambria Math" panose="02040503050406030204" pitchFamily="18" charset="0"/>
                            <a:ea typeface="Times New Roman" panose="02020603050405020304" pitchFamily="18" charset="0"/>
                            <a:cs typeface="Times New Roman" panose="02020603050405020304" pitchFamily="18" charset="0"/>
                          </a:rPr>
                          <m:t>=</m:t>
                        </m:r>
                        <m:r>
                          <a:rPr lang="en-IN" sz="2400" i="1">
                            <a:latin typeface="Cambria Math" panose="02040503050406030204" pitchFamily="18" charset="0"/>
                            <a:ea typeface="Times New Roman" panose="02020603050405020304" pitchFamily="18" charset="0"/>
                            <a:cs typeface="Times New Roman" panose="02020603050405020304" pitchFamily="18" charset="0"/>
                          </a:rPr>
                          <m:t>𝜇</m:t>
                        </m:r>
                      </m:e>
                      <m:sub>
                        <m:r>
                          <a:rPr lang="en-IN" sz="2400" i="1">
                            <a:latin typeface="Cambria Math" panose="02040503050406030204" pitchFamily="18" charset="0"/>
                            <a:ea typeface="Times New Roman" panose="02020603050405020304" pitchFamily="18" charset="0"/>
                            <a:cs typeface="Times New Roman" panose="02020603050405020304" pitchFamily="18" charset="0"/>
                          </a:rPr>
                          <m:t>2</m:t>
                        </m:r>
                      </m:sub>
                    </m:sSub>
                    <m:r>
                      <a:rPr lang="en-IN" sz="2400" i="1">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n-IN"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en-IN" sz="2400" i="1">
                            <a:latin typeface="Cambria Math" panose="02040503050406030204" pitchFamily="18" charset="0"/>
                            <a:ea typeface="Times New Roman" panose="02020603050405020304" pitchFamily="18" charset="0"/>
                            <a:cs typeface="Times New Roman" panose="02020603050405020304" pitchFamily="18" charset="0"/>
                          </a:rPr>
                          <m:t>𝜇</m:t>
                        </m:r>
                      </m:e>
                      <m:sub>
                        <m:r>
                          <a:rPr lang="en-IN" sz="2400" i="1">
                            <a:latin typeface="Cambria Math" panose="02040503050406030204" pitchFamily="18" charset="0"/>
                            <a:ea typeface="Times New Roman" panose="02020603050405020304" pitchFamily="18" charset="0"/>
                            <a:cs typeface="Times New Roman" panose="02020603050405020304" pitchFamily="18" charset="0"/>
                          </a:rPr>
                          <m:t>3</m:t>
                        </m:r>
                      </m:sub>
                    </m:sSub>
                    <m:r>
                      <a:rPr lang="en-IN" sz="2400" i="1">
                        <a:latin typeface="Cambria Math" panose="02040503050406030204" pitchFamily="18" charset="0"/>
                        <a:ea typeface="Calibri" panose="020F0502020204030204" pitchFamily="34" charset="0"/>
                        <a:cs typeface="Times New Roman" panose="02020603050405020304" pitchFamily="18" charset="0"/>
                      </a:rPr>
                      <m:t>=</m:t>
                    </m:r>
                    <m:sSub>
                      <m:sSubPr>
                        <m:ctrlPr>
                          <a:rPr lang="en-IN" sz="2400" i="1">
                            <a:latin typeface="Cambria Math" panose="02040503050406030204" pitchFamily="18" charset="0"/>
                            <a:ea typeface="Calibri" panose="020F0502020204030204" pitchFamily="34" charset="0"/>
                            <a:cs typeface="Times New Roman" panose="02020603050405020304" pitchFamily="18" charset="0"/>
                          </a:rPr>
                        </m:ctrlPr>
                      </m:sSubPr>
                      <m:e>
                        <m:r>
                          <a:rPr lang="en-IN" sz="2400" i="1">
                            <a:latin typeface="Cambria Math" panose="02040503050406030204" pitchFamily="18" charset="0"/>
                            <a:ea typeface="Calibri" panose="020F0502020204030204" pitchFamily="34" charset="0"/>
                            <a:cs typeface="Times New Roman" panose="02020603050405020304" pitchFamily="18" charset="0"/>
                          </a:rPr>
                          <m:t>𝜇</m:t>
                        </m:r>
                      </m:e>
                      <m:sub>
                        <m:r>
                          <a:rPr lang="en-IN" sz="2400" i="1">
                            <a:latin typeface="Cambria Math" panose="02040503050406030204" pitchFamily="18" charset="0"/>
                            <a:ea typeface="Calibri" panose="020F0502020204030204" pitchFamily="34" charset="0"/>
                            <a:cs typeface="Times New Roman" panose="02020603050405020304" pitchFamily="18" charset="0"/>
                          </a:rPr>
                          <m:t>4 </m:t>
                        </m:r>
                      </m:sub>
                    </m:sSub>
                    <m:r>
                      <a:rPr lang="en-IN" sz="2400" i="1">
                        <a:latin typeface="Cambria Math" panose="02040503050406030204" pitchFamily="18" charset="0"/>
                        <a:ea typeface="Calibri" panose="020F0502020204030204" pitchFamily="34" charset="0"/>
                        <a:cs typeface="Times New Roman" panose="02020603050405020304" pitchFamily="18" charset="0"/>
                      </a:rPr>
                      <m:t>; </m:t>
                    </m:r>
                  </m:oMath>
                </a14:m>
                <a:r>
                  <a:rPr lang="en-IN" sz="2400" dirty="0">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sSub>
                      <m:sSubPr>
                        <m:ctrlPr>
                          <a:rPr lang="en-IN"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en-IN" sz="2400" i="1">
                            <a:latin typeface="Cambria Math" panose="02040503050406030204" pitchFamily="18" charset="0"/>
                            <a:ea typeface="Times New Roman" panose="02020603050405020304" pitchFamily="18" charset="0"/>
                            <a:cs typeface="Times New Roman" panose="02020603050405020304" pitchFamily="18" charset="0"/>
                          </a:rPr>
                          <m:t>𝛽</m:t>
                        </m:r>
                      </m:e>
                      <m:sub>
                        <m:r>
                          <a:rPr lang="en-IN" sz="2400" i="1">
                            <a:latin typeface="Cambria Math" panose="02040503050406030204" pitchFamily="18" charset="0"/>
                            <a:ea typeface="Times New Roman" panose="02020603050405020304" pitchFamily="18" charset="0"/>
                            <a:cs typeface="Times New Roman" panose="02020603050405020304" pitchFamily="18" charset="0"/>
                          </a:rPr>
                          <m:t>1</m:t>
                        </m:r>
                      </m:sub>
                    </m:sSub>
                  </m:oMath>
                </a14:m>
                <a:r>
                  <a:rPr lang="en-IN" sz="2400" dirty="0">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sSub>
                      <m:sSubPr>
                        <m:ctrlPr>
                          <a:rPr lang="en-IN"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en-IN" sz="2400" i="1">
                            <a:latin typeface="Cambria Math" panose="02040503050406030204" pitchFamily="18" charset="0"/>
                            <a:ea typeface="Times New Roman" panose="02020603050405020304" pitchFamily="18" charset="0"/>
                            <a:cs typeface="Times New Roman" panose="02020603050405020304" pitchFamily="18" charset="0"/>
                          </a:rPr>
                          <m:t>𝛽</m:t>
                        </m:r>
                      </m:e>
                      <m:sub>
                        <m:r>
                          <a:rPr lang="en-IN" sz="2400" i="1">
                            <a:latin typeface="Cambria Math" panose="02040503050406030204" pitchFamily="18" charset="0"/>
                            <a:ea typeface="Times New Roman" panose="02020603050405020304" pitchFamily="18" charset="0"/>
                            <a:cs typeface="Times New Roman" panose="02020603050405020304" pitchFamily="18" charset="0"/>
                          </a:rPr>
                          <m:t>2</m:t>
                        </m:r>
                      </m:sub>
                    </m:sSub>
                    <m:r>
                      <a:rPr lang="en-IN" sz="2400" i="1">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n-IN"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en-IN" sz="2400" i="1">
                            <a:latin typeface="Cambria Math" panose="02040503050406030204" pitchFamily="18" charset="0"/>
                            <a:ea typeface="Times New Roman" panose="02020603050405020304" pitchFamily="18" charset="0"/>
                            <a:cs typeface="Times New Roman" panose="02020603050405020304" pitchFamily="18" charset="0"/>
                          </a:rPr>
                          <m:t>𝛽</m:t>
                        </m:r>
                      </m:e>
                      <m:sub>
                        <m:r>
                          <a:rPr lang="en-IN" sz="2400" i="1">
                            <a:latin typeface="Cambria Math" panose="02040503050406030204" pitchFamily="18" charset="0"/>
                            <a:ea typeface="Times New Roman" panose="02020603050405020304" pitchFamily="18" charset="0"/>
                            <a:cs typeface="Times New Roman" panose="02020603050405020304" pitchFamily="18" charset="0"/>
                          </a:rPr>
                          <m:t>3</m:t>
                        </m:r>
                      </m:sub>
                    </m:sSub>
                    <m:r>
                      <a:rPr lang="en-IN" sz="2400" i="1">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n-IN"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en-IN" sz="2400" i="1">
                            <a:latin typeface="Cambria Math" panose="02040503050406030204" pitchFamily="18" charset="0"/>
                            <a:ea typeface="Times New Roman" panose="02020603050405020304" pitchFamily="18" charset="0"/>
                            <a:cs typeface="Times New Roman" panose="02020603050405020304" pitchFamily="18" charset="0"/>
                          </a:rPr>
                          <m:t>𝛽</m:t>
                        </m:r>
                      </m:e>
                      <m:sub>
                        <m:r>
                          <a:rPr lang="en-IN" sz="2400" i="1">
                            <a:latin typeface="Cambria Math" panose="02040503050406030204" pitchFamily="18" charset="0"/>
                            <a:ea typeface="Times New Roman" panose="02020603050405020304" pitchFamily="18" charset="0"/>
                            <a:cs typeface="Times New Roman" panose="02020603050405020304" pitchFamily="18" charset="0"/>
                          </a:rPr>
                          <m:t>4</m:t>
                        </m:r>
                      </m:sub>
                    </m:sSub>
                    <m:r>
                      <a:rPr lang="en-IN" sz="2400" i="1">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en-IN" sz="2400" i="1">
                            <a:latin typeface="Cambria Math" panose="02040503050406030204" pitchFamily="18" charset="0"/>
                            <a:ea typeface="Times New Roman" panose="02020603050405020304" pitchFamily="18" charset="0"/>
                            <a:cs typeface="Times New Roman" panose="02020603050405020304" pitchFamily="18" charset="0"/>
                          </a:rPr>
                          <m:t>𝛽</m:t>
                        </m:r>
                      </m:e>
                      <m:sub>
                        <m:r>
                          <a:rPr lang="en-IN" sz="2400" i="1">
                            <a:latin typeface="Cambria Math" panose="02040503050406030204" pitchFamily="18" charset="0"/>
                            <a:ea typeface="Times New Roman" panose="02020603050405020304" pitchFamily="18" charset="0"/>
                            <a:cs typeface="Times New Roman" panose="02020603050405020304" pitchFamily="18" charset="0"/>
                          </a:rPr>
                          <m:t>5</m:t>
                        </m:r>
                      </m:sub>
                    </m:sSub>
                  </m:oMath>
                </a14:m>
                <a:endParaRPr lang="en-IN" sz="2400"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nSpc>
                    <a:spcPct val="107000"/>
                  </a:lnSpc>
                  <a:spcAft>
                    <a:spcPts val="800"/>
                  </a:spcAft>
                  <a:buNone/>
                </a:pPr>
                <a:r>
                  <a:rPr lang="en-IN" sz="2400" dirty="0">
                    <a:latin typeface="Times New Roman" panose="02020603050405020304" pitchFamily="18" charset="0"/>
                    <a:ea typeface="Times New Roman" panose="02020603050405020304" pitchFamily="18" charset="0"/>
                    <a:cs typeface="Times New Roman" panose="02020603050405020304" pitchFamily="18" charset="0"/>
                  </a:rPr>
                  <a:t> against </a:t>
                </a:r>
              </a:p>
              <a:p>
                <a:pPr marL="0" indent="0">
                  <a:lnSpc>
                    <a:spcPct val="107000"/>
                  </a:lnSpc>
                  <a:spcAft>
                    <a:spcPts val="800"/>
                  </a:spcAft>
                  <a:buNone/>
                </a:pPr>
                <a14:m>
                  <m:oMath xmlns:m="http://schemas.openxmlformats.org/officeDocument/2006/math">
                    <m:sSub>
                      <m:sSubPr>
                        <m:ctrlPr>
                          <a:rPr lang="en-IN" sz="2400" i="1">
                            <a:latin typeface="Cambria Math" panose="02040503050406030204" pitchFamily="18" charset="0"/>
                            <a:ea typeface="Calibri" panose="020F0502020204030204" pitchFamily="34" charset="0"/>
                            <a:cs typeface="Times New Roman" panose="02020603050405020304" pitchFamily="18" charset="0"/>
                          </a:rPr>
                        </m:ctrlPr>
                      </m:sSubPr>
                      <m:e>
                        <m:r>
                          <a:rPr lang="en-IN" sz="2400" i="1">
                            <a:latin typeface="Cambria Math" panose="02040503050406030204" pitchFamily="18" charset="0"/>
                            <a:ea typeface="Calibri" panose="020F0502020204030204" pitchFamily="34" charset="0"/>
                            <a:cs typeface="Times New Roman" panose="02020603050405020304" pitchFamily="18" charset="0"/>
                          </a:rPr>
                          <m:t>𝐻</m:t>
                        </m:r>
                      </m:e>
                      <m:sub>
                        <m:r>
                          <a:rPr lang="en-IN" sz="2400" i="1">
                            <a:latin typeface="Cambria Math" panose="02040503050406030204" pitchFamily="18" charset="0"/>
                            <a:ea typeface="Calibri" panose="020F0502020204030204" pitchFamily="34" charset="0"/>
                            <a:cs typeface="Times New Roman" panose="02020603050405020304" pitchFamily="18" charset="0"/>
                          </a:rPr>
                          <m:t>1</m:t>
                        </m:r>
                      </m:sub>
                    </m:sSub>
                    <m:r>
                      <a:rPr lang="en-IN" sz="2400" i="1">
                        <a:latin typeface="Cambria Math" panose="02040503050406030204" pitchFamily="18" charset="0"/>
                        <a:ea typeface="Calibri" panose="020F0502020204030204" pitchFamily="34" charset="0"/>
                        <a:cs typeface="Times New Roman" panose="02020603050405020304" pitchFamily="18" charset="0"/>
                      </a:rPr>
                      <m:t>: </m:t>
                    </m:r>
                  </m:oMath>
                </a14:m>
                <a:r>
                  <a:rPr lang="en-IN" sz="2400" dirty="0">
                    <a:latin typeface="Times New Roman" panose="02020603050405020304" pitchFamily="18" charset="0"/>
                    <a:ea typeface="Times New Roman" panose="02020603050405020304" pitchFamily="18" charset="0"/>
                    <a:cs typeface="Times New Roman" panose="02020603050405020304" pitchFamily="18" charset="0"/>
                  </a:rPr>
                  <a:t>at least two means are not equal.</a:t>
                </a:r>
              </a:p>
              <a:p>
                <a:pPr marL="0" indent="0">
                  <a:lnSpc>
                    <a:spcPct val="107000"/>
                  </a:lnSpc>
                  <a:spcAft>
                    <a:spcPts val="800"/>
                  </a:spcAft>
                  <a:buNone/>
                </a:pPr>
                <a:endParaRPr lang="en-IN"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mc:Choice>
        <mc:Fallback xmlns="">
          <p:sp>
            <p:nvSpPr>
              <p:cNvPr id="4" name="Text Placeholder 3"/>
              <p:cNvSpPr>
                <a:spLocks noGrp="1" noRot="1" noChangeAspect="1" noMove="1" noResize="1" noEditPoints="1" noAdjustHandles="1" noChangeArrowheads="1" noChangeShapeType="1" noTextEdit="1"/>
              </p:cNvSpPr>
              <p:nvPr>
                <p:ph type="body" sz="quarter" idx="13"/>
              </p:nvPr>
            </p:nvSpPr>
            <p:spPr>
              <a:xfrm>
                <a:off x="646723" y="1019908"/>
                <a:ext cx="7143262" cy="5410897"/>
              </a:xfrm>
              <a:blipFill>
                <a:blip r:embed="rId2"/>
                <a:stretch>
                  <a:fillRect l="-1280" t="-1126" r="-1365"/>
                </a:stretch>
              </a:blipFill>
            </p:spPr>
            <p:txBody>
              <a:bodyPr/>
              <a:lstStyle/>
              <a:p>
                <a:r>
                  <a:rPr lang="en-US">
                    <a:noFill/>
                  </a:rPr>
                  <a:t> </a:t>
                </a:r>
              </a:p>
            </p:txBody>
          </p:sp>
        </mc:Fallback>
      </mc:AlternateContent>
    </p:spTree>
    <p:extLst>
      <p:ext uri="{BB962C8B-B14F-4D97-AF65-F5344CB8AC3E}">
        <p14:creationId xmlns:p14="http://schemas.microsoft.com/office/powerpoint/2010/main" val="31750970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263D6C4-4840-40CC-AC84-17E24B3B7BDE}" type="slidenum">
              <a:rPr lang="en-US" noProof="0" smtClean="0"/>
              <a:pPr/>
              <a:t>19</a:t>
            </a:fld>
            <a:endParaRPr lang="en-US" noProof="0" dirty="0"/>
          </a:p>
        </p:txBody>
      </p:sp>
      <mc:AlternateContent xmlns:mc="http://schemas.openxmlformats.org/markup-compatibility/2006" xmlns:a14="http://schemas.microsoft.com/office/drawing/2010/main">
        <mc:Choice Requires="a14">
          <p:graphicFrame>
            <p:nvGraphicFramePr>
              <p:cNvPr id="4" name="Content Placeholder 4">
                <a:extLst>
                  <a:ext uri="{FF2B5EF4-FFF2-40B4-BE49-F238E27FC236}">
                    <a16:creationId xmlns:a16="http://schemas.microsoft.com/office/drawing/2014/main" id="{688FACBE-A186-9C69-1DAB-38BD8BB92619}"/>
                  </a:ext>
                </a:extLst>
              </p:cNvPr>
              <p:cNvGraphicFramePr>
                <a:graphicFrameLocks/>
              </p:cNvGraphicFramePr>
              <p:nvPr>
                <p:extLst>
                  <p:ext uri="{D42A27DB-BD31-4B8C-83A1-F6EECF244321}">
                    <p14:modId xmlns:p14="http://schemas.microsoft.com/office/powerpoint/2010/main" val="3208802202"/>
                  </p:ext>
                </p:extLst>
              </p:nvPr>
            </p:nvGraphicFramePr>
            <p:xfrm>
              <a:off x="1292469" y="844061"/>
              <a:ext cx="9815727" cy="5383364"/>
            </p:xfrm>
            <a:graphic>
              <a:graphicData uri="http://schemas.openxmlformats.org/drawingml/2006/table">
                <a:tbl>
                  <a:tblPr firstRow="1" firstCol="1" bandRow="1">
                    <a:tableStyleId>{5C22544A-7EE6-4342-B048-85BDC9FD1C3A}</a:tableStyleId>
                  </a:tblPr>
                  <a:tblGrid>
                    <a:gridCol w="1955945">
                      <a:extLst>
                        <a:ext uri="{9D8B030D-6E8A-4147-A177-3AD203B41FA5}">
                          <a16:colId xmlns:a16="http://schemas.microsoft.com/office/drawing/2014/main" val="4180435187"/>
                        </a:ext>
                      </a:extLst>
                    </a:gridCol>
                    <a:gridCol w="1755697">
                      <a:extLst>
                        <a:ext uri="{9D8B030D-6E8A-4147-A177-3AD203B41FA5}">
                          <a16:colId xmlns:a16="http://schemas.microsoft.com/office/drawing/2014/main" val="4244589759"/>
                        </a:ext>
                      </a:extLst>
                    </a:gridCol>
                    <a:gridCol w="1747585">
                      <a:extLst>
                        <a:ext uri="{9D8B030D-6E8A-4147-A177-3AD203B41FA5}">
                          <a16:colId xmlns:a16="http://schemas.microsoft.com/office/drawing/2014/main" val="174658411"/>
                        </a:ext>
                      </a:extLst>
                    </a:gridCol>
                    <a:gridCol w="2344165">
                      <a:extLst>
                        <a:ext uri="{9D8B030D-6E8A-4147-A177-3AD203B41FA5}">
                          <a16:colId xmlns:a16="http://schemas.microsoft.com/office/drawing/2014/main" val="1052959553"/>
                        </a:ext>
                      </a:extLst>
                    </a:gridCol>
                    <a:gridCol w="2012335">
                      <a:extLst>
                        <a:ext uri="{9D8B030D-6E8A-4147-A177-3AD203B41FA5}">
                          <a16:colId xmlns:a16="http://schemas.microsoft.com/office/drawing/2014/main" val="2620832387"/>
                        </a:ext>
                      </a:extLst>
                    </a:gridCol>
                  </a:tblGrid>
                  <a:tr h="1108085">
                    <a:tc>
                      <a:txBody>
                        <a:bodyPr/>
                        <a:lstStyle/>
                        <a:p>
                          <a:pPr marL="457200" algn="just">
                            <a:lnSpc>
                              <a:spcPct val="107000"/>
                            </a:lnSpc>
                          </a:pPr>
                          <a:r>
                            <a:rPr lang="en-IN" sz="1800" dirty="0">
                              <a:effectLst/>
                            </a:rPr>
                            <a:t>Source of Variation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40858" marR="40858" marT="0" marB="0" anchor="ctr"/>
                    </a:tc>
                    <a:tc>
                      <a:txBody>
                        <a:bodyPr/>
                        <a:lstStyle/>
                        <a:p>
                          <a:pPr marL="457200" algn="just">
                            <a:lnSpc>
                              <a:spcPct val="107000"/>
                            </a:lnSpc>
                          </a:pPr>
                          <a:r>
                            <a:rPr lang="en-IN" sz="1800">
                              <a:effectLst/>
                            </a:rPr>
                            <a:t>Sum of Squares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40858" marR="40858" marT="0" marB="0" anchor="ctr"/>
                    </a:tc>
                    <a:tc>
                      <a:txBody>
                        <a:bodyPr/>
                        <a:lstStyle/>
                        <a:p>
                          <a:pPr marL="457200" algn="just">
                            <a:lnSpc>
                              <a:spcPct val="107000"/>
                            </a:lnSpc>
                          </a:pPr>
                          <a:r>
                            <a:rPr lang="en-IN" sz="1800" dirty="0">
                              <a:effectLst/>
                            </a:rPr>
                            <a:t>Degrees of Freedom</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40858" marR="40858" marT="0" marB="0" anchor="ctr"/>
                    </a:tc>
                    <a:tc>
                      <a:txBody>
                        <a:bodyPr/>
                        <a:lstStyle/>
                        <a:p>
                          <a:pPr marL="457200" algn="just">
                            <a:lnSpc>
                              <a:spcPct val="107000"/>
                            </a:lnSpc>
                          </a:pPr>
                          <a:r>
                            <a:rPr lang="en-IN" sz="1800">
                              <a:effectLst/>
                            </a:rPr>
                            <a:t>Mean Sum of Squares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40858" marR="40858" marT="0" marB="0" anchor="ctr"/>
                    </a:tc>
                    <a:tc>
                      <a:txBody>
                        <a:bodyPr/>
                        <a:lstStyle/>
                        <a:p>
                          <a:pPr marL="457200" algn="just">
                            <a:lnSpc>
                              <a:spcPct val="107000"/>
                            </a:lnSpc>
                            <a:spcAft>
                              <a:spcPts val="800"/>
                            </a:spcAft>
                          </a:pPr>
                          <a:r>
                            <a:rPr lang="en-IN" sz="1800">
                              <a:effectLst/>
                            </a:rPr>
                            <a:t>F- ratios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40858" marR="40858" marT="0" marB="0" anchor="ctr"/>
                    </a:tc>
                    <a:extLst>
                      <a:ext uri="{0D108BD9-81ED-4DB2-BD59-A6C34878D82A}">
                        <a16:rowId xmlns:a16="http://schemas.microsoft.com/office/drawing/2014/main" val="2379292498"/>
                      </a:ext>
                    </a:extLst>
                  </a:tr>
                  <a:tr h="1405418">
                    <a:tc>
                      <a:txBody>
                        <a:bodyPr/>
                        <a:lstStyle/>
                        <a:p>
                          <a:pPr marL="457200" algn="just">
                            <a:lnSpc>
                              <a:spcPct val="107000"/>
                            </a:lnSpc>
                          </a:pPr>
                          <a:r>
                            <a:rPr lang="en-IN" sz="1800">
                              <a:effectLst/>
                            </a:rPr>
                            <a:t>Between Machine types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40858" marR="40858" marT="0" marB="0" anchor="ctr"/>
                    </a:tc>
                    <a:tc>
                      <a:txBody>
                        <a:bodyPr/>
                        <a:lstStyle/>
                        <a:p>
                          <a:pPr marL="457200" algn="just">
                            <a:lnSpc>
                              <a:spcPct val="107000"/>
                            </a:lnSpc>
                          </a:pPr>
                          <a14:m>
                            <m:oMathPara xmlns:m="http://schemas.openxmlformats.org/officeDocument/2006/math">
                              <m:oMathParaPr>
                                <m:jc m:val="centerGroup"/>
                              </m:oMathParaPr>
                              <m:oMath xmlns:m="http://schemas.openxmlformats.org/officeDocument/2006/math">
                                <m:sSub>
                                  <m:sSubPr>
                                    <m:ctrlPr>
                                      <a:rPr lang="en-IN" sz="1800" i="1" smtClean="0">
                                        <a:effectLst/>
                                        <a:latin typeface="Cambria Math" panose="02040503050406030204" pitchFamily="18" charset="0"/>
                                      </a:rPr>
                                    </m:ctrlPr>
                                  </m:sSubPr>
                                  <m:e>
                                    <m:r>
                                      <a:rPr lang="en-IN" sz="1800">
                                        <a:effectLst/>
                                        <a:latin typeface="Cambria Math" panose="02040503050406030204" pitchFamily="18" charset="0"/>
                                      </a:rPr>
                                      <m:t>𝑆𝑆</m:t>
                                    </m:r>
                                  </m:e>
                                  <m:sub>
                                    <m:r>
                                      <a:rPr lang="en-IN" sz="1800">
                                        <a:effectLst/>
                                        <a:latin typeface="Cambria Math" panose="02040503050406030204" pitchFamily="18" charset="0"/>
                                      </a:rPr>
                                      <m:t>𝐶</m:t>
                                    </m:r>
                                  </m:sub>
                                </m:sSub>
                                <m:r>
                                  <a:rPr lang="en-IN" sz="1800">
                                    <a:effectLst/>
                                    <a:latin typeface="Cambria Math" panose="02040503050406030204" pitchFamily="18" charset="0"/>
                                  </a:rPr>
                                  <m:t>=3</m:t>
                                </m:r>
                                <m:r>
                                  <a:rPr lang="en-US" sz="1800" b="0" i="0" smtClean="0">
                                    <a:effectLst/>
                                    <a:latin typeface="Cambria Math" panose="02040503050406030204" pitchFamily="18" charset="0"/>
                                  </a:rPr>
                                  <m:t>93.35</m:t>
                                </m:r>
                              </m:oMath>
                            </m:oMathPara>
                          </a14:m>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40858" marR="40858" marT="0" marB="0" anchor="ctr"/>
                    </a:tc>
                    <a:tc>
                      <a:txBody>
                        <a:bodyPr/>
                        <a:lstStyle/>
                        <a:p>
                          <a:pPr marL="457200" algn="just">
                            <a:lnSpc>
                              <a:spcPct val="107000"/>
                            </a:lnSpc>
                          </a:pPr>
                          <a14:m>
                            <m:oMathPara xmlns:m="http://schemas.openxmlformats.org/officeDocument/2006/math">
                              <m:oMathParaPr>
                                <m:jc m:val="centerGroup"/>
                              </m:oMathParaPr>
                              <m:oMath xmlns:m="http://schemas.openxmlformats.org/officeDocument/2006/math">
                                <m:r>
                                  <a:rPr lang="en-IN" sz="1800">
                                    <a:effectLst/>
                                    <a:latin typeface="Cambria Math" panose="02040503050406030204" pitchFamily="18" charset="0"/>
                                  </a:rPr>
                                  <m:t>𝑐</m:t>
                                </m:r>
                                <m:r>
                                  <a:rPr lang="en-IN" sz="1800">
                                    <a:effectLst/>
                                    <a:latin typeface="Cambria Math" panose="02040503050406030204" pitchFamily="18" charset="0"/>
                                  </a:rPr>
                                  <m:t>−1=3</m:t>
                                </m:r>
                              </m:oMath>
                            </m:oMathPara>
                          </a14:m>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40858" marR="40858" marT="0" marB="0" anchor="ctr"/>
                    </a:tc>
                    <a:tc>
                      <a:txBody>
                        <a:bodyPr/>
                        <a:lstStyle/>
                        <a:p>
                          <a:pPr marL="457200" algn="just">
                            <a:lnSpc>
                              <a:spcPct val="107000"/>
                            </a:lnSpc>
                          </a:pPr>
                          <a14:m>
                            <m:oMathPara xmlns:m="http://schemas.openxmlformats.org/officeDocument/2006/math">
                              <m:oMathParaPr>
                                <m:jc m:val="centerGroup"/>
                              </m:oMathParaPr>
                              <m:oMath xmlns:m="http://schemas.openxmlformats.org/officeDocument/2006/math">
                                <m:sSub>
                                  <m:sSubPr>
                                    <m:ctrlPr>
                                      <a:rPr lang="en-IN" sz="1800" i="1" smtClean="0">
                                        <a:effectLst/>
                                        <a:latin typeface="Cambria Math" panose="02040503050406030204" pitchFamily="18" charset="0"/>
                                      </a:rPr>
                                    </m:ctrlPr>
                                  </m:sSubPr>
                                  <m:e>
                                    <m:r>
                                      <a:rPr lang="en-IN" sz="1800">
                                        <a:effectLst/>
                                        <a:latin typeface="Cambria Math" panose="02040503050406030204" pitchFamily="18" charset="0"/>
                                      </a:rPr>
                                      <m:t>𝑀𝑆</m:t>
                                    </m:r>
                                  </m:e>
                                  <m:sub>
                                    <m:r>
                                      <a:rPr lang="en-IN" sz="1800">
                                        <a:effectLst/>
                                        <a:latin typeface="Cambria Math" panose="02040503050406030204" pitchFamily="18" charset="0"/>
                                      </a:rPr>
                                      <m:t>𝐶</m:t>
                                    </m:r>
                                  </m:sub>
                                </m:sSub>
                                <m:r>
                                  <a:rPr lang="en-IN" sz="1800">
                                    <a:effectLst/>
                                    <a:latin typeface="Cambria Math" panose="02040503050406030204" pitchFamily="18" charset="0"/>
                                  </a:rPr>
                                  <m:t>=</m:t>
                                </m:r>
                                <m:f>
                                  <m:fPr>
                                    <m:ctrlPr>
                                      <a:rPr lang="en-IN" sz="1800" i="1">
                                        <a:effectLst/>
                                        <a:latin typeface="Cambria Math" panose="02040503050406030204" pitchFamily="18" charset="0"/>
                                      </a:rPr>
                                    </m:ctrlPr>
                                  </m:fPr>
                                  <m:num>
                                    <m:sSub>
                                      <m:sSubPr>
                                        <m:ctrlPr>
                                          <a:rPr lang="en-IN" sz="1800" i="1">
                                            <a:effectLst/>
                                            <a:latin typeface="Cambria Math" panose="02040503050406030204" pitchFamily="18" charset="0"/>
                                          </a:rPr>
                                        </m:ctrlPr>
                                      </m:sSubPr>
                                      <m:e>
                                        <m:r>
                                          <a:rPr lang="en-IN" sz="1800">
                                            <a:effectLst/>
                                            <a:latin typeface="Cambria Math" panose="02040503050406030204" pitchFamily="18" charset="0"/>
                                          </a:rPr>
                                          <m:t>𝑆𝑆</m:t>
                                        </m:r>
                                      </m:e>
                                      <m:sub>
                                        <m:r>
                                          <a:rPr lang="en-IN" sz="1800">
                                            <a:effectLst/>
                                            <a:latin typeface="Cambria Math" panose="02040503050406030204" pitchFamily="18" charset="0"/>
                                          </a:rPr>
                                          <m:t>𝐶</m:t>
                                        </m:r>
                                      </m:sub>
                                    </m:sSub>
                                  </m:num>
                                  <m:den>
                                    <m:r>
                                      <a:rPr lang="en-IN" sz="1800">
                                        <a:effectLst/>
                                        <a:latin typeface="Cambria Math" panose="02040503050406030204" pitchFamily="18" charset="0"/>
                                      </a:rPr>
                                      <m:t>𝑐</m:t>
                                    </m:r>
                                    <m:r>
                                      <a:rPr lang="en-IN" sz="1800">
                                        <a:effectLst/>
                                        <a:latin typeface="Cambria Math" panose="02040503050406030204" pitchFamily="18" charset="0"/>
                                      </a:rPr>
                                      <m:t>−1</m:t>
                                    </m:r>
                                  </m:den>
                                </m:f>
                                <m:r>
                                  <a:rPr lang="en-IN" sz="1800">
                                    <a:effectLst/>
                                    <a:latin typeface="Cambria Math" panose="02040503050406030204" pitchFamily="18" charset="0"/>
                                  </a:rPr>
                                  <m:t>=1</m:t>
                                </m:r>
                                <m:r>
                                  <a:rPr lang="en-US" sz="1800" b="0" i="0" smtClean="0">
                                    <a:effectLst/>
                                    <a:latin typeface="Cambria Math" panose="02040503050406030204" pitchFamily="18" charset="0"/>
                                  </a:rPr>
                                  <m:t>31.11</m:t>
                                </m:r>
                              </m:oMath>
                            </m:oMathPara>
                          </a14:m>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40858" marR="40858" marT="0" marB="0" anchor="ctr"/>
                    </a:tc>
                    <a:tc>
                      <a:txBody>
                        <a:bodyPr/>
                        <a:lstStyle/>
                        <a:p>
                          <a:pPr marL="457200" algn="just">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n-IN" sz="1800" i="1" smtClean="0">
                                        <a:effectLst/>
                                        <a:latin typeface="Cambria Math" panose="02040503050406030204" pitchFamily="18" charset="0"/>
                                      </a:rPr>
                                    </m:ctrlPr>
                                  </m:sSubPr>
                                  <m:e>
                                    <m:r>
                                      <a:rPr lang="en-IN" sz="1800">
                                        <a:effectLst/>
                                        <a:latin typeface="Cambria Math" panose="02040503050406030204" pitchFamily="18" charset="0"/>
                                      </a:rPr>
                                      <m:t>𝐹</m:t>
                                    </m:r>
                                  </m:e>
                                  <m:sub>
                                    <m:r>
                                      <a:rPr lang="en-IN" sz="1800">
                                        <a:effectLst/>
                                        <a:latin typeface="Cambria Math" panose="02040503050406030204" pitchFamily="18" charset="0"/>
                                      </a:rPr>
                                      <m:t>1</m:t>
                                    </m:r>
                                  </m:sub>
                                </m:sSub>
                                <m:r>
                                  <a:rPr lang="en-IN" sz="1800">
                                    <a:effectLst/>
                                    <a:latin typeface="Cambria Math" panose="02040503050406030204" pitchFamily="18" charset="0"/>
                                  </a:rPr>
                                  <m:t>=</m:t>
                                </m:r>
                                <m:f>
                                  <m:fPr>
                                    <m:ctrlPr>
                                      <a:rPr lang="en-IN" sz="1800" i="1">
                                        <a:effectLst/>
                                        <a:latin typeface="Cambria Math" panose="02040503050406030204" pitchFamily="18" charset="0"/>
                                      </a:rPr>
                                    </m:ctrlPr>
                                  </m:fPr>
                                  <m:num>
                                    <m:sSub>
                                      <m:sSubPr>
                                        <m:ctrlPr>
                                          <a:rPr lang="en-IN" sz="1800" i="1">
                                            <a:effectLst/>
                                            <a:latin typeface="Cambria Math" panose="02040503050406030204" pitchFamily="18" charset="0"/>
                                          </a:rPr>
                                        </m:ctrlPr>
                                      </m:sSubPr>
                                      <m:e>
                                        <m:r>
                                          <a:rPr lang="en-IN" sz="1800">
                                            <a:effectLst/>
                                            <a:latin typeface="Cambria Math" panose="02040503050406030204" pitchFamily="18" charset="0"/>
                                          </a:rPr>
                                          <m:t>𝑀𝑆</m:t>
                                        </m:r>
                                      </m:e>
                                      <m:sub>
                                        <m:r>
                                          <a:rPr lang="en-IN" sz="1800">
                                            <a:effectLst/>
                                            <a:latin typeface="Cambria Math" panose="02040503050406030204" pitchFamily="18" charset="0"/>
                                          </a:rPr>
                                          <m:t>𝐶</m:t>
                                        </m:r>
                                      </m:sub>
                                    </m:sSub>
                                  </m:num>
                                  <m:den>
                                    <m:sSub>
                                      <m:sSubPr>
                                        <m:ctrlPr>
                                          <a:rPr lang="en-IN" sz="1800" i="1">
                                            <a:effectLst/>
                                            <a:latin typeface="Cambria Math" panose="02040503050406030204" pitchFamily="18" charset="0"/>
                                          </a:rPr>
                                        </m:ctrlPr>
                                      </m:sSubPr>
                                      <m:e>
                                        <m:r>
                                          <a:rPr lang="en-IN" sz="1800">
                                            <a:effectLst/>
                                            <a:latin typeface="Cambria Math" panose="02040503050406030204" pitchFamily="18" charset="0"/>
                                          </a:rPr>
                                          <m:t>𝑀𝑆</m:t>
                                        </m:r>
                                      </m:e>
                                      <m:sub>
                                        <m:r>
                                          <a:rPr lang="en-IN" sz="1800">
                                            <a:effectLst/>
                                            <a:latin typeface="Cambria Math" panose="02040503050406030204" pitchFamily="18" charset="0"/>
                                          </a:rPr>
                                          <m:t>𝐸</m:t>
                                        </m:r>
                                      </m:sub>
                                    </m:sSub>
                                  </m:den>
                                </m:f>
                                <m:r>
                                  <a:rPr lang="en-IN" sz="1800">
                                    <a:effectLst/>
                                    <a:latin typeface="Cambria Math" panose="02040503050406030204" pitchFamily="18" charset="0"/>
                                  </a:rPr>
                                  <m:t>=18.</m:t>
                                </m:r>
                                <m:r>
                                  <a:rPr lang="en-US" sz="1800" b="0" i="0" smtClean="0">
                                    <a:effectLst/>
                                    <a:latin typeface="Cambria Math" panose="02040503050406030204" pitchFamily="18" charset="0"/>
                                  </a:rPr>
                                  <m:t>316</m:t>
                                </m:r>
                              </m:oMath>
                            </m:oMathPara>
                          </a14:m>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40858" marR="40858" marT="0" marB="0" anchor="ctr"/>
                    </a:tc>
                    <a:extLst>
                      <a:ext uri="{0D108BD9-81ED-4DB2-BD59-A6C34878D82A}">
                        <a16:rowId xmlns:a16="http://schemas.microsoft.com/office/drawing/2014/main" val="2341541183"/>
                      </a:ext>
                    </a:extLst>
                  </a:tr>
                  <a:tr h="1051887">
                    <a:tc>
                      <a:txBody>
                        <a:bodyPr/>
                        <a:lstStyle/>
                        <a:p>
                          <a:pPr marL="457200" algn="just">
                            <a:lnSpc>
                              <a:spcPct val="107000"/>
                            </a:lnSpc>
                          </a:pPr>
                          <a:r>
                            <a:rPr lang="en-IN" sz="1800">
                              <a:effectLst/>
                            </a:rPr>
                            <a:t>Between Workers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40858" marR="40858" marT="0" marB="0" anchor="ctr"/>
                    </a:tc>
                    <a:tc>
                      <a:txBody>
                        <a:bodyPr/>
                        <a:lstStyle/>
                        <a:p>
                          <a:pPr marL="457200" algn="just">
                            <a:lnSpc>
                              <a:spcPct val="107000"/>
                            </a:lnSpc>
                          </a:pPr>
                          <a14:m>
                            <m:oMathPara xmlns:m="http://schemas.openxmlformats.org/officeDocument/2006/math">
                              <m:oMathParaPr>
                                <m:jc m:val="centerGroup"/>
                              </m:oMathParaPr>
                              <m:oMath xmlns:m="http://schemas.openxmlformats.org/officeDocument/2006/math">
                                <m:sSub>
                                  <m:sSubPr>
                                    <m:ctrlPr>
                                      <a:rPr lang="en-IN" sz="1800" i="1" smtClean="0">
                                        <a:effectLst/>
                                        <a:latin typeface="Cambria Math" panose="02040503050406030204" pitchFamily="18" charset="0"/>
                                      </a:rPr>
                                    </m:ctrlPr>
                                  </m:sSubPr>
                                  <m:e>
                                    <m:r>
                                      <a:rPr lang="en-IN" sz="1800">
                                        <a:effectLst/>
                                        <a:latin typeface="Cambria Math" panose="02040503050406030204" pitchFamily="18" charset="0"/>
                                      </a:rPr>
                                      <m:t>𝑆𝑆</m:t>
                                    </m:r>
                                  </m:e>
                                  <m:sub>
                                    <m:r>
                                      <a:rPr lang="en-IN" sz="1800">
                                        <a:effectLst/>
                                        <a:latin typeface="Cambria Math" panose="02040503050406030204" pitchFamily="18" charset="0"/>
                                      </a:rPr>
                                      <m:t>𝑅</m:t>
                                    </m:r>
                                  </m:sub>
                                </m:sSub>
                                <m:r>
                                  <a:rPr lang="en-IN" sz="1800">
                                    <a:effectLst/>
                                    <a:latin typeface="Cambria Math" panose="02040503050406030204" pitchFamily="18" charset="0"/>
                                  </a:rPr>
                                  <m:t>=1</m:t>
                                </m:r>
                                <m:r>
                                  <a:rPr lang="en-US" sz="1800" b="0" i="0" smtClean="0">
                                    <a:effectLst/>
                                    <a:latin typeface="Cambria Math" panose="02040503050406030204" pitchFamily="18" charset="0"/>
                                  </a:rPr>
                                  <m:t>56.5</m:t>
                                </m:r>
                              </m:oMath>
                            </m:oMathPara>
                          </a14:m>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40858" marR="40858" marT="0" marB="0" anchor="ctr"/>
                    </a:tc>
                    <a:tc>
                      <a:txBody>
                        <a:bodyPr/>
                        <a:lstStyle/>
                        <a:p>
                          <a:pPr marL="457200" algn="just">
                            <a:lnSpc>
                              <a:spcPct val="107000"/>
                            </a:lnSpc>
                          </a:pPr>
                          <a14:m>
                            <m:oMathPara xmlns:m="http://schemas.openxmlformats.org/officeDocument/2006/math">
                              <m:oMathParaPr>
                                <m:jc m:val="centerGroup"/>
                              </m:oMathParaPr>
                              <m:oMath xmlns:m="http://schemas.openxmlformats.org/officeDocument/2006/math">
                                <m:r>
                                  <a:rPr lang="en-IN" sz="1800">
                                    <a:effectLst/>
                                    <a:latin typeface="Cambria Math" panose="02040503050406030204" pitchFamily="18" charset="0"/>
                                  </a:rPr>
                                  <m:t>𝑟</m:t>
                                </m:r>
                                <m:r>
                                  <a:rPr lang="en-IN" sz="1800">
                                    <a:effectLst/>
                                    <a:latin typeface="Cambria Math" panose="02040503050406030204" pitchFamily="18" charset="0"/>
                                  </a:rPr>
                                  <m:t>−1=4</m:t>
                                </m:r>
                              </m:oMath>
                            </m:oMathPara>
                          </a14:m>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40858" marR="40858" marT="0" marB="0" anchor="ctr"/>
                    </a:tc>
                    <a:tc>
                      <a:txBody>
                        <a:bodyPr/>
                        <a:lstStyle/>
                        <a:p>
                          <a:pPr marL="457200" algn="just">
                            <a:lnSpc>
                              <a:spcPct val="107000"/>
                            </a:lnSpc>
                          </a:pPr>
                          <a14:m>
                            <m:oMathPara xmlns:m="http://schemas.openxmlformats.org/officeDocument/2006/math">
                              <m:oMathParaPr>
                                <m:jc m:val="centerGroup"/>
                              </m:oMathParaPr>
                              <m:oMath xmlns:m="http://schemas.openxmlformats.org/officeDocument/2006/math">
                                <m:sSub>
                                  <m:sSubPr>
                                    <m:ctrlPr>
                                      <a:rPr lang="en-IN" sz="1800" i="1" smtClean="0">
                                        <a:effectLst/>
                                        <a:latin typeface="Cambria Math" panose="02040503050406030204" pitchFamily="18" charset="0"/>
                                      </a:rPr>
                                    </m:ctrlPr>
                                  </m:sSubPr>
                                  <m:e>
                                    <m:r>
                                      <a:rPr lang="en-IN" sz="1800">
                                        <a:effectLst/>
                                        <a:latin typeface="Cambria Math" panose="02040503050406030204" pitchFamily="18" charset="0"/>
                                      </a:rPr>
                                      <m:t>𝑀𝑆</m:t>
                                    </m:r>
                                  </m:e>
                                  <m:sub>
                                    <m:r>
                                      <a:rPr lang="en-IN" sz="1800">
                                        <a:effectLst/>
                                        <a:latin typeface="Cambria Math" panose="02040503050406030204" pitchFamily="18" charset="0"/>
                                      </a:rPr>
                                      <m:t>𝑅</m:t>
                                    </m:r>
                                  </m:sub>
                                </m:sSub>
                                <m:r>
                                  <a:rPr lang="en-IN" sz="1800">
                                    <a:effectLst/>
                                    <a:latin typeface="Cambria Math" panose="02040503050406030204" pitchFamily="18" charset="0"/>
                                  </a:rPr>
                                  <m:t>=</m:t>
                                </m:r>
                                <m:f>
                                  <m:fPr>
                                    <m:ctrlPr>
                                      <a:rPr lang="en-IN" sz="1800" i="1">
                                        <a:effectLst/>
                                        <a:latin typeface="Cambria Math" panose="02040503050406030204" pitchFamily="18" charset="0"/>
                                      </a:rPr>
                                    </m:ctrlPr>
                                  </m:fPr>
                                  <m:num>
                                    <m:sSub>
                                      <m:sSubPr>
                                        <m:ctrlPr>
                                          <a:rPr lang="en-IN" sz="1800" i="1">
                                            <a:effectLst/>
                                            <a:latin typeface="Cambria Math" panose="02040503050406030204" pitchFamily="18" charset="0"/>
                                          </a:rPr>
                                        </m:ctrlPr>
                                      </m:sSubPr>
                                      <m:e>
                                        <m:r>
                                          <a:rPr lang="en-IN" sz="1800">
                                            <a:effectLst/>
                                            <a:latin typeface="Cambria Math" panose="02040503050406030204" pitchFamily="18" charset="0"/>
                                          </a:rPr>
                                          <m:t>𝑆𝑆</m:t>
                                        </m:r>
                                      </m:e>
                                      <m:sub>
                                        <m:r>
                                          <a:rPr lang="en-IN" sz="1800">
                                            <a:effectLst/>
                                            <a:latin typeface="Cambria Math" panose="02040503050406030204" pitchFamily="18" charset="0"/>
                                          </a:rPr>
                                          <m:t>𝑅</m:t>
                                        </m:r>
                                      </m:sub>
                                    </m:sSub>
                                  </m:num>
                                  <m:den>
                                    <m:r>
                                      <a:rPr lang="en-IN" sz="1800">
                                        <a:effectLst/>
                                        <a:latin typeface="Cambria Math" panose="02040503050406030204" pitchFamily="18" charset="0"/>
                                      </a:rPr>
                                      <m:t>𝑟</m:t>
                                    </m:r>
                                    <m:r>
                                      <a:rPr lang="en-IN" sz="1800">
                                        <a:effectLst/>
                                        <a:latin typeface="Cambria Math" panose="02040503050406030204" pitchFamily="18" charset="0"/>
                                      </a:rPr>
                                      <m:t>−1</m:t>
                                    </m:r>
                                  </m:den>
                                </m:f>
                                <m:r>
                                  <a:rPr lang="en-IN" sz="1800">
                                    <a:effectLst/>
                                    <a:latin typeface="Cambria Math" panose="02040503050406030204" pitchFamily="18" charset="0"/>
                                  </a:rPr>
                                  <m:t>=</m:t>
                                </m:r>
                                <m:r>
                                  <a:rPr lang="en-US" sz="1800" b="0" i="0" smtClean="0">
                                    <a:effectLst/>
                                    <a:latin typeface="Cambria Math" panose="02040503050406030204" pitchFamily="18" charset="0"/>
                                  </a:rPr>
                                  <m:t>39.125</m:t>
                                </m:r>
                              </m:oMath>
                            </m:oMathPara>
                          </a14:m>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40858" marR="40858" marT="0" marB="0" anchor="ctr"/>
                    </a:tc>
                    <a:tc>
                      <a:txBody>
                        <a:bodyPr/>
                        <a:lstStyle/>
                        <a:p>
                          <a:pPr marL="457200" algn="just">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n-IN" sz="1800" i="1" smtClean="0">
                                        <a:effectLst/>
                                        <a:latin typeface="Cambria Math" panose="02040503050406030204" pitchFamily="18" charset="0"/>
                                      </a:rPr>
                                    </m:ctrlPr>
                                  </m:sSubPr>
                                  <m:e>
                                    <m:r>
                                      <a:rPr lang="en-IN" sz="1800">
                                        <a:effectLst/>
                                        <a:latin typeface="Cambria Math" panose="02040503050406030204" pitchFamily="18" charset="0"/>
                                      </a:rPr>
                                      <m:t>𝐹</m:t>
                                    </m:r>
                                  </m:e>
                                  <m:sub>
                                    <m:r>
                                      <a:rPr lang="en-IN" sz="1800">
                                        <a:effectLst/>
                                        <a:latin typeface="Cambria Math" panose="02040503050406030204" pitchFamily="18" charset="0"/>
                                      </a:rPr>
                                      <m:t>2</m:t>
                                    </m:r>
                                  </m:sub>
                                </m:sSub>
                                <m:r>
                                  <a:rPr lang="en-IN" sz="1800">
                                    <a:effectLst/>
                                    <a:latin typeface="Cambria Math" panose="02040503050406030204" pitchFamily="18" charset="0"/>
                                  </a:rPr>
                                  <m:t>=</m:t>
                                </m:r>
                                <m:f>
                                  <m:fPr>
                                    <m:ctrlPr>
                                      <a:rPr lang="en-IN" sz="1800" i="1">
                                        <a:effectLst/>
                                        <a:latin typeface="Cambria Math" panose="02040503050406030204" pitchFamily="18" charset="0"/>
                                      </a:rPr>
                                    </m:ctrlPr>
                                  </m:fPr>
                                  <m:num>
                                    <m:sSub>
                                      <m:sSubPr>
                                        <m:ctrlPr>
                                          <a:rPr lang="en-IN" sz="1800" i="1">
                                            <a:effectLst/>
                                            <a:latin typeface="Cambria Math" panose="02040503050406030204" pitchFamily="18" charset="0"/>
                                          </a:rPr>
                                        </m:ctrlPr>
                                      </m:sSubPr>
                                      <m:e>
                                        <m:r>
                                          <a:rPr lang="en-IN" sz="1800">
                                            <a:effectLst/>
                                            <a:latin typeface="Cambria Math" panose="02040503050406030204" pitchFamily="18" charset="0"/>
                                          </a:rPr>
                                          <m:t>𝑀𝑆</m:t>
                                        </m:r>
                                      </m:e>
                                      <m:sub>
                                        <m:r>
                                          <a:rPr lang="en-IN" sz="1800">
                                            <a:effectLst/>
                                            <a:latin typeface="Cambria Math" panose="02040503050406030204" pitchFamily="18" charset="0"/>
                                          </a:rPr>
                                          <m:t>𝑅</m:t>
                                        </m:r>
                                      </m:sub>
                                    </m:sSub>
                                  </m:num>
                                  <m:den>
                                    <m:sSub>
                                      <m:sSubPr>
                                        <m:ctrlPr>
                                          <a:rPr lang="en-IN" sz="1800" i="1">
                                            <a:effectLst/>
                                            <a:latin typeface="Cambria Math" panose="02040503050406030204" pitchFamily="18" charset="0"/>
                                          </a:rPr>
                                        </m:ctrlPr>
                                      </m:sSubPr>
                                      <m:e>
                                        <m:r>
                                          <a:rPr lang="en-IN" sz="1800">
                                            <a:effectLst/>
                                            <a:latin typeface="Cambria Math" panose="02040503050406030204" pitchFamily="18" charset="0"/>
                                          </a:rPr>
                                          <m:t>𝑀𝑆</m:t>
                                        </m:r>
                                      </m:e>
                                      <m:sub>
                                        <m:r>
                                          <a:rPr lang="en-IN" sz="1800">
                                            <a:effectLst/>
                                            <a:latin typeface="Cambria Math" panose="02040503050406030204" pitchFamily="18" charset="0"/>
                                          </a:rPr>
                                          <m:t>𝐸</m:t>
                                        </m:r>
                                      </m:sub>
                                    </m:sSub>
                                  </m:den>
                                </m:f>
                                <m:r>
                                  <a:rPr lang="en-US" sz="1800" b="0" i="0" smtClean="0">
                                    <a:effectLst/>
                                    <a:latin typeface="Cambria Math" panose="02040503050406030204" pitchFamily="18" charset="0"/>
                                  </a:rPr>
                                  <m:t>=5.465</m:t>
                                </m:r>
                              </m:oMath>
                            </m:oMathPara>
                          </a14:m>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40858" marR="40858" marT="0" marB="0" anchor="ctr"/>
                    </a:tc>
                    <a:extLst>
                      <a:ext uri="{0D108BD9-81ED-4DB2-BD59-A6C34878D82A}">
                        <a16:rowId xmlns:a16="http://schemas.microsoft.com/office/drawing/2014/main" val="1904925643"/>
                      </a:ext>
                    </a:extLst>
                  </a:tr>
                  <a:tr h="1219988">
                    <a:tc>
                      <a:txBody>
                        <a:bodyPr/>
                        <a:lstStyle/>
                        <a:p>
                          <a:pPr marL="457200" algn="just">
                            <a:lnSpc>
                              <a:spcPct val="107000"/>
                            </a:lnSpc>
                          </a:pPr>
                          <a:r>
                            <a:rPr lang="en-IN" sz="1800">
                              <a:effectLst/>
                            </a:rPr>
                            <a:t>Residuals or errors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40858" marR="40858" marT="0" marB="0" anchor="ctr"/>
                    </a:tc>
                    <a:tc>
                      <a:txBody>
                        <a:bodyPr/>
                        <a:lstStyle/>
                        <a:p>
                          <a:pPr marL="457200" algn="just">
                            <a:lnSpc>
                              <a:spcPct val="107000"/>
                            </a:lnSpc>
                          </a:pPr>
                          <a14:m>
                            <m:oMathPara xmlns:m="http://schemas.openxmlformats.org/officeDocument/2006/math">
                              <m:oMathParaPr>
                                <m:jc m:val="centerGroup"/>
                              </m:oMathParaPr>
                              <m:oMath xmlns:m="http://schemas.openxmlformats.org/officeDocument/2006/math">
                                <m:sSub>
                                  <m:sSubPr>
                                    <m:ctrlPr>
                                      <a:rPr lang="en-IN" sz="1800" i="1" smtClean="0">
                                        <a:effectLst/>
                                        <a:latin typeface="Cambria Math" panose="02040503050406030204" pitchFamily="18" charset="0"/>
                                      </a:rPr>
                                    </m:ctrlPr>
                                  </m:sSubPr>
                                  <m:e>
                                    <m:r>
                                      <a:rPr lang="en-IN" sz="1800">
                                        <a:effectLst/>
                                        <a:latin typeface="Cambria Math" panose="02040503050406030204" pitchFamily="18" charset="0"/>
                                      </a:rPr>
                                      <m:t>𝑆𝑆</m:t>
                                    </m:r>
                                  </m:e>
                                  <m:sub>
                                    <m:r>
                                      <a:rPr lang="en-IN" sz="1800">
                                        <a:effectLst/>
                                        <a:latin typeface="Cambria Math" panose="02040503050406030204" pitchFamily="18" charset="0"/>
                                      </a:rPr>
                                      <m:t>𝐸</m:t>
                                    </m:r>
                                  </m:sub>
                                </m:sSub>
                                <m:r>
                                  <a:rPr lang="en-US" sz="1800" b="0" i="0" smtClean="0">
                                    <a:effectLst/>
                                    <a:latin typeface="Cambria Math" panose="02040503050406030204" pitchFamily="18" charset="0"/>
                                  </a:rPr>
                                  <m:t>=85.9</m:t>
                                </m:r>
                              </m:oMath>
                            </m:oMathPara>
                          </a14:m>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40858" marR="40858" marT="0" marB="0" anchor="ctr"/>
                    </a:tc>
                    <a:tc>
                      <a:txBody>
                        <a:bodyPr/>
                        <a:lstStyle/>
                        <a:p>
                          <a:pPr marL="457200" algn="just">
                            <a:lnSpc>
                              <a:spcPct val="107000"/>
                            </a:lnSpc>
                          </a:pPr>
                          <a14:m>
                            <m:oMathPara xmlns:m="http://schemas.openxmlformats.org/officeDocument/2006/math">
                              <m:oMathParaPr>
                                <m:jc m:val="centerGroup"/>
                              </m:oMathParaPr>
                              <m:oMath xmlns:m="http://schemas.openxmlformats.org/officeDocument/2006/math">
                                <m:d>
                                  <m:dPr>
                                    <m:ctrlPr>
                                      <a:rPr lang="en-IN" sz="1800" i="1">
                                        <a:effectLst/>
                                        <a:latin typeface="Cambria Math" panose="02040503050406030204" pitchFamily="18" charset="0"/>
                                      </a:rPr>
                                    </m:ctrlPr>
                                  </m:dPr>
                                  <m:e>
                                    <m:r>
                                      <a:rPr lang="en-IN" sz="1800">
                                        <a:effectLst/>
                                        <a:latin typeface="Cambria Math" panose="02040503050406030204" pitchFamily="18" charset="0"/>
                                      </a:rPr>
                                      <m:t>𝑐</m:t>
                                    </m:r>
                                    <m:r>
                                      <a:rPr lang="en-IN" sz="1800">
                                        <a:effectLst/>
                                        <a:latin typeface="Cambria Math" panose="02040503050406030204" pitchFamily="18" charset="0"/>
                                      </a:rPr>
                                      <m:t>−1</m:t>
                                    </m:r>
                                  </m:e>
                                </m:d>
                                <m:d>
                                  <m:dPr>
                                    <m:ctrlPr>
                                      <a:rPr lang="en-IN" sz="1800" i="1">
                                        <a:effectLst/>
                                        <a:latin typeface="Cambria Math" panose="02040503050406030204" pitchFamily="18" charset="0"/>
                                      </a:rPr>
                                    </m:ctrlPr>
                                  </m:dPr>
                                  <m:e>
                                    <m:r>
                                      <a:rPr lang="en-IN" sz="1800">
                                        <a:effectLst/>
                                        <a:latin typeface="Cambria Math" panose="02040503050406030204" pitchFamily="18" charset="0"/>
                                      </a:rPr>
                                      <m:t>𝑟</m:t>
                                    </m:r>
                                    <m:r>
                                      <a:rPr lang="en-IN" sz="1800">
                                        <a:effectLst/>
                                        <a:latin typeface="Cambria Math" panose="02040503050406030204" pitchFamily="18" charset="0"/>
                                      </a:rPr>
                                      <m:t>−1</m:t>
                                    </m:r>
                                  </m:e>
                                </m:d>
                                <m:r>
                                  <a:rPr lang="en-IN" sz="1800">
                                    <a:effectLst/>
                                    <a:latin typeface="Cambria Math" panose="02040503050406030204" pitchFamily="18" charset="0"/>
                                  </a:rPr>
                                  <m:t>=12</m:t>
                                </m:r>
                              </m:oMath>
                            </m:oMathPara>
                          </a14:m>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40858" marR="40858" marT="0" marB="0" anchor="ctr"/>
                    </a:tc>
                    <a:tc>
                      <a:txBody>
                        <a:bodyPr/>
                        <a:lstStyle/>
                        <a:p>
                          <a:pPr marL="457200" algn="just">
                            <a:lnSpc>
                              <a:spcPct val="107000"/>
                            </a:lnSpc>
                          </a:pPr>
                          <a14:m>
                            <m:oMathPara xmlns:m="http://schemas.openxmlformats.org/officeDocument/2006/math">
                              <m:oMathParaPr>
                                <m:jc m:val="centerGroup"/>
                              </m:oMathParaPr>
                              <m:oMath xmlns:m="http://schemas.openxmlformats.org/officeDocument/2006/math">
                                <m:sSub>
                                  <m:sSubPr>
                                    <m:ctrlPr>
                                      <a:rPr lang="en-IN" sz="1800" i="1" smtClean="0">
                                        <a:effectLst/>
                                        <a:latin typeface="Cambria Math" panose="02040503050406030204" pitchFamily="18" charset="0"/>
                                      </a:rPr>
                                    </m:ctrlPr>
                                  </m:sSubPr>
                                  <m:e>
                                    <m:r>
                                      <a:rPr lang="en-IN" sz="1800">
                                        <a:effectLst/>
                                        <a:latin typeface="Cambria Math" panose="02040503050406030204" pitchFamily="18" charset="0"/>
                                      </a:rPr>
                                      <m:t>𝑀𝑆</m:t>
                                    </m:r>
                                  </m:e>
                                  <m:sub>
                                    <m:r>
                                      <a:rPr lang="en-IN" sz="1800">
                                        <a:effectLst/>
                                        <a:latin typeface="Cambria Math" panose="02040503050406030204" pitchFamily="18" charset="0"/>
                                      </a:rPr>
                                      <m:t>𝐸</m:t>
                                    </m:r>
                                  </m:sub>
                                </m:sSub>
                                <m:r>
                                  <a:rPr lang="en-IN" sz="1800">
                                    <a:effectLst/>
                                    <a:latin typeface="Cambria Math" panose="02040503050406030204" pitchFamily="18" charset="0"/>
                                  </a:rPr>
                                  <m:t>=</m:t>
                                </m:r>
                                <m:f>
                                  <m:fPr>
                                    <m:ctrlPr>
                                      <a:rPr lang="en-IN" sz="1800" i="1">
                                        <a:effectLst/>
                                        <a:latin typeface="Cambria Math" panose="02040503050406030204" pitchFamily="18" charset="0"/>
                                      </a:rPr>
                                    </m:ctrlPr>
                                  </m:fPr>
                                  <m:num>
                                    <m:sSub>
                                      <m:sSubPr>
                                        <m:ctrlPr>
                                          <a:rPr lang="en-IN" sz="1800" i="1">
                                            <a:effectLst/>
                                            <a:latin typeface="Cambria Math" panose="02040503050406030204" pitchFamily="18" charset="0"/>
                                          </a:rPr>
                                        </m:ctrlPr>
                                      </m:sSubPr>
                                      <m:e>
                                        <m:r>
                                          <a:rPr lang="en-IN" sz="1800">
                                            <a:effectLst/>
                                            <a:latin typeface="Cambria Math" panose="02040503050406030204" pitchFamily="18" charset="0"/>
                                          </a:rPr>
                                          <m:t>𝑆𝑆</m:t>
                                        </m:r>
                                      </m:e>
                                      <m:sub>
                                        <m:r>
                                          <a:rPr lang="en-IN" sz="1800">
                                            <a:effectLst/>
                                            <a:latin typeface="Cambria Math" panose="02040503050406030204" pitchFamily="18" charset="0"/>
                                          </a:rPr>
                                          <m:t>𝐸</m:t>
                                        </m:r>
                                      </m:sub>
                                    </m:sSub>
                                  </m:num>
                                  <m:den>
                                    <m:r>
                                      <a:rPr lang="en-IN" sz="1800">
                                        <a:effectLst/>
                                        <a:latin typeface="Cambria Math" panose="02040503050406030204" pitchFamily="18" charset="0"/>
                                      </a:rPr>
                                      <m:t>(</m:t>
                                    </m:r>
                                    <m:r>
                                      <a:rPr lang="en-IN" sz="1800">
                                        <a:effectLst/>
                                        <a:latin typeface="Cambria Math" panose="02040503050406030204" pitchFamily="18" charset="0"/>
                                      </a:rPr>
                                      <m:t>𝑐</m:t>
                                    </m:r>
                                    <m:r>
                                      <a:rPr lang="en-IN" sz="1800">
                                        <a:effectLst/>
                                        <a:latin typeface="Cambria Math" panose="02040503050406030204" pitchFamily="18" charset="0"/>
                                      </a:rPr>
                                      <m:t>−1)(</m:t>
                                    </m:r>
                                    <m:r>
                                      <a:rPr lang="en-IN" sz="1800">
                                        <a:effectLst/>
                                        <a:latin typeface="Cambria Math" panose="02040503050406030204" pitchFamily="18" charset="0"/>
                                      </a:rPr>
                                      <m:t>𝑟</m:t>
                                    </m:r>
                                    <m:r>
                                      <a:rPr lang="en-IN" sz="1800">
                                        <a:effectLst/>
                                        <a:latin typeface="Cambria Math" panose="02040503050406030204" pitchFamily="18" charset="0"/>
                                      </a:rPr>
                                      <m:t>−1)</m:t>
                                    </m:r>
                                  </m:den>
                                </m:f>
                                <m:r>
                                  <a:rPr lang="en-IN" sz="1800">
                                    <a:effectLst/>
                                    <a:latin typeface="Cambria Math" panose="02040503050406030204" pitchFamily="18" charset="0"/>
                                  </a:rPr>
                                  <m:t>=</m:t>
                                </m:r>
                                <m:r>
                                  <a:rPr lang="en-US" sz="1800" b="0" i="0" smtClean="0">
                                    <a:effectLst/>
                                    <a:latin typeface="Cambria Math" panose="02040503050406030204" pitchFamily="18" charset="0"/>
                                  </a:rPr>
                                  <m:t>7.158</m:t>
                                </m:r>
                              </m:oMath>
                            </m:oMathPara>
                          </a14:m>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40858" marR="40858" marT="0" marB="0" anchor="ctr"/>
                    </a:tc>
                    <a:tc>
                      <a:txBody>
                        <a:bodyPr/>
                        <a:lstStyle/>
                        <a:p>
                          <a:pPr marL="457200" algn="just">
                            <a:lnSpc>
                              <a:spcPct val="107000"/>
                            </a:lnSpc>
                            <a:spcAft>
                              <a:spcPts val="800"/>
                            </a:spcAft>
                          </a:pPr>
                          <a:r>
                            <a:rPr lang="en-IN" sz="1800" dirty="0">
                              <a:effectLst/>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40858" marR="40858" marT="0" marB="0" anchor="ctr"/>
                    </a:tc>
                    <a:extLst>
                      <a:ext uri="{0D108BD9-81ED-4DB2-BD59-A6C34878D82A}">
                        <a16:rowId xmlns:a16="http://schemas.microsoft.com/office/drawing/2014/main" val="46838261"/>
                      </a:ext>
                    </a:extLst>
                  </a:tr>
                  <a:tr h="597986">
                    <a:tc>
                      <a:txBody>
                        <a:bodyPr/>
                        <a:lstStyle/>
                        <a:p>
                          <a:pPr marL="457200" algn="just">
                            <a:lnSpc>
                              <a:spcPct val="107000"/>
                            </a:lnSpc>
                          </a:pPr>
                          <a:r>
                            <a:rPr lang="en-IN" sz="1800">
                              <a:effectLst/>
                            </a:rPr>
                            <a:t>Total</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40858" marR="40858" marT="0" marB="0" anchor="ctr"/>
                    </a:tc>
                    <a:tc>
                      <a:txBody>
                        <a:bodyPr/>
                        <a:lstStyle/>
                        <a:p>
                          <a:pPr marL="457200" algn="just">
                            <a:lnSpc>
                              <a:spcPct val="107000"/>
                            </a:lnSpc>
                          </a:pPr>
                          <a14:m>
                            <m:oMathPara xmlns:m="http://schemas.openxmlformats.org/officeDocument/2006/math">
                              <m:oMathParaPr>
                                <m:jc m:val="centerGroup"/>
                              </m:oMathParaPr>
                              <m:oMath xmlns:m="http://schemas.openxmlformats.org/officeDocument/2006/math">
                                <m:sSub>
                                  <m:sSubPr>
                                    <m:ctrlPr>
                                      <a:rPr lang="en-IN" sz="1800" i="1" smtClean="0">
                                        <a:effectLst/>
                                        <a:latin typeface="Cambria Math" panose="02040503050406030204" pitchFamily="18" charset="0"/>
                                      </a:rPr>
                                    </m:ctrlPr>
                                  </m:sSubPr>
                                  <m:e>
                                    <m:r>
                                      <a:rPr lang="en-IN" sz="1800">
                                        <a:effectLst/>
                                        <a:latin typeface="Cambria Math" panose="02040503050406030204" pitchFamily="18" charset="0"/>
                                      </a:rPr>
                                      <m:t>𝑆𝑆</m:t>
                                    </m:r>
                                  </m:e>
                                  <m:sub>
                                    <m:r>
                                      <a:rPr lang="en-IN" sz="1800">
                                        <a:effectLst/>
                                        <a:latin typeface="Cambria Math" panose="02040503050406030204" pitchFamily="18" charset="0"/>
                                      </a:rPr>
                                      <m:t>𝑇</m:t>
                                    </m:r>
                                  </m:sub>
                                </m:sSub>
                                <m:r>
                                  <a:rPr lang="en-IN" sz="1800">
                                    <a:effectLst/>
                                    <a:latin typeface="Cambria Math" panose="02040503050406030204" pitchFamily="18" charset="0"/>
                                  </a:rPr>
                                  <m:t>=</m:t>
                                </m:r>
                                <m:r>
                                  <a:rPr lang="en-US" sz="1800" b="0" i="0" smtClean="0">
                                    <a:effectLst/>
                                    <a:latin typeface="Cambria Math" panose="02040503050406030204" pitchFamily="18" charset="0"/>
                                  </a:rPr>
                                  <m:t>635.75</m:t>
                                </m:r>
                              </m:oMath>
                            </m:oMathPara>
                          </a14:m>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40858" marR="40858" marT="0" marB="0" anchor="ctr"/>
                    </a:tc>
                    <a:tc>
                      <a:txBody>
                        <a:bodyPr/>
                        <a:lstStyle/>
                        <a:p>
                          <a:pPr marL="457200" algn="just">
                            <a:lnSpc>
                              <a:spcPct val="107000"/>
                            </a:lnSpc>
                          </a:pPr>
                          <a14:m>
                            <m:oMathPara xmlns:m="http://schemas.openxmlformats.org/officeDocument/2006/math">
                              <m:oMathParaPr>
                                <m:jc m:val="centerGroup"/>
                              </m:oMathParaPr>
                              <m:oMath xmlns:m="http://schemas.openxmlformats.org/officeDocument/2006/math">
                                <m:r>
                                  <a:rPr lang="en-IN" sz="1800">
                                    <a:effectLst/>
                                    <a:latin typeface="Cambria Math" panose="02040503050406030204" pitchFamily="18" charset="0"/>
                                  </a:rPr>
                                  <m:t>𝑛</m:t>
                                </m:r>
                                <m:r>
                                  <a:rPr lang="en-IN" sz="1800">
                                    <a:effectLst/>
                                    <a:latin typeface="Cambria Math" panose="02040503050406030204" pitchFamily="18" charset="0"/>
                                  </a:rPr>
                                  <m:t>−1=19</m:t>
                                </m:r>
                              </m:oMath>
                            </m:oMathPara>
                          </a14:m>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40858" marR="40858" marT="0" marB="0" anchor="ctr"/>
                    </a:tc>
                    <a:tc>
                      <a:txBody>
                        <a:bodyPr/>
                        <a:lstStyle/>
                        <a:p>
                          <a:pPr marL="457200" algn="just">
                            <a:lnSpc>
                              <a:spcPct val="107000"/>
                            </a:lnSpc>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40858" marR="40858" marT="0" marB="0" anchor="ctr"/>
                    </a:tc>
                    <a:tc>
                      <a:txBody>
                        <a:bodyPr/>
                        <a:lstStyle/>
                        <a:p>
                          <a:pPr marL="457200" algn="just">
                            <a:lnSpc>
                              <a:spcPct val="107000"/>
                            </a:lnSpc>
                            <a:spcAft>
                              <a:spcPts val="800"/>
                            </a:spcAft>
                          </a:pPr>
                          <a:r>
                            <a:rPr lang="en-IN" sz="1800" dirty="0">
                              <a:effectLst/>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40858" marR="40858" marT="0" marB="0" anchor="ctr"/>
                    </a:tc>
                    <a:extLst>
                      <a:ext uri="{0D108BD9-81ED-4DB2-BD59-A6C34878D82A}">
                        <a16:rowId xmlns:a16="http://schemas.microsoft.com/office/drawing/2014/main" val="3596120364"/>
                      </a:ext>
                    </a:extLst>
                  </a:tr>
                </a:tbl>
              </a:graphicData>
            </a:graphic>
          </p:graphicFrame>
        </mc:Choice>
        <mc:Fallback xmlns="">
          <p:graphicFrame>
            <p:nvGraphicFramePr>
              <p:cNvPr id="4" name="Content Placeholder 4">
                <a:extLst>
                  <a:ext uri="{FF2B5EF4-FFF2-40B4-BE49-F238E27FC236}">
                    <a16:creationId xmlns:a16="http://schemas.microsoft.com/office/drawing/2014/main" id="{688FACBE-A186-9C69-1DAB-38BD8BB92619}"/>
                  </a:ext>
                </a:extLst>
              </p:cNvPr>
              <p:cNvGraphicFramePr>
                <a:graphicFrameLocks/>
              </p:cNvGraphicFramePr>
              <p:nvPr>
                <p:extLst>
                  <p:ext uri="{D42A27DB-BD31-4B8C-83A1-F6EECF244321}">
                    <p14:modId xmlns:p14="http://schemas.microsoft.com/office/powerpoint/2010/main" val="3208802202"/>
                  </p:ext>
                </p:extLst>
              </p:nvPr>
            </p:nvGraphicFramePr>
            <p:xfrm>
              <a:off x="1292469" y="844061"/>
              <a:ext cx="9815727" cy="5383364"/>
            </p:xfrm>
            <a:graphic>
              <a:graphicData uri="http://schemas.openxmlformats.org/drawingml/2006/table">
                <a:tbl>
                  <a:tblPr firstRow="1" firstCol="1" bandRow="1">
                    <a:tableStyleId>{5C22544A-7EE6-4342-B048-85BDC9FD1C3A}</a:tableStyleId>
                  </a:tblPr>
                  <a:tblGrid>
                    <a:gridCol w="1955945">
                      <a:extLst>
                        <a:ext uri="{9D8B030D-6E8A-4147-A177-3AD203B41FA5}">
                          <a16:colId xmlns:a16="http://schemas.microsoft.com/office/drawing/2014/main" val="4180435187"/>
                        </a:ext>
                      </a:extLst>
                    </a:gridCol>
                    <a:gridCol w="1755697">
                      <a:extLst>
                        <a:ext uri="{9D8B030D-6E8A-4147-A177-3AD203B41FA5}">
                          <a16:colId xmlns:a16="http://schemas.microsoft.com/office/drawing/2014/main" val="4244589759"/>
                        </a:ext>
                      </a:extLst>
                    </a:gridCol>
                    <a:gridCol w="1747585">
                      <a:extLst>
                        <a:ext uri="{9D8B030D-6E8A-4147-A177-3AD203B41FA5}">
                          <a16:colId xmlns:a16="http://schemas.microsoft.com/office/drawing/2014/main" val="174658411"/>
                        </a:ext>
                      </a:extLst>
                    </a:gridCol>
                    <a:gridCol w="2344165">
                      <a:extLst>
                        <a:ext uri="{9D8B030D-6E8A-4147-A177-3AD203B41FA5}">
                          <a16:colId xmlns:a16="http://schemas.microsoft.com/office/drawing/2014/main" val="1052959553"/>
                        </a:ext>
                      </a:extLst>
                    </a:gridCol>
                    <a:gridCol w="2012335">
                      <a:extLst>
                        <a:ext uri="{9D8B030D-6E8A-4147-A177-3AD203B41FA5}">
                          <a16:colId xmlns:a16="http://schemas.microsoft.com/office/drawing/2014/main" val="2620832387"/>
                        </a:ext>
                      </a:extLst>
                    </a:gridCol>
                  </a:tblGrid>
                  <a:tr h="1108085">
                    <a:tc>
                      <a:txBody>
                        <a:bodyPr/>
                        <a:lstStyle/>
                        <a:p>
                          <a:pPr marL="457200" algn="just">
                            <a:lnSpc>
                              <a:spcPct val="107000"/>
                            </a:lnSpc>
                          </a:pPr>
                          <a:r>
                            <a:rPr lang="en-IN" sz="1800" dirty="0">
                              <a:effectLst/>
                            </a:rPr>
                            <a:t>Source of Variation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40858" marR="40858" marT="0" marB="0" anchor="ctr"/>
                    </a:tc>
                    <a:tc>
                      <a:txBody>
                        <a:bodyPr/>
                        <a:lstStyle/>
                        <a:p>
                          <a:pPr marL="457200" algn="just">
                            <a:lnSpc>
                              <a:spcPct val="107000"/>
                            </a:lnSpc>
                          </a:pPr>
                          <a:r>
                            <a:rPr lang="en-IN" sz="1800">
                              <a:effectLst/>
                            </a:rPr>
                            <a:t>Sum of Squares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40858" marR="40858" marT="0" marB="0" anchor="ctr"/>
                    </a:tc>
                    <a:tc>
                      <a:txBody>
                        <a:bodyPr/>
                        <a:lstStyle/>
                        <a:p>
                          <a:pPr marL="457200" algn="just">
                            <a:lnSpc>
                              <a:spcPct val="107000"/>
                            </a:lnSpc>
                          </a:pPr>
                          <a:r>
                            <a:rPr lang="en-IN" sz="1800" dirty="0">
                              <a:effectLst/>
                            </a:rPr>
                            <a:t>Degrees of Freedom</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40858" marR="40858" marT="0" marB="0" anchor="ctr"/>
                    </a:tc>
                    <a:tc>
                      <a:txBody>
                        <a:bodyPr/>
                        <a:lstStyle/>
                        <a:p>
                          <a:pPr marL="457200" algn="just">
                            <a:lnSpc>
                              <a:spcPct val="107000"/>
                            </a:lnSpc>
                          </a:pPr>
                          <a:r>
                            <a:rPr lang="en-IN" sz="1800">
                              <a:effectLst/>
                            </a:rPr>
                            <a:t>Mean Sum of Squares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40858" marR="40858" marT="0" marB="0" anchor="ctr"/>
                    </a:tc>
                    <a:tc>
                      <a:txBody>
                        <a:bodyPr/>
                        <a:lstStyle/>
                        <a:p>
                          <a:pPr marL="457200" algn="just">
                            <a:lnSpc>
                              <a:spcPct val="107000"/>
                            </a:lnSpc>
                            <a:spcAft>
                              <a:spcPts val="800"/>
                            </a:spcAft>
                          </a:pPr>
                          <a:r>
                            <a:rPr lang="en-IN" sz="1800">
                              <a:effectLst/>
                            </a:rPr>
                            <a:t>F- ratios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40858" marR="40858" marT="0" marB="0" anchor="ctr"/>
                    </a:tc>
                    <a:extLst>
                      <a:ext uri="{0D108BD9-81ED-4DB2-BD59-A6C34878D82A}">
                        <a16:rowId xmlns:a16="http://schemas.microsoft.com/office/drawing/2014/main" val="2379292498"/>
                      </a:ext>
                    </a:extLst>
                  </a:tr>
                  <a:tr h="1405418">
                    <a:tc>
                      <a:txBody>
                        <a:bodyPr/>
                        <a:lstStyle/>
                        <a:p>
                          <a:pPr marL="457200" algn="just">
                            <a:lnSpc>
                              <a:spcPct val="107000"/>
                            </a:lnSpc>
                          </a:pPr>
                          <a:r>
                            <a:rPr lang="en-IN" sz="1800">
                              <a:effectLst/>
                            </a:rPr>
                            <a:t>Between Machine types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40858" marR="40858" marT="0" marB="0" anchor="ctr"/>
                    </a:tc>
                    <a:tc>
                      <a:txBody>
                        <a:bodyPr/>
                        <a:lstStyle/>
                        <a:p>
                          <a:endParaRPr lang="en-US"/>
                        </a:p>
                      </a:txBody>
                      <a:tcPr marL="40858" marR="40858" marT="0" marB="0" anchor="ctr">
                        <a:blipFill>
                          <a:blip r:embed="rId2"/>
                          <a:stretch>
                            <a:fillRect l="-112153" t="-79221" r="-349306" b="-204762"/>
                          </a:stretch>
                        </a:blipFill>
                      </a:tcPr>
                    </a:tc>
                    <a:tc>
                      <a:txBody>
                        <a:bodyPr/>
                        <a:lstStyle/>
                        <a:p>
                          <a:endParaRPr lang="en-US"/>
                        </a:p>
                      </a:txBody>
                      <a:tcPr marL="40858" marR="40858" marT="0" marB="0" anchor="ctr">
                        <a:blipFill>
                          <a:blip r:embed="rId2"/>
                          <a:stretch>
                            <a:fillRect l="-212892" t="-79221" r="-250523" b="-204762"/>
                          </a:stretch>
                        </a:blipFill>
                      </a:tcPr>
                    </a:tc>
                    <a:tc>
                      <a:txBody>
                        <a:bodyPr/>
                        <a:lstStyle/>
                        <a:p>
                          <a:endParaRPr lang="en-US"/>
                        </a:p>
                      </a:txBody>
                      <a:tcPr marL="40858" marR="40858" marT="0" marB="0" anchor="ctr">
                        <a:blipFill>
                          <a:blip r:embed="rId2"/>
                          <a:stretch>
                            <a:fillRect l="-233247" t="-79221" r="-86753" b="-204762"/>
                          </a:stretch>
                        </a:blipFill>
                      </a:tcPr>
                    </a:tc>
                    <a:tc>
                      <a:txBody>
                        <a:bodyPr/>
                        <a:lstStyle/>
                        <a:p>
                          <a:endParaRPr lang="en-US"/>
                        </a:p>
                      </a:txBody>
                      <a:tcPr marL="40858" marR="40858" marT="0" marB="0" anchor="ctr">
                        <a:blipFill>
                          <a:blip r:embed="rId2"/>
                          <a:stretch>
                            <a:fillRect l="-388788" t="-79221" r="-1212" b="-204762"/>
                          </a:stretch>
                        </a:blipFill>
                      </a:tcPr>
                    </a:tc>
                    <a:extLst>
                      <a:ext uri="{0D108BD9-81ED-4DB2-BD59-A6C34878D82A}">
                        <a16:rowId xmlns:a16="http://schemas.microsoft.com/office/drawing/2014/main" val="2341541183"/>
                      </a:ext>
                    </a:extLst>
                  </a:tr>
                  <a:tr h="1051887">
                    <a:tc>
                      <a:txBody>
                        <a:bodyPr/>
                        <a:lstStyle/>
                        <a:p>
                          <a:pPr marL="457200" algn="just">
                            <a:lnSpc>
                              <a:spcPct val="107000"/>
                            </a:lnSpc>
                          </a:pPr>
                          <a:r>
                            <a:rPr lang="en-IN" sz="1800">
                              <a:effectLst/>
                            </a:rPr>
                            <a:t>Between Workers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40858" marR="40858" marT="0" marB="0" anchor="ctr"/>
                    </a:tc>
                    <a:tc>
                      <a:txBody>
                        <a:bodyPr/>
                        <a:lstStyle/>
                        <a:p>
                          <a:endParaRPr lang="en-US"/>
                        </a:p>
                      </a:txBody>
                      <a:tcPr marL="40858" marR="40858" marT="0" marB="0" anchor="ctr">
                        <a:blipFill>
                          <a:blip r:embed="rId2"/>
                          <a:stretch>
                            <a:fillRect l="-112153" t="-240698" r="-349306" b="-175000"/>
                          </a:stretch>
                        </a:blipFill>
                      </a:tcPr>
                    </a:tc>
                    <a:tc>
                      <a:txBody>
                        <a:bodyPr/>
                        <a:lstStyle/>
                        <a:p>
                          <a:endParaRPr lang="en-US"/>
                        </a:p>
                      </a:txBody>
                      <a:tcPr marL="40858" marR="40858" marT="0" marB="0" anchor="ctr">
                        <a:blipFill>
                          <a:blip r:embed="rId2"/>
                          <a:stretch>
                            <a:fillRect l="-212892" t="-240698" r="-250523" b="-175000"/>
                          </a:stretch>
                        </a:blipFill>
                      </a:tcPr>
                    </a:tc>
                    <a:tc>
                      <a:txBody>
                        <a:bodyPr/>
                        <a:lstStyle/>
                        <a:p>
                          <a:endParaRPr lang="en-US"/>
                        </a:p>
                      </a:txBody>
                      <a:tcPr marL="40858" marR="40858" marT="0" marB="0" anchor="ctr">
                        <a:blipFill>
                          <a:blip r:embed="rId2"/>
                          <a:stretch>
                            <a:fillRect l="-233247" t="-240698" r="-86753" b="-175000"/>
                          </a:stretch>
                        </a:blipFill>
                      </a:tcPr>
                    </a:tc>
                    <a:tc>
                      <a:txBody>
                        <a:bodyPr/>
                        <a:lstStyle/>
                        <a:p>
                          <a:endParaRPr lang="en-US"/>
                        </a:p>
                      </a:txBody>
                      <a:tcPr marL="40858" marR="40858" marT="0" marB="0" anchor="ctr">
                        <a:blipFill>
                          <a:blip r:embed="rId2"/>
                          <a:stretch>
                            <a:fillRect l="-388788" t="-240698" r="-1212" b="-175000"/>
                          </a:stretch>
                        </a:blipFill>
                      </a:tcPr>
                    </a:tc>
                    <a:extLst>
                      <a:ext uri="{0D108BD9-81ED-4DB2-BD59-A6C34878D82A}">
                        <a16:rowId xmlns:a16="http://schemas.microsoft.com/office/drawing/2014/main" val="1904925643"/>
                      </a:ext>
                    </a:extLst>
                  </a:tr>
                  <a:tr h="1219988">
                    <a:tc>
                      <a:txBody>
                        <a:bodyPr/>
                        <a:lstStyle/>
                        <a:p>
                          <a:pPr marL="457200" algn="just">
                            <a:lnSpc>
                              <a:spcPct val="107000"/>
                            </a:lnSpc>
                          </a:pPr>
                          <a:r>
                            <a:rPr lang="en-IN" sz="1800">
                              <a:effectLst/>
                            </a:rPr>
                            <a:t>Residuals or errors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40858" marR="40858" marT="0" marB="0" anchor="ctr"/>
                    </a:tc>
                    <a:tc>
                      <a:txBody>
                        <a:bodyPr/>
                        <a:lstStyle/>
                        <a:p>
                          <a:endParaRPr lang="en-US"/>
                        </a:p>
                      </a:txBody>
                      <a:tcPr marL="40858" marR="40858" marT="0" marB="0" anchor="ctr">
                        <a:blipFill>
                          <a:blip r:embed="rId2"/>
                          <a:stretch>
                            <a:fillRect l="-112153" t="-291542" r="-349306" b="-49751"/>
                          </a:stretch>
                        </a:blipFill>
                      </a:tcPr>
                    </a:tc>
                    <a:tc>
                      <a:txBody>
                        <a:bodyPr/>
                        <a:lstStyle/>
                        <a:p>
                          <a:endParaRPr lang="en-US"/>
                        </a:p>
                      </a:txBody>
                      <a:tcPr marL="40858" marR="40858" marT="0" marB="0" anchor="ctr">
                        <a:blipFill>
                          <a:blip r:embed="rId2"/>
                          <a:stretch>
                            <a:fillRect l="-212892" t="-291542" r="-250523" b="-49751"/>
                          </a:stretch>
                        </a:blipFill>
                      </a:tcPr>
                    </a:tc>
                    <a:tc>
                      <a:txBody>
                        <a:bodyPr/>
                        <a:lstStyle/>
                        <a:p>
                          <a:endParaRPr lang="en-US"/>
                        </a:p>
                      </a:txBody>
                      <a:tcPr marL="40858" marR="40858" marT="0" marB="0" anchor="ctr">
                        <a:blipFill>
                          <a:blip r:embed="rId2"/>
                          <a:stretch>
                            <a:fillRect l="-233247" t="-291542" r="-86753" b="-49751"/>
                          </a:stretch>
                        </a:blipFill>
                      </a:tcPr>
                    </a:tc>
                    <a:tc>
                      <a:txBody>
                        <a:bodyPr/>
                        <a:lstStyle/>
                        <a:p>
                          <a:pPr marL="457200" algn="just">
                            <a:lnSpc>
                              <a:spcPct val="107000"/>
                            </a:lnSpc>
                            <a:spcAft>
                              <a:spcPts val="800"/>
                            </a:spcAft>
                          </a:pPr>
                          <a:r>
                            <a:rPr lang="en-IN" sz="1800" dirty="0">
                              <a:effectLst/>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40858" marR="40858" marT="0" marB="0" anchor="ctr"/>
                    </a:tc>
                    <a:extLst>
                      <a:ext uri="{0D108BD9-81ED-4DB2-BD59-A6C34878D82A}">
                        <a16:rowId xmlns:a16="http://schemas.microsoft.com/office/drawing/2014/main" val="46838261"/>
                      </a:ext>
                    </a:extLst>
                  </a:tr>
                  <a:tr h="597986">
                    <a:tc>
                      <a:txBody>
                        <a:bodyPr/>
                        <a:lstStyle/>
                        <a:p>
                          <a:pPr marL="457200" algn="just">
                            <a:lnSpc>
                              <a:spcPct val="107000"/>
                            </a:lnSpc>
                          </a:pPr>
                          <a:r>
                            <a:rPr lang="en-IN" sz="1800">
                              <a:effectLst/>
                            </a:rPr>
                            <a:t>Total</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40858" marR="40858" marT="0" marB="0" anchor="ctr"/>
                    </a:tc>
                    <a:tc>
                      <a:txBody>
                        <a:bodyPr/>
                        <a:lstStyle/>
                        <a:p>
                          <a:endParaRPr lang="en-US"/>
                        </a:p>
                      </a:txBody>
                      <a:tcPr marL="40858" marR="40858" marT="0" marB="0" anchor="ctr">
                        <a:blipFill>
                          <a:blip r:embed="rId2"/>
                          <a:stretch>
                            <a:fillRect l="-112153" t="-803061" r="-349306" b="-2041"/>
                          </a:stretch>
                        </a:blipFill>
                      </a:tcPr>
                    </a:tc>
                    <a:tc>
                      <a:txBody>
                        <a:bodyPr/>
                        <a:lstStyle/>
                        <a:p>
                          <a:endParaRPr lang="en-US"/>
                        </a:p>
                      </a:txBody>
                      <a:tcPr marL="40858" marR="40858" marT="0" marB="0" anchor="ctr">
                        <a:blipFill>
                          <a:blip r:embed="rId2"/>
                          <a:stretch>
                            <a:fillRect l="-212892" t="-803061" r="-250523" b="-2041"/>
                          </a:stretch>
                        </a:blipFill>
                      </a:tcPr>
                    </a:tc>
                    <a:tc>
                      <a:txBody>
                        <a:bodyPr/>
                        <a:lstStyle/>
                        <a:p>
                          <a:pPr marL="457200" algn="just">
                            <a:lnSpc>
                              <a:spcPct val="107000"/>
                            </a:lnSpc>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40858" marR="40858" marT="0" marB="0" anchor="ctr"/>
                    </a:tc>
                    <a:tc>
                      <a:txBody>
                        <a:bodyPr/>
                        <a:lstStyle/>
                        <a:p>
                          <a:pPr marL="457200" algn="just">
                            <a:lnSpc>
                              <a:spcPct val="107000"/>
                            </a:lnSpc>
                            <a:spcAft>
                              <a:spcPts val="800"/>
                            </a:spcAft>
                          </a:pPr>
                          <a:r>
                            <a:rPr lang="en-IN" sz="1800" dirty="0">
                              <a:effectLst/>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40858" marR="40858" marT="0" marB="0" anchor="ctr"/>
                    </a:tc>
                    <a:extLst>
                      <a:ext uri="{0D108BD9-81ED-4DB2-BD59-A6C34878D82A}">
                        <a16:rowId xmlns:a16="http://schemas.microsoft.com/office/drawing/2014/main" val="3596120364"/>
                      </a:ext>
                    </a:extLst>
                  </a:tr>
                </a:tbl>
              </a:graphicData>
            </a:graphic>
          </p:graphicFrame>
        </mc:Fallback>
      </mc:AlternateContent>
    </p:spTree>
    <p:extLst>
      <p:ext uri="{BB962C8B-B14F-4D97-AF65-F5344CB8AC3E}">
        <p14:creationId xmlns:p14="http://schemas.microsoft.com/office/powerpoint/2010/main" val="35190907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263D6C4-4840-40CC-AC84-17E24B3B7BDE}" type="slidenum">
              <a:rPr lang="en-US" noProof="0" smtClean="0"/>
              <a:pPr/>
              <a:t>20</a:t>
            </a:fld>
            <a:endParaRPr lang="en-US" noProof="0" dirty="0"/>
          </a:p>
        </p:txBody>
      </p:sp>
      <mc:AlternateContent xmlns:mc="http://schemas.openxmlformats.org/markup-compatibility/2006" xmlns:a14="http://schemas.microsoft.com/office/drawing/2010/main">
        <mc:Choice Requires="a14">
          <p:sp>
            <p:nvSpPr>
              <p:cNvPr id="4" name="Text Placeholder 3"/>
              <p:cNvSpPr>
                <a:spLocks noGrp="1"/>
              </p:cNvSpPr>
              <p:nvPr>
                <p:ph type="body" sz="quarter" idx="13"/>
              </p:nvPr>
            </p:nvSpPr>
            <p:spPr/>
            <p:txBody>
              <a:bodyPr/>
              <a:lstStyle/>
              <a:p>
                <a:pPr marL="0" lvl="0" indent="0">
                  <a:lnSpc>
                    <a:spcPct val="107000"/>
                  </a:lnSpc>
                  <a:spcAft>
                    <a:spcPts val="800"/>
                  </a:spcAft>
                  <a:buNone/>
                </a:pPr>
                <a:r>
                  <a:rPr lang="en-IN" sz="2400" dirty="0">
                    <a:latin typeface="Times New Roman" panose="02020603050405020304" pitchFamily="18" charset="0"/>
                    <a:ea typeface="Times New Roman" panose="02020603050405020304" pitchFamily="18" charset="0"/>
                    <a:cs typeface="Times New Roman" panose="02020603050405020304" pitchFamily="18" charset="0"/>
                  </a:rPr>
                  <a:t>Table value </a:t>
                </a:r>
                <a14:m>
                  <m:oMath xmlns:m="http://schemas.openxmlformats.org/officeDocument/2006/math">
                    <m:sSub>
                      <m:sSubPr>
                        <m:ctrlPr>
                          <a:rPr lang="en-IN"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en-IN" sz="2400" i="1">
                            <a:latin typeface="Cambria Math" panose="02040503050406030204" pitchFamily="18" charset="0"/>
                            <a:ea typeface="Times New Roman" panose="02020603050405020304" pitchFamily="18" charset="0"/>
                            <a:cs typeface="Times New Roman" panose="02020603050405020304" pitchFamily="18" charset="0"/>
                          </a:rPr>
                          <m:t>𝐹</m:t>
                        </m:r>
                      </m:e>
                      <m:sub>
                        <m:r>
                          <a:rPr lang="en-IN" sz="2400" i="1">
                            <a:latin typeface="Cambria Math" panose="02040503050406030204" pitchFamily="18" charset="0"/>
                            <a:ea typeface="Times New Roman" panose="02020603050405020304" pitchFamily="18" charset="0"/>
                            <a:cs typeface="Times New Roman" panose="02020603050405020304" pitchFamily="18" charset="0"/>
                          </a:rPr>
                          <m:t>0.05</m:t>
                        </m:r>
                      </m:sub>
                    </m:sSub>
                    <m:d>
                      <m:dPr>
                        <m:ctrlPr>
                          <a:rPr lang="en-IN" sz="2400" i="1">
                            <a:latin typeface="Cambria Math" panose="02040503050406030204" pitchFamily="18" charset="0"/>
                            <a:ea typeface="Times New Roman" panose="02020603050405020304" pitchFamily="18" charset="0"/>
                            <a:cs typeface="Times New Roman" panose="02020603050405020304" pitchFamily="18" charset="0"/>
                          </a:rPr>
                        </m:ctrlPr>
                      </m:dPr>
                      <m:e>
                        <m:r>
                          <a:rPr lang="en-IN" sz="2400" i="1">
                            <a:latin typeface="Cambria Math" panose="02040503050406030204" pitchFamily="18" charset="0"/>
                            <a:ea typeface="Times New Roman" panose="02020603050405020304" pitchFamily="18" charset="0"/>
                            <a:cs typeface="Times New Roman" panose="02020603050405020304" pitchFamily="18" charset="0"/>
                          </a:rPr>
                          <m:t>3, 12</m:t>
                        </m:r>
                      </m:e>
                    </m:d>
                    <m:r>
                      <a:rPr lang="en-IN" sz="2400" i="1">
                        <a:latin typeface="Cambria Math" panose="02040503050406030204" pitchFamily="18" charset="0"/>
                        <a:ea typeface="Times New Roman" panose="02020603050405020304" pitchFamily="18" charset="0"/>
                        <a:cs typeface="Times New Roman" panose="02020603050405020304" pitchFamily="18" charset="0"/>
                      </a:rPr>
                      <m:t>=3.49</m:t>
                    </m:r>
                  </m:oMath>
                </a14:m>
                <a:r>
                  <a:rPr lang="en-IN" sz="2400" dirty="0">
                    <a:latin typeface="Times New Roman" panose="02020603050405020304" pitchFamily="18" charset="0"/>
                    <a:ea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marL="0" lvl="0" indent="0">
                  <a:lnSpc>
                    <a:spcPct val="107000"/>
                  </a:lnSpc>
                  <a:spcAft>
                    <a:spcPts val="800"/>
                  </a:spcAft>
                  <a:buNone/>
                </a:pPr>
                <a:r>
                  <a:rPr lang="en-IN" sz="2400" dirty="0">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sSub>
                      <m:sSubPr>
                        <m:ctrlPr>
                          <a:rPr lang="en-IN"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en-IN" sz="2400" i="1">
                            <a:latin typeface="Cambria Math" panose="02040503050406030204" pitchFamily="18" charset="0"/>
                            <a:ea typeface="Times New Roman" panose="02020603050405020304" pitchFamily="18" charset="0"/>
                            <a:cs typeface="Times New Roman" panose="02020603050405020304" pitchFamily="18" charset="0"/>
                          </a:rPr>
                          <m:t>𝐹</m:t>
                        </m:r>
                      </m:e>
                      <m:sub>
                        <m:r>
                          <a:rPr lang="en-IN" sz="2400" i="1">
                            <a:latin typeface="Cambria Math" panose="02040503050406030204" pitchFamily="18" charset="0"/>
                            <a:ea typeface="Times New Roman" panose="02020603050405020304" pitchFamily="18" charset="0"/>
                            <a:cs typeface="Times New Roman" panose="02020603050405020304" pitchFamily="18" charset="0"/>
                          </a:rPr>
                          <m:t>1</m:t>
                        </m:r>
                      </m:sub>
                    </m:sSub>
                    <m:r>
                      <a:rPr lang="en-IN" sz="2400" i="1">
                        <a:latin typeface="Cambria Math" panose="02040503050406030204" pitchFamily="18" charset="0"/>
                        <a:ea typeface="Times New Roman" panose="02020603050405020304" pitchFamily="18" charset="0"/>
                        <a:cs typeface="Times New Roman" panose="02020603050405020304" pitchFamily="18" charset="0"/>
                      </a:rPr>
                      <m:t> </m:t>
                    </m:r>
                  </m:oMath>
                </a14:m>
                <a:r>
                  <a:rPr lang="en-IN" sz="2400" dirty="0">
                    <a:latin typeface="Times New Roman" panose="02020603050405020304" pitchFamily="18" charset="0"/>
                    <a:ea typeface="Times New Roman" panose="02020603050405020304" pitchFamily="18" charset="0"/>
                    <a:cs typeface="Times New Roman" panose="02020603050405020304" pitchFamily="18" charset="0"/>
                  </a:rPr>
                  <a:t>&gt; </a:t>
                </a:r>
                <a14:m>
                  <m:oMath xmlns:m="http://schemas.openxmlformats.org/officeDocument/2006/math">
                    <m:sSub>
                      <m:sSubPr>
                        <m:ctrlPr>
                          <a:rPr lang="en-IN"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en-IN" sz="2400" i="1">
                            <a:latin typeface="Cambria Math" panose="02040503050406030204" pitchFamily="18" charset="0"/>
                            <a:ea typeface="Times New Roman" panose="02020603050405020304" pitchFamily="18" charset="0"/>
                            <a:cs typeface="Times New Roman" panose="02020603050405020304" pitchFamily="18" charset="0"/>
                          </a:rPr>
                          <m:t>𝐹</m:t>
                        </m:r>
                      </m:e>
                      <m:sub>
                        <m:r>
                          <a:rPr lang="en-IN" sz="2400" i="1">
                            <a:latin typeface="Cambria Math" panose="02040503050406030204" pitchFamily="18" charset="0"/>
                            <a:ea typeface="Times New Roman" panose="02020603050405020304" pitchFamily="18" charset="0"/>
                            <a:cs typeface="Times New Roman" panose="02020603050405020304" pitchFamily="18" charset="0"/>
                          </a:rPr>
                          <m:t>0.05</m:t>
                        </m:r>
                      </m:sub>
                    </m:sSub>
                    <m:r>
                      <a:rPr lang="en-IN" sz="2400" i="1">
                        <a:latin typeface="Cambria Math" panose="02040503050406030204" pitchFamily="18" charset="0"/>
                        <a:ea typeface="Times New Roman" panose="02020603050405020304" pitchFamily="18" charset="0"/>
                        <a:cs typeface="Times New Roman" panose="02020603050405020304" pitchFamily="18" charset="0"/>
                      </a:rPr>
                      <m:t>(3, 12)</m:t>
                    </m:r>
                  </m:oMath>
                </a14:m>
                <a:r>
                  <a:rPr lang="en-IN" sz="2400" dirty="0">
                    <a:latin typeface="Times New Roman" panose="02020603050405020304" pitchFamily="18" charset="0"/>
                    <a:ea typeface="Times New Roman" panose="02020603050405020304" pitchFamily="18" charset="0"/>
                    <a:cs typeface="Times New Roman" panose="02020603050405020304" pitchFamily="18" charset="0"/>
                  </a:rPr>
                  <a:t>, we conclude that the productivity is not same for the four different types of machines</a:t>
                </a:r>
              </a:p>
              <a:p>
                <a:pPr marL="0" lvl="0" indent="0">
                  <a:lnSpc>
                    <a:spcPct val="107000"/>
                  </a:lnSpc>
                  <a:spcAft>
                    <a:spcPts val="800"/>
                  </a:spcAft>
                  <a:buNone/>
                </a:pPr>
                <a:r>
                  <a:rPr lang="en-IN" sz="2400" dirty="0">
                    <a:latin typeface="Times New Roman" panose="02020603050405020304" pitchFamily="18" charset="0"/>
                    <a:ea typeface="Times New Roman" panose="02020603050405020304" pitchFamily="18" charset="0"/>
                    <a:cs typeface="Times New Roman" panose="02020603050405020304" pitchFamily="18" charset="0"/>
                  </a:rPr>
                  <a:t>Table value </a:t>
                </a:r>
                <a14:m>
                  <m:oMath xmlns:m="http://schemas.openxmlformats.org/officeDocument/2006/math">
                    <m:sSub>
                      <m:sSubPr>
                        <m:ctrlPr>
                          <a:rPr lang="en-IN"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en-IN" sz="2400" i="1">
                            <a:latin typeface="Cambria Math" panose="02040503050406030204" pitchFamily="18" charset="0"/>
                            <a:ea typeface="Times New Roman" panose="02020603050405020304" pitchFamily="18" charset="0"/>
                            <a:cs typeface="Times New Roman" panose="02020603050405020304" pitchFamily="18" charset="0"/>
                          </a:rPr>
                          <m:t>𝐹</m:t>
                        </m:r>
                      </m:e>
                      <m:sub>
                        <m:r>
                          <a:rPr lang="en-IN" sz="2400" i="1">
                            <a:latin typeface="Cambria Math" panose="02040503050406030204" pitchFamily="18" charset="0"/>
                            <a:ea typeface="Times New Roman" panose="02020603050405020304" pitchFamily="18" charset="0"/>
                            <a:cs typeface="Times New Roman" panose="02020603050405020304" pitchFamily="18" charset="0"/>
                          </a:rPr>
                          <m:t>0.05</m:t>
                        </m:r>
                      </m:sub>
                    </m:sSub>
                    <m:d>
                      <m:dPr>
                        <m:ctrlPr>
                          <a:rPr lang="en-IN" sz="2400" i="1">
                            <a:latin typeface="Cambria Math" panose="02040503050406030204" pitchFamily="18" charset="0"/>
                            <a:ea typeface="Times New Roman" panose="02020603050405020304" pitchFamily="18" charset="0"/>
                            <a:cs typeface="Times New Roman" panose="02020603050405020304" pitchFamily="18" charset="0"/>
                          </a:rPr>
                        </m:ctrlPr>
                      </m:dPr>
                      <m:e>
                        <m:r>
                          <a:rPr lang="en-IN" sz="2400" i="1">
                            <a:latin typeface="Cambria Math" panose="02040503050406030204" pitchFamily="18" charset="0"/>
                            <a:ea typeface="Times New Roman" panose="02020603050405020304" pitchFamily="18" charset="0"/>
                            <a:cs typeface="Times New Roman" panose="02020603050405020304" pitchFamily="18" charset="0"/>
                          </a:rPr>
                          <m:t>4, 12</m:t>
                        </m:r>
                      </m:e>
                    </m:d>
                    <m:r>
                      <a:rPr lang="en-IN" sz="2400" i="1">
                        <a:latin typeface="Cambria Math" panose="02040503050406030204" pitchFamily="18" charset="0"/>
                        <a:ea typeface="Times New Roman" panose="02020603050405020304" pitchFamily="18" charset="0"/>
                        <a:cs typeface="Times New Roman" panose="02020603050405020304" pitchFamily="18" charset="0"/>
                      </a:rPr>
                      <m:t>=3.26</m:t>
                    </m:r>
                  </m:oMath>
                </a14:m>
                <a:r>
                  <a:rPr lang="en-IN" sz="2400" dirty="0">
                    <a:latin typeface="Times New Roman" panose="02020603050405020304" pitchFamily="18" charset="0"/>
                    <a:ea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14:m>
                  <m:oMath xmlns:m="http://schemas.openxmlformats.org/officeDocument/2006/math">
                    <m:sSub>
                      <m:sSubPr>
                        <m:ctrlPr>
                          <a:rPr lang="en-IN"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en-IN" sz="2400" i="1">
                            <a:latin typeface="Cambria Math" panose="02040503050406030204" pitchFamily="18" charset="0"/>
                            <a:ea typeface="Times New Roman" panose="02020603050405020304" pitchFamily="18" charset="0"/>
                            <a:cs typeface="Times New Roman" panose="02020603050405020304" pitchFamily="18" charset="0"/>
                          </a:rPr>
                          <m:t>𝐹</m:t>
                        </m:r>
                      </m:e>
                      <m:sub>
                        <m:r>
                          <a:rPr lang="en-IN" sz="2400" i="1">
                            <a:latin typeface="Cambria Math" panose="02040503050406030204" pitchFamily="18" charset="0"/>
                            <a:ea typeface="Times New Roman" panose="02020603050405020304" pitchFamily="18" charset="0"/>
                            <a:cs typeface="Times New Roman" panose="02020603050405020304" pitchFamily="18" charset="0"/>
                          </a:rPr>
                          <m:t>2</m:t>
                        </m:r>
                      </m:sub>
                    </m:sSub>
                    <m:r>
                      <a:rPr lang="en-IN" sz="2400" i="1">
                        <a:latin typeface="Cambria Math" panose="02040503050406030204" pitchFamily="18" charset="0"/>
                        <a:ea typeface="Times New Roman" panose="02020603050405020304" pitchFamily="18" charset="0"/>
                        <a:cs typeface="Times New Roman" panose="02020603050405020304" pitchFamily="18" charset="0"/>
                      </a:rPr>
                      <m:t> </m:t>
                    </m:r>
                  </m:oMath>
                </a14:m>
                <a:r>
                  <a:rPr lang="en-IN" sz="2400" dirty="0">
                    <a:latin typeface="Times New Roman" panose="02020603050405020304" pitchFamily="18" charset="0"/>
                    <a:ea typeface="Times New Roman" panose="02020603050405020304" pitchFamily="18" charset="0"/>
                    <a:cs typeface="Times New Roman" panose="02020603050405020304" pitchFamily="18" charset="0"/>
                  </a:rPr>
                  <a:t>&gt; </a:t>
                </a:r>
                <a14:m>
                  <m:oMath xmlns:m="http://schemas.openxmlformats.org/officeDocument/2006/math">
                    <m:sSub>
                      <m:sSubPr>
                        <m:ctrlPr>
                          <a:rPr lang="en-IN"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en-IN" sz="2400" i="1">
                            <a:latin typeface="Cambria Math" panose="02040503050406030204" pitchFamily="18" charset="0"/>
                            <a:ea typeface="Times New Roman" panose="02020603050405020304" pitchFamily="18" charset="0"/>
                            <a:cs typeface="Times New Roman" panose="02020603050405020304" pitchFamily="18" charset="0"/>
                          </a:rPr>
                          <m:t>𝐹</m:t>
                        </m:r>
                      </m:e>
                      <m:sub>
                        <m:r>
                          <a:rPr lang="en-IN" sz="2400" i="1">
                            <a:latin typeface="Cambria Math" panose="02040503050406030204" pitchFamily="18" charset="0"/>
                            <a:ea typeface="Times New Roman" panose="02020603050405020304" pitchFamily="18" charset="0"/>
                            <a:cs typeface="Times New Roman" panose="02020603050405020304" pitchFamily="18" charset="0"/>
                          </a:rPr>
                          <m:t>0.05</m:t>
                        </m:r>
                      </m:sub>
                    </m:sSub>
                    <m:r>
                      <a:rPr lang="en-IN" sz="2400" i="1">
                        <a:latin typeface="Cambria Math" panose="02040503050406030204" pitchFamily="18" charset="0"/>
                        <a:ea typeface="Times New Roman" panose="02020603050405020304" pitchFamily="18" charset="0"/>
                        <a:cs typeface="Times New Roman" panose="02020603050405020304" pitchFamily="18" charset="0"/>
                      </a:rPr>
                      <m:t>(4, 12)</m:t>
                    </m:r>
                  </m:oMath>
                </a14:m>
                <a:r>
                  <a:rPr lang="en-IN" sz="2400" dirty="0">
                    <a:latin typeface="Times New Roman" panose="02020603050405020304" pitchFamily="18" charset="0"/>
                    <a:ea typeface="Times New Roman" panose="02020603050405020304" pitchFamily="18" charset="0"/>
                    <a:cs typeface="Times New Roman" panose="02020603050405020304" pitchFamily="18" charset="0"/>
                  </a:rPr>
                  <a:t>, hence the mean productivity differ with different workers.</a:t>
                </a:r>
                <a:endParaRPr lang="en-IN" sz="2400" dirty="0"/>
              </a:p>
              <a:p>
                <a:pPr marL="0" indent="0">
                  <a:lnSpc>
                    <a:spcPct val="107000"/>
                  </a:lnSpc>
                  <a:spcAft>
                    <a:spcPts val="800"/>
                  </a:spcAft>
                  <a:buNone/>
                </a:pP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endParaRPr lang="en-US" dirty="0"/>
              </a:p>
            </p:txBody>
          </p:sp>
        </mc:Choice>
        <mc:Fallback xmlns="">
          <p:sp>
            <p:nvSpPr>
              <p:cNvPr id="4" name="Text Placeholder 3"/>
              <p:cNvSpPr>
                <a:spLocks noGrp="1" noRot="1" noChangeAspect="1" noMove="1" noResize="1" noEditPoints="1" noAdjustHandles="1" noChangeArrowheads="1" noChangeShapeType="1" noTextEdit="1"/>
              </p:cNvSpPr>
              <p:nvPr>
                <p:ph type="body" sz="quarter" idx="13"/>
              </p:nvPr>
            </p:nvSpPr>
            <p:spPr>
              <a:blipFill>
                <a:blip r:embed="rId2"/>
                <a:stretch>
                  <a:fillRect l="-1452" t="-1192" r="-998"/>
                </a:stretch>
              </a:blipFill>
            </p:spPr>
            <p:txBody>
              <a:bodyPr/>
              <a:lstStyle/>
              <a:p>
                <a:r>
                  <a:rPr lang="en-US">
                    <a:noFill/>
                  </a:rPr>
                  <a:t> </a:t>
                </a:r>
              </a:p>
            </p:txBody>
          </p:sp>
        </mc:Fallback>
      </mc:AlternateContent>
    </p:spTree>
    <p:extLst>
      <p:ext uri="{BB962C8B-B14F-4D97-AF65-F5344CB8AC3E}">
        <p14:creationId xmlns:p14="http://schemas.microsoft.com/office/powerpoint/2010/main" val="12096250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T-test</a:t>
            </a:r>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21</a:t>
            </a:fld>
            <a:endParaRPr lang="en-US" noProof="0" dirty="0"/>
          </a:p>
        </p:txBody>
      </p:sp>
      <p:sp>
        <p:nvSpPr>
          <p:cNvPr id="4" name="Text Placeholder 3"/>
          <p:cNvSpPr>
            <a:spLocks noGrp="1"/>
          </p:cNvSpPr>
          <p:nvPr>
            <p:ph type="body" sz="quarter" idx="13"/>
          </p:nvPr>
        </p:nvSpPr>
        <p:spPr/>
        <p:txBody>
          <a:bodyPr/>
          <a:lstStyle/>
          <a:p>
            <a:r>
              <a:rPr lang="en-US" sz="2400" dirty="0">
                <a:latin typeface="Times New Roman" panose="02020603050405020304" pitchFamily="18" charset="0"/>
                <a:cs typeface="Times New Roman" panose="02020603050405020304" pitchFamily="18" charset="0"/>
              </a:rPr>
              <a:t>Analyses the significant difference between means of two groups.</a:t>
            </a:r>
          </a:p>
          <a:p>
            <a:r>
              <a:rPr lang="en-US" sz="2400" dirty="0">
                <a:latin typeface="Times New Roman" panose="02020603050405020304" pitchFamily="18" charset="0"/>
                <a:cs typeface="Times New Roman" panose="02020603050405020304" pitchFamily="18" charset="0"/>
              </a:rPr>
              <a:t>Different types </a:t>
            </a:r>
          </a:p>
          <a:p>
            <a:pPr marL="914400" lvl="1" indent="-457200">
              <a:buFont typeface="+mj-lt"/>
              <a:buAutoNum type="arabicPeriod"/>
            </a:pPr>
            <a:r>
              <a:rPr lang="en-US" sz="2200" dirty="0">
                <a:latin typeface="Times New Roman" panose="02020603050405020304" pitchFamily="18" charset="0"/>
                <a:cs typeface="Times New Roman" panose="02020603050405020304" pitchFamily="18" charset="0"/>
              </a:rPr>
              <a:t>One Sample T-test</a:t>
            </a:r>
          </a:p>
          <a:p>
            <a:pPr marL="914400" lvl="1" indent="-457200">
              <a:buFont typeface="+mj-lt"/>
              <a:buAutoNum type="arabicPeriod"/>
            </a:pPr>
            <a:r>
              <a:rPr lang="en-US" sz="2200" dirty="0">
                <a:latin typeface="Times New Roman" panose="02020603050405020304" pitchFamily="18" charset="0"/>
                <a:cs typeface="Times New Roman" panose="02020603050405020304" pitchFamily="18" charset="0"/>
              </a:rPr>
              <a:t>Independent Sample T-test</a:t>
            </a:r>
          </a:p>
          <a:p>
            <a:pPr marL="914400" lvl="1" indent="-457200">
              <a:buFont typeface="+mj-lt"/>
              <a:buAutoNum type="arabicPeriod"/>
            </a:pPr>
            <a:r>
              <a:rPr lang="en-US" sz="2200" dirty="0">
                <a:latin typeface="Times New Roman" panose="02020603050405020304" pitchFamily="18" charset="0"/>
                <a:cs typeface="Times New Roman" panose="02020603050405020304" pitchFamily="18" charset="0"/>
              </a:rPr>
              <a:t>Paired Sample T-test               </a:t>
            </a:r>
          </a:p>
        </p:txBody>
      </p:sp>
    </p:spTree>
    <p:extLst>
      <p:ext uri="{BB962C8B-B14F-4D97-AF65-F5344CB8AC3E}">
        <p14:creationId xmlns:p14="http://schemas.microsoft.com/office/powerpoint/2010/main" val="3502315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One Sample T-test</a:t>
            </a:r>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22</a:t>
            </a:fld>
            <a:endParaRPr lang="en-US" noProof="0" dirty="0"/>
          </a:p>
        </p:txBody>
      </p:sp>
      <mc:AlternateContent xmlns:mc="http://schemas.openxmlformats.org/markup-compatibility/2006" xmlns:a14="http://schemas.microsoft.com/office/drawing/2010/main">
        <mc:Choice Requires="a14">
          <p:sp>
            <p:nvSpPr>
              <p:cNvPr id="4" name="Text Placeholder 3"/>
              <p:cNvSpPr>
                <a:spLocks noGrp="1"/>
              </p:cNvSpPr>
              <p:nvPr>
                <p:ph type="body" sz="quarter" idx="13"/>
              </p:nvPr>
            </p:nvSpPr>
            <p:spPr/>
            <p:txBody>
              <a:bodyPr/>
              <a:lstStyle/>
              <a:p>
                <a:r>
                  <a:rPr lang="en-US" sz="2800" dirty="0">
                    <a:latin typeface="Times New Roman" panose="02020603050405020304" pitchFamily="18" charset="0"/>
                    <a:cs typeface="Times New Roman" panose="02020603050405020304" pitchFamily="18" charset="0"/>
                  </a:rPr>
                  <a:t>H</a:t>
                </a:r>
                <a:r>
                  <a:rPr lang="en-US" sz="1400" dirty="0">
                    <a:latin typeface="Times New Roman" panose="02020603050405020304" pitchFamily="18" charset="0"/>
                    <a:cs typeface="Times New Roman" panose="02020603050405020304" pitchFamily="18" charset="0"/>
                  </a:rPr>
                  <a:t>0: </a:t>
                </a:r>
                <a14:m>
                  <m:oMath xmlns:m="http://schemas.openxmlformats.org/officeDocument/2006/math">
                    <m:bar>
                      <m:barPr>
                        <m:pos m:val="top"/>
                        <m:ctrlPr>
                          <a:rPr lang="en-US" sz="2400" b="0" i="1" smtClean="0">
                            <a:latin typeface="Cambria Math" panose="02040503050406030204" pitchFamily="18" charset="0"/>
                            <a:cs typeface="Times New Roman" panose="02020603050405020304" pitchFamily="18" charset="0"/>
                          </a:rPr>
                        </m:ctrlPr>
                      </m:barPr>
                      <m:e>
                        <m:r>
                          <a:rPr lang="en-US" sz="2400" b="0" i="1" smtClean="0">
                            <a:latin typeface="Cambria Math" panose="02040503050406030204" pitchFamily="18" charset="0"/>
                            <a:cs typeface="Times New Roman" panose="02020603050405020304" pitchFamily="18" charset="0"/>
                          </a:rPr>
                          <m:t>𝑋</m:t>
                        </m:r>
                      </m:e>
                    </m:bar>
                  </m:oMath>
                </a14:m>
                <a:r>
                  <a:rPr lang="en-US" sz="2400" b="0" dirty="0">
                    <a:latin typeface="Times New Roman" panose="02020603050405020304" pitchFamily="18" charset="0"/>
                    <a:cs typeface="Times New Roman" panose="02020603050405020304" pitchFamily="18" charset="0"/>
                  </a:rPr>
                  <a:t>= µ ; H</a:t>
                </a:r>
                <a:r>
                  <a:rPr lang="en-US" sz="1400" b="0"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 </a:t>
                </a:r>
                <a14:m>
                  <m:oMath xmlns:m="http://schemas.openxmlformats.org/officeDocument/2006/math">
                    <m:bar>
                      <m:barPr>
                        <m:pos m:val="top"/>
                        <m:ctrlPr>
                          <a:rPr lang="en-US" sz="2400" b="0" i="1" smtClean="0">
                            <a:latin typeface="Cambria Math" panose="02040503050406030204" pitchFamily="18" charset="0"/>
                            <a:cs typeface="Times New Roman" panose="02020603050405020304" pitchFamily="18" charset="0"/>
                          </a:rPr>
                        </m:ctrlPr>
                      </m:barPr>
                      <m:e>
                        <m:r>
                          <a:rPr lang="en-US" sz="2400" b="0" i="1" smtClean="0">
                            <a:latin typeface="Cambria Math" panose="02040503050406030204" pitchFamily="18" charset="0"/>
                            <a:cs typeface="Times New Roman" panose="02020603050405020304" pitchFamily="18" charset="0"/>
                          </a:rPr>
                          <m:t>𝑋</m:t>
                        </m:r>
                      </m:e>
                    </m:bar>
                  </m:oMath>
                </a14:m>
                <a:r>
                  <a:rPr lang="en-US" sz="2400" b="0" dirty="0">
                    <a:latin typeface="Times New Roman" panose="02020603050405020304" pitchFamily="18" charset="0"/>
                    <a:cs typeface="Times New Roman" panose="02020603050405020304" pitchFamily="18" charset="0"/>
                  </a:rPr>
                  <a:t> ≠ µ</a:t>
                </a:r>
              </a:p>
              <a:p>
                <a:pPr marL="0" indent="0">
                  <a:buNone/>
                </a:pPr>
                <a:r>
                  <a:rPr lang="en-US" sz="2400" dirty="0">
                    <a:latin typeface="Times New Roman" panose="02020603050405020304" pitchFamily="18" charset="0"/>
                    <a:cs typeface="Times New Roman" panose="02020603050405020304" pitchFamily="18" charset="0"/>
                  </a:rPr>
                  <a:t>Where </a:t>
                </a:r>
                <a14:m>
                  <m:oMath xmlns:m="http://schemas.openxmlformats.org/officeDocument/2006/math">
                    <m:bar>
                      <m:barPr>
                        <m:pos m:val="top"/>
                        <m:ctrlPr>
                          <a:rPr lang="en-US" sz="2400" i="1">
                            <a:latin typeface="Cambria Math" panose="02040503050406030204" pitchFamily="18" charset="0"/>
                            <a:cs typeface="Times New Roman" panose="02020603050405020304" pitchFamily="18" charset="0"/>
                          </a:rPr>
                        </m:ctrlPr>
                      </m:barPr>
                      <m:e>
                        <m:r>
                          <a:rPr lang="en-US" sz="2400" i="1">
                            <a:latin typeface="Cambria Math" panose="02040503050406030204" pitchFamily="18" charset="0"/>
                            <a:cs typeface="Times New Roman" panose="02020603050405020304" pitchFamily="18" charset="0"/>
                          </a:rPr>
                          <m:t>𝑋</m:t>
                        </m:r>
                      </m:e>
                    </m:bar>
                  </m:oMath>
                </a14:m>
                <a:r>
                  <a:rPr lang="en-US" sz="2400" b="0" dirty="0">
                    <a:latin typeface="Times New Roman" panose="02020603050405020304" pitchFamily="18" charset="0"/>
                    <a:cs typeface="Times New Roman" panose="02020603050405020304" pitchFamily="18" charset="0"/>
                  </a:rPr>
                  <a:t> is sample mean, </a:t>
                </a:r>
                <a:r>
                  <a:rPr lang="en-US" sz="2400" dirty="0">
                    <a:latin typeface="Times New Roman" panose="02020603050405020304" pitchFamily="18" charset="0"/>
                    <a:cs typeface="Times New Roman" panose="02020603050405020304" pitchFamily="18" charset="0"/>
                  </a:rPr>
                  <a:t>µ is actual mean.</a:t>
                </a:r>
              </a:p>
              <a:p>
                <a:r>
                  <a:rPr lang="en-US" sz="2400" dirty="0">
                    <a:latin typeface="Times New Roman" panose="02020603050405020304" pitchFamily="18" charset="0"/>
                    <a:cs typeface="Times New Roman" panose="02020603050405020304" pitchFamily="18" charset="0"/>
                  </a:rPr>
                  <a:t>The t value is calculated using</a:t>
                </a:r>
              </a:p>
              <a:p>
                <a:pPr marL="0" indent="0">
                  <a:buNone/>
                </a:pPr>
                <a:r>
                  <a:rPr lang="en-US" sz="2400" dirty="0">
                    <a:latin typeface="Times New Roman" panose="02020603050405020304" pitchFamily="18" charset="0"/>
                    <a:cs typeface="Times New Roman" panose="02020603050405020304" pitchFamily="18" charset="0"/>
                  </a:rPr>
                  <a: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𝑡</m:t>
                    </m:r>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ea typeface="Cambria Math" panose="02040503050406030204" pitchFamily="18" charset="0"/>
                            <a:cs typeface="Times New Roman" panose="02020603050405020304" pitchFamily="18" charset="0"/>
                          </a:rPr>
                        </m:ctrlPr>
                      </m:fPr>
                      <m:num>
                        <m:bar>
                          <m:barPr>
                            <m:pos m:val="top"/>
                            <m:ctrlPr>
                              <a:rPr lang="en-US" sz="2400" b="0" i="1" smtClean="0">
                                <a:latin typeface="Cambria Math" panose="02040503050406030204" pitchFamily="18" charset="0"/>
                                <a:ea typeface="Cambria Math" panose="02040503050406030204" pitchFamily="18" charset="0"/>
                                <a:cs typeface="Times New Roman" panose="02020603050405020304" pitchFamily="18" charset="0"/>
                              </a:rPr>
                            </m:ctrlPr>
                          </m:barPr>
                          <m:e>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𝑋</m:t>
                            </m:r>
                          </m:e>
                        </m:ba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𝜇</m:t>
                        </m:r>
                      </m:num>
                      <m:den>
                        <m:f>
                          <m:fPr>
                            <m:ctrlPr>
                              <a:rPr lang="en-US" sz="2400"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𝑆</m:t>
                            </m:r>
                          </m:num>
                          <m:den>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𝑛</m:t>
                            </m:r>
                          </m:den>
                        </m:f>
                      </m:den>
                    </m:f>
                  </m:oMath>
                </a14:m>
                <a:endParaRPr lang="en-US" sz="2400" b="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Where </a:t>
                </a:r>
                <a:r>
                  <a:rPr lang="en-US" sz="2400" i="1" dirty="0">
                    <a:latin typeface="Times New Roman" panose="02020603050405020304" pitchFamily="18" charset="0"/>
                    <a:cs typeface="Times New Roman" panose="02020603050405020304" pitchFamily="18" charset="0"/>
                  </a:rPr>
                  <a:t>s </a:t>
                </a:r>
                <a:r>
                  <a:rPr lang="en-US" sz="2400" dirty="0">
                    <a:latin typeface="Times New Roman" panose="02020603050405020304" pitchFamily="18" charset="0"/>
                    <a:cs typeface="Times New Roman" panose="02020603050405020304" pitchFamily="18" charset="0"/>
                  </a:rPr>
                  <a:t>is the standard deviation and n is the sample size.</a:t>
                </a:r>
              </a:p>
              <a:p>
                <a:r>
                  <a:rPr lang="en-US" sz="2400" dirty="0">
                    <a:latin typeface="Times New Roman" panose="02020603050405020304" pitchFamily="18" charset="0"/>
                    <a:cs typeface="Times New Roman" panose="02020603050405020304" pitchFamily="18" charset="0"/>
                  </a:rPr>
                  <a:t>Degrees of freedom is </a:t>
                </a:r>
                <a:r>
                  <a:rPr lang="en-US" sz="2400" i="1" dirty="0">
                    <a:latin typeface="Times New Roman" panose="02020603050405020304" pitchFamily="18" charset="0"/>
                    <a:cs typeface="Times New Roman" panose="02020603050405020304" pitchFamily="18" charset="0"/>
                  </a:rPr>
                  <a:t>n-</a:t>
                </a:r>
                <a:r>
                  <a:rPr lang="en-US" sz="2000" i="1" dirty="0">
                    <a:latin typeface="Times New Roman" panose="02020603050405020304" pitchFamily="18" charset="0"/>
                    <a:cs typeface="Times New Roman" panose="02020603050405020304" pitchFamily="18" charset="0"/>
                  </a:rPr>
                  <a:t>1.</a:t>
                </a:r>
              </a:p>
            </p:txBody>
          </p:sp>
        </mc:Choice>
        <mc:Fallback xmlns="">
          <p:sp>
            <p:nvSpPr>
              <p:cNvPr id="4" name="Text Placeholder 3"/>
              <p:cNvSpPr>
                <a:spLocks noGrp="1" noRot="1" noChangeAspect="1" noMove="1" noResize="1" noEditPoints="1" noAdjustHandles="1" noChangeArrowheads="1" noChangeShapeType="1" noTextEdit="1"/>
              </p:cNvSpPr>
              <p:nvPr>
                <p:ph type="body" sz="quarter" idx="13"/>
              </p:nvPr>
            </p:nvSpPr>
            <p:spPr>
              <a:blipFill>
                <a:blip r:embed="rId2"/>
                <a:stretch>
                  <a:fillRect l="-1633" t="-1639" r="-1361"/>
                </a:stretch>
              </a:blipFill>
            </p:spPr>
            <p:txBody>
              <a:bodyPr/>
              <a:lstStyle/>
              <a:p>
                <a:r>
                  <a:rPr lang="en-US">
                    <a:noFill/>
                  </a:rPr>
                  <a:t> </a:t>
                </a:r>
              </a:p>
            </p:txBody>
          </p:sp>
        </mc:Fallback>
      </mc:AlternateContent>
    </p:spTree>
    <p:extLst>
      <p:ext uri="{BB962C8B-B14F-4D97-AF65-F5344CB8AC3E}">
        <p14:creationId xmlns:p14="http://schemas.microsoft.com/office/powerpoint/2010/main" val="41724295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4500" y="542925"/>
            <a:ext cx="11214100" cy="547842"/>
          </a:xfrm>
        </p:spPr>
        <p:txBody>
          <a:bodyPr/>
          <a:lstStyle/>
          <a:p>
            <a:r>
              <a:rPr lang="en-US" dirty="0">
                <a:latin typeface="Times New Roman" panose="02020603050405020304" pitchFamily="18" charset="0"/>
                <a:cs typeface="Times New Roman" panose="02020603050405020304" pitchFamily="18" charset="0"/>
              </a:rPr>
              <a:t>Independent Sample T-test</a:t>
            </a:r>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23</a:t>
            </a:fld>
            <a:endParaRPr lang="en-US" noProof="0" dirty="0"/>
          </a:p>
        </p:txBody>
      </p:sp>
      <mc:AlternateContent xmlns:mc="http://schemas.openxmlformats.org/markup-compatibility/2006" xmlns:a14="http://schemas.microsoft.com/office/drawing/2010/main">
        <mc:Choice Requires="a14">
          <p:sp>
            <p:nvSpPr>
              <p:cNvPr id="4" name="Text Placeholder 3"/>
              <p:cNvSpPr>
                <a:spLocks noGrp="1"/>
              </p:cNvSpPr>
              <p:nvPr>
                <p:ph type="body" sz="quarter" idx="13"/>
              </p:nvPr>
            </p:nvSpPr>
            <p:spPr>
              <a:xfrm>
                <a:off x="444500" y="1361616"/>
                <a:ext cx="9824915" cy="4093243"/>
              </a:xfrm>
            </p:spPr>
            <p:txBody>
              <a:bodyPr/>
              <a:lstStyle/>
              <a:p>
                <a:r>
                  <a:rPr lang="en-US" sz="2800" dirty="0">
                    <a:latin typeface="Times New Roman" panose="02020603050405020304" pitchFamily="18" charset="0"/>
                    <a:cs typeface="Times New Roman" panose="02020603050405020304" pitchFamily="18" charset="0"/>
                  </a:rPr>
                  <a:t>H</a:t>
                </a:r>
                <a:r>
                  <a:rPr lang="en-US" sz="1400" dirty="0">
                    <a:latin typeface="Times New Roman" panose="02020603050405020304" pitchFamily="18" charset="0"/>
                    <a:cs typeface="Times New Roman" panose="02020603050405020304" pitchFamily="18" charset="0"/>
                  </a:rPr>
                  <a:t>0: </a:t>
                </a:r>
                <a14:m>
                  <m:oMath xmlns:m="http://schemas.openxmlformats.org/officeDocument/2006/math">
                    <m:bar>
                      <m:barPr>
                        <m:pos m:val="top"/>
                        <m:ctrlPr>
                          <a:rPr lang="en-US" sz="2400" i="1" smtClean="0">
                            <a:latin typeface="Cambria Math" panose="02040503050406030204" pitchFamily="18" charset="0"/>
                            <a:cs typeface="Times New Roman" panose="02020603050405020304" pitchFamily="18" charset="0"/>
                          </a:rPr>
                        </m:ctrlPr>
                      </m:barPr>
                      <m:e>
                        <m:r>
                          <a:rPr lang="en-US" sz="2400" i="1">
                            <a:latin typeface="Cambria Math" panose="02040503050406030204" pitchFamily="18" charset="0"/>
                            <a:cs typeface="Times New Roman" panose="02020603050405020304" pitchFamily="18" charset="0"/>
                          </a:rPr>
                          <m:t>𝑋</m:t>
                        </m:r>
                      </m:e>
                    </m:bar>
                  </m:oMath>
                </a14:m>
                <a:r>
                  <a:rPr lang="en-US" sz="1200"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 </a:t>
                </a:r>
                <a14:m>
                  <m:oMath xmlns:m="http://schemas.openxmlformats.org/officeDocument/2006/math">
                    <m:bar>
                      <m:barPr>
                        <m:pos m:val="top"/>
                        <m:ctrlPr>
                          <a:rPr lang="en-US" sz="2400" i="1">
                            <a:latin typeface="Cambria Math" panose="02040503050406030204" pitchFamily="18" charset="0"/>
                            <a:cs typeface="Times New Roman" panose="02020603050405020304" pitchFamily="18" charset="0"/>
                          </a:rPr>
                        </m:ctrlPr>
                      </m:barPr>
                      <m:e>
                        <m:r>
                          <a:rPr lang="en-US" sz="2400" i="1">
                            <a:latin typeface="Cambria Math" panose="02040503050406030204" pitchFamily="18" charset="0"/>
                            <a:cs typeface="Times New Roman" panose="02020603050405020304" pitchFamily="18" charset="0"/>
                          </a:rPr>
                          <m:t>𝑋</m:t>
                        </m:r>
                      </m:e>
                    </m:bar>
                  </m:oMath>
                </a14:m>
                <a:r>
                  <a:rPr lang="en-US" sz="12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 ; H</a:t>
                </a:r>
                <a:r>
                  <a:rPr lang="en-US" sz="1400"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 </a:t>
                </a:r>
                <a14:m>
                  <m:oMath xmlns:m="http://schemas.openxmlformats.org/officeDocument/2006/math">
                    <m:bar>
                      <m:barPr>
                        <m:pos m:val="top"/>
                        <m:ctrlPr>
                          <a:rPr lang="en-US" sz="2400" i="1">
                            <a:latin typeface="Cambria Math" panose="02040503050406030204" pitchFamily="18" charset="0"/>
                            <a:cs typeface="Times New Roman" panose="02020603050405020304" pitchFamily="18" charset="0"/>
                          </a:rPr>
                        </m:ctrlPr>
                      </m:barPr>
                      <m:e>
                        <m:r>
                          <a:rPr lang="en-US" sz="2400" i="1">
                            <a:latin typeface="Cambria Math" panose="02040503050406030204" pitchFamily="18" charset="0"/>
                            <a:cs typeface="Times New Roman" panose="02020603050405020304" pitchFamily="18" charset="0"/>
                          </a:rPr>
                          <m:t>𝑋</m:t>
                        </m:r>
                      </m:e>
                    </m:bar>
                  </m:oMath>
                </a14:m>
                <a:r>
                  <a:rPr lang="en-US" sz="1200"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 ≠ </a:t>
                </a:r>
                <a14:m>
                  <m:oMath xmlns:m="http://schemas.openxmlformats.org/officeDocument/2006/math">
                    <m:bar>
                      <m:barPr>
                        <m:pos m:val="top"/>
                        <m:ctrlPr>
                          <a:rPr lang="en-US" sz="2400" i="1">
                            <a:latin typeface="Cambria Math" panose="02040503050406030204" pitchFamily="18" charset="0"/>
                            <a:cs typeface="Times New Roman" panose="02020603050405020304" pitchFamily="18" charset="0"/>
                          </a:rPr>
                        </m:ctrlPr>
                      </m:barPr>
                      <m:e>
                        <m:r>
                          <a:rPr lang="en-US" sz="2400" i="1">
                            <a:latin typeface="Cambria Math" panose="02040503050406030204" pitchFamily="18" charset="0"/>
                            <a:cs typeface="Times New Roman" panose="02020603050405020304" pitchFamily="18" charset="0"/>
                          </a:rPr>
                          <m:t>𝑋</m:t>
                        </m:r>
                      </m:e>
                    </m:bar>
                  </m:oMath>
                </a14:m>
                <a:r>
                  <a:rPr lang="en-US" sz="1200" dirty="0">
                    <a:latin typeface="Times New Roman" panose="02020603050405020304" pitchFamily="18" charset="0"/>
                    <a:cs typeface="Times New Roman" panose="02020603050405020304" pitchFamily="18" charset="0"/>
                  </a:rPr>
                  <a:t>2</a:t>
                </a:r>
              </a:p>
              <a:p>
                <a14:m>
                  <m:oMath xmlns:m="http://schemas.openxmlformats.org/officeDocument/2006/math">
                    <m:bar>
                      <m:barPr>
                        <m:pos m:val="top"/>
                        <m:ctrlPr>
                          <a:rPr lang="en-US" sz="2400" i="1">
                            <a:latin typeface="Cambria Math" panose="02040503050406030204" pitchFamily="18" charset="0"/>
                            <a:cs typeface="Times New Roman" panose="02020603050405020304" pitchFamily="18" charset="0"/>
                          </a:rPr>
                        </m:ctrlPr>
                      </m:barPr>
                      <m:e>
                        <m:r>
                          <a:rPr lang="en-US" sz="2400" i="1">
                            <a:latin typeface="Cambria Math" panose="02040503050406030204" pitchFamily="18" charset="0"/>
                            <a:cs typeface="Times New Roman" panose="02020603050405020304" pitchFamily="18" charset="0"/>
                          </a:rPr>
                          <m:t>𝑋</m:t>
                        </m:r>
                      </m:e>
                    </m:bar>
                  </m:oMath>
                </a14:m>
                <a:r>
                  <a:rPr lang="en-US" sz="1200"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 and </a:t>
                </a:r>
                <a14:m>
                  <m:oMath xmlns:m="http://schemas.openxmlformats.org/officeDocument/2006/math">
                    <m:bar>
                      <m:barPr>
                        <m:pos m:val="top"/>
                        <m:ctrlPr>
                          <a:rPr lang="en-US" sz="2400" i="1">
                            <a:latin typeface="Cambria Math" panose="02040503050406030204" pitchFamily="18" charset="0"/>
                            <a:cs typeface="Times New Roman" panose="02020603050405020304" pitchFamily="18" charset="0"/>
                          </a:rPr>
                        </m:ctrlPr>
                      </m:barPr>
                      <m:e>
                        <m:r>
                          <a:rPr lang="en-US" sz="2400" i="1">
                            <a:latin typeface="Cambria Math" panose="02040503050406030204" pitchFamily="18" charset="0"/>
                            <a:cs typeface="Times New Roman" panose="02020603050405020304" pitchFamily="18" charset="0"/>
                          </a:rPr>
                          <m:t>𝑋</m:t>
                        </m:r>
                      </m:e>
                    </m:bar>
                  </m:oMath>
                </a14:m>
                <a:r>
                  <a:rPr lang="en-US" sz="12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 are means of two independent samples.</a:t>
                </a:r>
              </a:p>
              <a:p>
                <a:r>
                  <a:rPr lang="en-US" sz="2400" dirty="0">
                    <a:latin typeface="Times New Roman" panose="02020603050405020304" pitchFamily="18" charset="0"/>
                    <a:cs typeface="Times New Roman" panose="02020603050405020304" pitchFamily="18" charset="0"/>
                  </a:rPr>
                  <a:t>The t value is</a:t>
                </a:r>
              </a:p>
              <a:p>
                <a:pPr marL="0" indent="0">
                  <a:buNone/>
                </a:pPr>
                <a:r>
                  <a:rPr lang="en-US" sz="2400" dirty="0">
                    <a:latin typeface="Times New Roman" panose="02020603050405020304" pitchFamily="18" charset="0"/>
                    <a:cs typeface="Times New Roman" panose="02020603050405020304" pitchFamily="18" charset="0"/>
                  </a:rPr>
                  <a:t>                   </a:t>
                </a:r>
                <a:r>
                  <a:rPr lang="en-US" sz="2400" i="1" dirty="0">
                    <a:latin typeface="Times New Roman" panose="02020603050405020304" pitchFamily="18" charset="0"/>
                    <a:cs typeface="Times New Roman" panose="02020603050405020304" pitchFamily="18" charset="0"/>
                  </a:rPr>
                  <a:t>t </a:t>
                </a:r>
                <a:r>
                  <a:rPr lang="en-US" sz="2400" dirty="0">
                    <a:latin typeface="Times New Roman" panose="02020603050405020304" pitchFamily="18" charset="0"/>
                    <a:cs typeface="Times New Roman" panose="02020603050405020304" pitchFamily="18" charset="0"/>
                  </a:rPr>
                  <a:t>= </a:t>
                </a:r>
                <a14:m>
                  <m:oMath xmlns:m="http://schemas.openxmlformats.org/officeDocument/2006/math">
                    <m:f>
                      <m:fPr>
                        <m:ctrlPr>
                          <a:rPr lang="en-US" sz="2400" i="1" smtClean="0">
                            <a:latin typeface="Cambria Math" panose="02040503050406030204" pitchFamily="18" charset="0"/>
                            <a:cs typeface="Times New Roman" panose="02020603050405020304" pitchFamily="18" charset="0"/>
                          </a:rPr>
                        </m:ctrlPr>
                      </m:fPr>
                      <m:num>
                        <m:bar>
                          <m:barPr>
                            <m:pos m:val="top"/>
                            <m:ctrlPr>
                              <a:rPr lang="en-US" sz="2400" i="1">
                                <a:latin typeface="Cambria Math" panose="02040503050406030204" pitchFamily="18" charset="0"/>
                                <a:cs typeface="Times New Roman" panose="02020603050405020304" pitchFamily="18" charset="0"/>
                              </a:rPr>
                            </m:ctrlPr>
                          </m:barPr>
                          <m:e>
                            <m:r>
                              <a:rPr lang="en-US" sz="2400" i="1">
                                <a:latin typeface="Cambria Math" panose="02040503050406030204" pitchFamily="18" charset="0"/>
                                <a:cs typeface="Times New Roman" panose="02020603050405020304" pitchFamily="18" charset="0"/>
                              </a:rPr>
                              <m:t>𝑋</m:t>
                            </m:r>
                          </m:e>
                        </m:bar>
                        <m:r>
                          <m:rPr>
                            <m:nor/>
                          </m:rPr>
                          <a:rPr lang="en-US" sz="1200" dirty="0">
                            <a:latin typeface="Times New Roman" panose="02020603050405020304" pitchFamily="18" charset="0"/>
                            <a:cs typeface="Times New Roman" panose="02020603050405020304" pitchFamily="18" charset="0"/>
                          </a:rPr>
                          <m:t>1</m:t>
                        </m:r>
                        <m:r>
                          <m:rPr>
                            <m:nor/>
                          </m:rPr>
                          <a:rPr lang="en-US" sz="2400" dirty="0">
                            <a:latin typeface="Times New Roman" panose="02020603050405020304" pitchFamily="18" charset="0"/>
                            <a:cs typeface="Times New Roman" panose="02020603050405020304" pitchFamily="18" charset="0"/>
                          </a:rPr>
                          <m:t>−</m:t>
                        </m:r>
                        <m:bar>
                          <m:barPr>
                            <m:pos m:val="top"/>
                            <m:ctrlPr>
                              <a:rPr lang="en-US" sz="2400" i="1">
                                <a:latin typeface="Cambria Math" panose="02040503050406030204" pitchFamily="18" charset="0"/>
                                <a:cs typeface="Times New Roman" panose="02020603050405020304" pitchFamily="18" charset="0"/>
                              </a:rPr>
                            </m:ctrlPr>
                          </m:barPr>
                          <m:e>
                            <m:r>
                              <a:rPr lang="en-US" sz="2400" i="1">
                                <a:latin typeface="Cambria Math" panose="02040503050406030204" pitchFamily="18" charset="0"/>
                                <a:cs typeface="Times New Roman" panose="02020603050405020304" pitchFamily="18" charset="0"/>
                              </a:rPr>
                              <m:t>𝑋</m:t>
                            </m:r>
                          </m:e>
                        </m:bar>
                        <m:r>
                          <m:rPr>
                            <m:nor/>
                          </m:rPr>
                          <a:rPr lang="en-US" sz="1200" dirty="0">
                            <a:latin typeface="Times New Roman" panose="02020603050405020304" pitchFamily="18" charset="0"/>
                            <a:cs typeface="Times New Roman" panose="02020603050405020304" pitchFamily="18" charset="0"/>
                          </a:rPr>
                          <m:t>2</m:t>
                        </m:r>
                      </m:num>
                      <m:den>
                        <m:r>
                          <a:rPr lang="en-US" sz="2400" b="0" i="1" smtClean="0">
                            <a:latin typeface="Cambria Math" panose="02040503050406030204" pitchFamily="18" charset="0"/>
                            <a:cs typeface="Times New Roman" panose="02020603050405020304" pitchFamily="18" charset="0"/>
                          </a:rPr>
                          <m:t>𝑆𝐸</m:t>
                        </m:r>
                      </m:den>
                    </m:f>
                  </m:oMath>
                </a14:m>
                <a:r>
                  <a:rPr lang="en-US" sz="2400" dirty="0">
                    <a:latin typeface="Times New Roman" panose="02020603050405020304" pitchFamily="18" charset="0"/>
                    <a:cs typeface="Times New Roman" panose="02020603050405020304" pitchFamily="18" charset="0"/>
                  </a:rPr>
                  <a:t>, </a:t>
                </a:r>
              </a:p>
              <a:p>
                <a:pPr marL="0" indent="0">
                  <a:buNone/>
                </a:pPr>
                <a14:m>
                  <m:oMathPara xmlns:m="http://schemas.openxmlformats.org/officeDocument/2006/math">
                    <m:oMathParaPr>
                      <m:jc m:val="centerGroup"/>
                    </m:oMathParaPr>
                    <m:oMath xmlns:m="http://schemas.openxmlformats.org/officeDocument/2006/math">
                      <m:r>
                        <a:rPr lang="en-IN" sz="2000" i="1">
                          <a:latin typeface="Cambria Math" panose="02040503050406030204" pitchFamily="18" charset="0"/>
                          <a:ea typeface="Times New Roman" panose="02020603050405020304" pitchFamily="18" charset="0"/>
                          <a:cs typeface="Times New Roman" panose="02020603050405020304" pitchFamily="18" charset="0"/>
                        </a:rPr>
                        <m:t>𝑆𝐸</m:t>
                      </m:r>
                      <m:r>
                        <a:rPr lang="en-IN" sz="2000" i="1">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IN" sz="2000" i="1">
                              <a:latin typeface="Cambria Math" panose="02040503050406030204" pitchFamily="18" charset="0"/>
                              <a:ea typeface="Times New Roman" panose="02020603050405020304" pitchFamily="18" charset="0"/>
                              <a:cs typeface="Times New Roman" panose="02020603050405020304" pitchFamily="18" charset="0"/>
                            </a:rPr>
                          </m:ctrlPr>
                        </m:dPr>
                        <m:e>
                          <m:eqArr>
                            <m:eqArrPr>
                              <m:ctrlPr>
                                <a:rPr lang="en-IN" sz="2000" i="1">
                                  <a:latin typeface="Cambria Math" panose="02040503050406030204" pitchFamily="18" charset="0"/>
                                  <a:ea typeface="Times New Roman" panose="02020603050405020304" pitchFamily="18" charset="0"/>
                                  <a:cs typeface="Times New Roman" panose="02020603050405020304" pitchFamily="18" charset="0"/>
                                </a:rPr>
                              </m:ctrlPr>
                            </m:eqArrPr>
                            <m:e>
                              <m:rad>
                                <m:radPr>
                                  <m:degHide m:val="on"/>
                                  <m:ctrlPr>
                                    <a:rPr lang="en-IN" sz="2000" i="1">
                                      <a:latin typeface="Cambria Math" panose="02040503050406030204" pitchFamily="18" charset="0"/>
                                      <a:ea typeface="Times New Roman" panose="02020603050405020304" pitchFamily="18" charset="0"/>
                                      <a:cs typeface="Times New Roman" panose="02020603050405020304" pitchFamily="18" charset="0"/>
                                    </a:rPr>
                                  </m:ctrlPr>
                                </m:radPr>
                                <m:deg/>
                                <m:e>
                                  <m:f>
                                    <m:fPr>
                                      <m:ctrlPr>
                                        <a:rPr lang="en-IN" sz="2000" i="1">
                                          <a:latin typeface="Cambria Math" panose="02040503050406030204" pitchFamily="18" charset="0"/>
                                          <a:ea typeface="Times New Roman" panose="02020603050405020304" pitchFamily="18" charset="0"/>
                                          <a:cs typeface="Times New Roman" panose="02020603050405020304" pitchFamily="18" charset="0"/>
                                        </a:rPr>
                                      </m:ctrlPr>
                                    </m:fPr>
                                    <m:num>
                                      <m:sSubSup>
                                        <m:sSubSupPr>
                                          <m:ctrlPr>
                                            <a:rPr lang="en-IN" sz="2000" i="1">
                                              <a:latin typeface="Cambria Math" panose="02040503050406030204" pitchFamily="18" charset="0"/>
                                              <a:ea typeface="Times New Roman" panose="02020603050405020304" pitchFamily="18" charset="0"/>
                                              <a:cs typeface="Times New Roman" panose="02020603050405020304" pitchFamily="18" charset="0"/>
                                            </a:rPr>
                                          </m:ctrlPr>
                                        </m:sSubSupPr>
                                        <m:e>
                                          <m:r>
                                            <a:rPr lang="en-IN" sz="2000" i="1">
                                              <a:latin typeface="Cambria Math" panose="02040503050406030204" pitchFamily="18" charset="0"/>
                                              <a:ea typeface="Times New Roman" panose="02020603050405020304" pitchFamily="18" charset="0"/>
                                              <a:cs typeface="Times New Roman" panose="02020603050405020304" pitchFamily="18" charset="0"/>
                                            </a:rPr>
                                            <m:t>𝑆</m:t>
                                          </m:r>
                                        </m:e>
                                        <m:sub>
                                          <m:r>
                                            <a:rPr lang="en-IN" sz="2000" i="1">
                                              <a:latin typeface="Cambria Math" panose="02040503050406030204" pitchFamily="18" charset="0"/>
                                              <a:ea typeface="Times New Roman" panose="02020603050405020304" pitchFamily="18" charset="0"/>
                                              <a:cs typeface="Times New Roman" panose="02020603050405020304" pitchFamily="18" charset="0"/>
                                            </a:rPr>
                                            <m:t>1</m:t>
                                          </m:r>
                                        </m:sub>
                                        <m:sup>
                                          <m:r>
                                            <a:rPr lang="en-IN" sz="2000" i="1">
                                              <a:latin typeface="Cambria Math" panose="02040503050406030204" pitchFamily="18" charset="0"/>
                                              <a:ea typeface="Times New Roman" panose="02020603050405020304" pitchFamily="18" charset="0"/>
                                              <a:cs typeface="Times New Roman" panose="02020603050405020304" pitchFamily="18" charset="0"/>
                                            </a:rPr>
                                            <m:t>2</m:t>
                                          </m:r>
                                        </m:sup>
                                      </m:sSubSup>
                                    </m:num>
                                    <m:den>
                                      <m:sSub>
                                        <m:sSubPr>
                                          <m:ctrlPr>
                                            <a:rPr lang="en-IN" sz="2000" i="1">
                                              <a:latin typeface="Cambria Math" panose="02040503050406030204" pitchFamily="18" charset="0"/>
                                              <a:ea typeface="Times New Roman" panose="02020603050405020304" pitchFamily="18" charset="0"/>
                                              <a:cs typeface="Times New Roman" panose="02020603050405020304" pitchFamily="18" charset="0"/>
                                            </a:rPr>
                                          </m:ctrlPr>
                                        </m:sSubPr>
                                        <m:e>
                                          <m:r>
                                            <a:rPr lang="en-IN" sz="2000" i="1">
                                              <a:latin typeface="Cambria Math" panose="02040503050406030204" pitchFamily="18" charset="0"/>
                                              <a:ea typeface="Times New Roman" panose="02020603050405020304" pitchFamily="18" charset="0"/>
                                              <a:cs typeface="Times New Roman" panose="02020603050405020304" pitchFamily="18" charset="0"/>
                                            </a:rPr>
                                            <m:t>𝑛</m:t>
                                          </m:r>
                                        </m:e>
                                        <m:sub>
                                          <m:r>
                                            <a:rPr lang="en-IN" sz="2000" i="1">
                                              <a:latin typeface="Cambria Math" panose="02040503050406030204" pitchFamily="18" charset="0"/>
                                              <a:ea typeface="Times New Roman" panose="02020603050405020304" pitchFamily="18" charset="0"/>
                                              <a:cs typeface="Times New Roman" panose="02020603050405020304" pitchFamily="18" charset="0"/>
                                            </a:rPr>
                                            <m:t>1</m:t>
                                          </m:r>
                                        </m:sub>
                                      </m:sSub>
                                    </m:den>
                                  </m:f>
                                  <m:r>
                                    <a:rPr lang="en-IN" sz="2000" i="1">
                                      <a:latin typeface="Cambria Math" panose="02040503050406030204" pitchFamily="18" charset="0"/>
                                      <a:ea typeface="Times New Roman" panose="02020603050405020304" pitchFamily="18" charset="0"/>
                                      <a:cs typeface="Times New Roman" panose="02020603050405020304" pitchFamily="18" charset="0"/>
                                    </a:rPr>
                                    <m:t>+</m:t>
                                  </m:r>
                                  <m:f>
                                    <m:fPr>
                                      <m:ctrlPr>
                                        <a:rPr lang="en-IN" sz="2000" i="1">
                                          <a:latin typeface="Cambria Math" panose="02040503050406030204" pitchFamily="18" charset="0"/>
                                          <a:ea typeface="Times New Roman" panose="02020603050405020304" pitchFamily="18" charset="0"/>
                                          <a:cs typeface="Times New Roman" panose="02020603050405020304" pitchFamily="18" charset="0"/>
                                        </a:rPr>
                                      </m:ctrlPr>
                                    </m:fPr>
                                    <m:num>
                                      <m:sSubSup>
                                        <m:sSubSupPr>
                                          <m:ctrlPr>
                                            <a:rPr lang="en-IN" sz="2000" i="1">
                                              <a:latin typeface="Cambria Math" panose="02040503050406030204" pitchFamily="18" charset="0"/>
                                              <a:ea typeface="Times New Roman" panose="02020603050405020304" pitchFamily="18" charset="0"/>
                                              <a:cs typeface="Times New Roman" panose="02020603050405020304" pitchFamily="18" charset="0"/>
                                            </a:rPr>
                                          </m:ctrlPr>
                                        </m:sSubSupPr>
                                        <m:e>
                                          <m:r>
                                            <a:rPr lang="en-IN" sz="2000" i="1">
                                              <a:latin typeface="Cambria Math" panose="02040503050406030204" pitchFamily="18" charset="0"/>
                                              <a:ea typeface="Times New Roman" panose="02020603050405020304" pitchFamily="18" charset="0"/>
                                              <a:cs typeface="Times New Roman" panose="02020603050405020304" pitchFamily="18" charset="0"/>
                                            </a:rPr>
                                            <m:t>𝑆</m:t>
                                          </m:r>
                                        </m:e>
                                        <m:sub>
                                          <m:r>
                                            <a:rPr lang="en-IN" sz="2000" i="1">
                                              <a:latin typeface="Cambria Math" panose="02040503050406030204" pitchFamily="18" charset="0"/>
                                              <a:ea typeface="Times New Roman" panose="02020603050405020304" pitchFamily="18" charset="0"/>
                                              <a:cs typeface="Times New Roman" panose="02020603050405020304" pitchFamily="18" charset="0"/>
                                            </a:rPr>
                                            <m:t>2</m:t>
                                          </m:r>
                                        </m:sub>
                                        <m:sup>
                                          <m:r>
                                            <a:rPr lang="en-IN" sz="2000" i="1">
                                              <a:latin typeface="Cambria Math" panose="02040503050406030204" pitchFamily="18" charset="0"/>
                                              <a:ea typeface="Times New Roman" panose="02020603050405020304" pitchFamily="18" charset="0"/>
                                              <a:cs typeface="Times New Roman" panose="02020603050405020304" pitchFamily="18" charset="0"/>
                                            </a:rPr>
                                            <m:t>2</m:t>
                                          </m:r>
                                        </m:sup>
                                      </m:sSubSup>
                                    </m:num>
                                    <m:den>
                                      <m:sSub>
                                        <m:sSubPr>
                                          <m:ctrlPr>
                                            <a:rPr lang="en-IN" sz="2000" i="1">
                                              <a:latin typeface="Cambria Math" panose="02040503050406030204" pitchFamily="18" charset="0"/>
                                              <a:ea typeface="Times New Roman" panose="02020603050405020304" pitchFamily="18" charset="0"/>
                                              <a:cs typeface="Times New Roman" panose="02020603050405020304" pitchFamily="18" charset="0"/>
                                            </a:rPr>
                                          </m:ctrlPr>
                                        </m:sSubPr>
                                        <m:e>
                                          <m:r>
                                            <a:rPr lang="en-IN" sz="2000" i="1">
                                              <a:latin typeface="Cambria Math" panose="02040503050406030204" pitchFamily="18" charset="0"/>
                                              <a:ea typeface="Times New Roman" panose="02020603050405020304" pitchFamily="18" charset="0"/>
                                              <a:cs typeface="Times New Roman" panose="02020603050405020304" pitchFamily="18" charset="0"/>
                                            </a:rPr>
                                            <m:t>𝑛</m:t>
                                          </m:r>
                                        </m:e>
                                        <m:sub>
                                          <m:r>
                                            <a:rPr lang="en-IN" sz="2000" i="1">
                                              <a:latin typeface="Cambria Math" panose="02040503050406030204" pitchFamily="18" charset="0"/>
                                              <a:ea typeface="Times New Roman" panose="02020603050405020304" pitchFamily="18" charset="0"/>
                                              <a:cs typeface="Times New Roman" panose="02020603050405020304" pitchFamily="18" charset="0"/>
                                            </a:rPr>
                                            <m:t>2</m:t>
                                          </m:r>
                                        </m:sub>
                                      </m:sSub>
                                    </m:den>
                                  </m:f>
                                </m:e>
                              </m:rad>
                              <m:r>
                                <a:rPr lang="en-IN" sz="2000" i="1">
                                  <a:latin typeface="Cambria Math" panose="02040503050406030204" pitchFamily="18" charset="0"/>
                                  <a:ea typeface="Times New Roman" panose="02020603050405020304" pitchFamily="18" charset="0"/>
                                  <a:cs typeface="Times New Roman" panose="02020603050405020304" pitchFamily="18" charset="0"/>
                                </a:rPr>
                                <m:t>, </m:t>
                              </m:r>
                              <m:r>
                                <a:rPr lang="en-IN" sz="2000" i="1">
                                  <a:latin typeface="Cambria Math" panose="02040503050406030204" pitchFamily="18" charset="0"/>
                                  <a:ea typeface="Times New Roman" panose="02020603050405020304" pitchFamily="18" charset="0"/>
                                  <a:cs typeface="Times New Roman" panose="02020603050405020304" pitchFamily="18" charset="0"/>
                                </a:rPr>
                                <m:t>𝑓𝑜𝑟</m:t>
                              </m:r>
                              <m:r>
                                <a:rPr lang="en-IN" sz="2000" i="1">
                                  <a:latin typeface="Cambria Math" panose="02040503050406030204" pitchFamily="18" charset="0"/>
                                  <a:ea typeface="Times New Roman" panose="02020603050405020304" pitchFamily="18" charset="0"/>
                                  <a:cs typeface="Times New Roman" panose="02020603050405020304" pitchFamily="18" charset="0"/>
                                </a:rPr>
                                <m:t> </m:t>
                              </m:r>
                              <m:r>
                                <a:rPr lang="en-IN" sz="2000" i="1">
                                  <a:latin typeface="Cambria Math" panose="02040503050406030204" pitchFamily="18" charset="0"/>
                                  <a:ea typeface="Times New Roman" panose="02020603050405020304" pitchFamily="18" charset="0"/>
                                  <a:cs typeface="Times New Roman" panose="02020603050405020304" pitchFamily="18" charset="0"/>
                                </a:rPr>
                                <m:t>𝑑𝑖𝑓𝑓𝑒𝑟𝑒𝑛𝑡</m:t>
                              </m:r>
                              <m:r>
                                <a:rPr lang="en-IN" sz="2000" i="1">
                                  <a:latin typeface="Cambria Math" panose="02040503050406030204" pitchFamily="18" charset="0"/>
                                  <a:ea typeface="Times New Roman" panose="02020603050405020304" pitchFamily="18" charset="0"/>
                                  <a:cs typeface="Times New Roman" panose="02020603050405020304" pitchFamily="18" charset="0"/>
                                </a:rPr>
                                <m:t> </m:t>
                              </m:r>
                              <m:r>
                                <a:rPr lang="en-IN" sz="2000" i="1">
                                  <a:latin typeface="Cambria Math" panose="02040503050406030204" pitchFamily="18" charset="0"/>
                                  <a:ea typeface="Times New Roman" panose="02020603050405020304" pitchFamily="18" charset="0"/>
                                  <a:cs typeface="Times New Roman" panose="02020603050405020304" pitchFamily="18" charset="0"/>
                                </a:rPr>
                                <m:t>𝑝𝑜𝑝𝑢𝑙𝑎𝑡𝑖𝑜𝑛</m:t>
                              </m:r>
                            </m:e>
                            <m:e>
                              <m:rad>
                                <m:radPr>
                                  <m:degHide m:val="on"/>
                                  <m:ctrlPr>
                                    <a:rPr lang="en-IN" sz="2000" i="1">
                                      <a:latin typeface="Cambria Math" panose="02040503050406030204" pitchFamily="18" charset="0"/>
                                      <a:ea typeface="Times New Roman" panose="02020603050405020304" pitchFamily="18" charset="0"/>
                                      <a:cs typeface="Times New Roman" panose="02020603050405020304" pitchFamily="18" charset="0"/>
                                    </a:rPr>
                                  </m:ctrlPr>
                                </m:radPr>
                                <m:deg/>
                                <m:e>
                                  <m:f>
                                    <m:fPr>
                                      <m:ctrlPr>
                                        <a:rPr lang="en-IN" sz="2000" i="1">
                                          <a:latin typeface="Cambria Math" panose="02040503050406030204" pitchFamily="18" charset="0"/>
                                          <a:ea typeface="Times New Roman" panose="02020603050405020304" pitchFamily="18" charset="0"/>
                                          <a:cs typeface="Times New Roman" panose="02020603050405020304" pitchFamily="18" charset="0"/>
                                        </a:rPr>
                                      </m:ctrlPr>
                                    </m:fPr>
                                    <m:num>
                                      <m:d>
                                        <m:dPr>
                                          <m:ctrlPr>
                                            <a:rPr lang="en-IN" sz="2000" i="1">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IN" sz="2000" i="1">
                                                  <a:latin typeface="Cambria Math" panose="02040503050406030204" pitchFamily="18" charset="0"/>
                                                  <a:ea typeface="Times New Roman" panose="02020603050405020304" pitchFamily="18" charset="0"/>
                                                  <a:cs typeface="Times New Roman" panose="02020603050405020304" pitchFamily="18" charset="0"/>
                                                </a:rPr>
                                              </m:ctrlPr>
                                            </m:sSubPr>
                                            <m:e>
                                              <m:r>
                                                <a:rPr lang="en-IN" sz="2000" i="1">
                                                  <a:latin typeface="Cambria Math" panose="02040503050406030204" pitchFamily="18" charset="0"/>
                                                  <a:ea typeface="Times New Roman" panose="02020603050405020304" pitchFamily="18" charset="0"/>
                                                  <a:cs typeface="Times New Roman" panose="02020603050405020304" pitchFamily="18" charset="0"/>
                                                </a:rPr>
                                                <m:t>𝑛</m:t>
                                              </m:r>
                                            </m:e>
                                            <m:sub>
                                              <m:r>
                                                <a:rPr lang="en-IN" sz="2000" i="1">
                                                  <a:latin typeface="Cambria Math" panose="02040503050406030204" pitchFamily="18" charset="0"/>
                                                  <a:ea typeface="Times New Roman" panose="02020603050405020304" pitchFamily="18" charset="0"/>
                                                  <a:cs typeface="Times New Roman" panose="02020603050405020304" pitchFamily="18" charset="0"/>
                                                </a:rPr>
                                                <m:t>1</m:t>
                                              </m:r>
                                            </m:sub>
                                          </m:sSub>
                                          <m:r>
                                            <a:rPr lang="en-IN" sz="2000" i="1">
                                              <a:latin typeface="Cambria Math" panose="02040503050406030204" pitchFamily="18" charset="0"/>
                                              <a:ea typeface="Times New Roman" panose="02020603050405020304" pitchFamily="18" charset="0"/>
                                              <a:cs typeface="Times New Roman" panose="02020603050405020304" pitchFamily="18" charset="0"/>
                                            </a:rPr>
                                            <m:t>−1</m:t>
                                          </m:r>
                                        </m:e>
                                      </m:d>
                                      <m:sSubSup>
                                        <m:sSubSupPr>
                                          <m:ctrlPr>
                                            <a:rPr lang="en-IN" sz="2000" i="1">
                                              <a:latin typeface="Cambria Math" panose="02040503050406030204" pitchFamily="18" charset="0"/>
                                              <a:ea typeface="Times New Roman" panose="02020603050405020304" pitchFamily="18" charset="0"/>
                                              <a:cs typeface="Times New Roman" panose="02020603050405020304" pitchFamily="18" charset="0"/>
                                            </a:rPr>
                                          </m:ctrlPr>
                                        </m:sSubSupPr>
                                        <m:e>
                                          <m:r>
                                            <a:rPr lang="en-IN" sz="2000" i="1">
                                              <a:latin typeface="Cambria Math" panose="02040503050406030204" pitchFamily="18" charset="0"/>
                                              <a:ea typeface="Times New Roman" panose="02020603050405020304" pitchFamily="18" charset="0"/>
                                              <a:cs typeface="Times New Roman" panose="02020603050405020304" pitchFamily="18" charset="0"/>
                                            </a:rPr>
                                            <m:t>𝑆</m:t>
                                          </m:r>
                                        </m:e>
                                        <m:sub>
                                          <m:r>
                                            <a:rPr lang="en-IN" sz="2000" i="1">
                                              <a:latin typeface="Cambria Math" panose="02040503050406030204" pitchFamily="18" charset="0"/>
                                              <a:ea typeface="Times New Roman" panose="02020603050405020304" pitchFamily="18" charset="0"/>
                                              <a:cs typeface="Times New Roman" panose="02020603050405020304" pitchFamily="18" charset="0"/>
                                            </a:rPr>
                                            <m:t>1</m:t>
                                          </m:r>
                                        </m:sub>
                                        <m:sup>
                                          <m:r>
                                            <a:rPr lang="en-IN" sz="2000" i="1">
                                              <a:latin typeface="Cambria Math" panose="02040503050406030204" pitchFamily="18" charset="0"/>
                                              <a:ea typeface="Times New Roman" panose="02020603050405020304" pitchFamily="18" charset="0"/>
                                              <a:cs typeface="Times New Roman" panose="02020603050405020304" pitchFamily="18" charset="0"/>
                                            </a:rPr>
                                            <m:t>2</m:t>
                                          </m:r>
                                        </m:sup>
                                      </m:sSubSup>
                                      <m:r>
                                        <a:rPr lang="en-IN" sz="2000" i="1">
                                          <a:latin typeface="Cambria Math" panose="02040503050406030204" pitchFamily="18" charset="0"/>
                                          <a:ea typeface="Times New Roman" panose="02020603050405020304" pitchFamily="18" charset="0"/>
                                          <a:cs typeface="Times New Roman" panose="02020603050405020304" pitchFamily="18" charset="0"/>
                                        </a:rPr>
                                        <m:t>+</m:t>
                                      </m:r>
                                      <m:d>
                                        <m:dPr>
                                          <m:ctrlPr>
                                            <a:rPr lang="en-IN" sz="2000" i="1">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IN" sz="2000" i="1">
                                                  <a:latin typeface="Cambria Math" panose="02040503050406030204" pitchFamily="18" charset="0"/>
                                                  <a:ea typeface="Times New Roman" panose="02020603050405020304" pitchFamily="18" charset="0"/>
                                                  <a:cs typeface="Times New Roman" panose="02020603050405020304" pitchFamily="18" charset="0"/>
                                                </a:rPr>
                                              </m:ctrlPr>
                                            </m:sSubPr>
                                            <m:e>
                                              <m:r>
                                                <a:rPr lang="en-IN" sz="2000" i="1">
                                                  <a:latin typeface="Cambria Math" panose="02040503050406030204" pitchFamily="18" charset="0"/>
                                                  <a:ea typeface="Times New Roman" panose="02020603050405020304" pitchFamily="18" charset="0"/>
                                                  <a:cs typeface="Times New Roman" panose="02020603050405020304" pitchFamily="18" charset="0"/>
                                                </a:rPr>
                                                <m:t>𝑛</m:t>
                                              </m:r>
                                            </m:e>
                                            <m:sub>
                                              <m:r>
                                                <a:rPr lang="en-IN" sz="2000" i="1">
                                                  <a:latin typeface="Cambria Math" panose="02040503050406030204" pitchFamily="18" charset="0"/>
                                                  <a:ea typeface="Times New Roman" panose="02020603050405020304" pitchFamily="18" charset="0"/>
                                                  <a:cs typeface="Times New Roman" panose="02020603050405020304" pitchFamily="18" charset="0"/>
                                                </a:rPr>
                                                <m:t>2</m:t>
                                              </m:r>
                                            </m:sub>
                                          </m:sSub>
                                          <m:r>
                                            <a:rPr lang="en-IN" sz="2000" i="1">
                                              <a:latin typeface="Cambria Math" panose="02040503050406030204" pitchFamily="18" charset="0"/>
                                              <a:ea typeface="Times New Roman" panose="02020603050405020304" pitchFamily="18" charset="0"/>
                                              <a:cs typeface="Times New Roman" panose="02020603050405020304" pitchFamily="18" charset="0"/>
                                            </a:rPr>
                                            <m:t>−1</m:t>
                                          </m:r>
                                        </m:e>
                                      </m:d>
                                      <m:sSubSup>
                                        <m:sSubSupPr>
                                          <m:ctrlPr>
                                            <a:rPr lang="en-IN" sz="2000" i="1">
                                              <a:latin typeface="Cambria Math" panose="02040503050406030204" pitchFamily="18" charset="0"/>
                                              <a:ea typeface="Times New Roman" panose="02020603050405020304" pitchFamily="18" charset="0"/>
                                              <a:cs typeface="Times New Roman" panose="02020603050405020304" pitchFamily="18" charset="0"/>
                                            </a:rPr>
                                          </m:ctrlPr>
                                        </m:sSubSupPr>
                                        <m:e>
                                          <m:r>
                                            <a:rPr lang="en-IN" sz="2000" i="1">
                                              <a:latin typeface="Cambria Math" panose="02040503050406030204" pitchFamily="18" charset="0"/>
                                              <a:ea typeface="Times New Roman" panose="02020603050405020304" pitchFamily="18" charset="0"/>
                                              <a:cs typeface="Times New Roman" panose="02020603050405020304" pitchFamily="18" charset="0"/>
                                            </a:rPr>
                                            <m:t>𝑆</m:t>
                                          </m:r>
                                        </m:e>
                                        <m:sub>
                                          <m:r>
                                            <a:rPr lang="en-IN" sz="2000" i="1">
                                              <a:latin typeface="Cambria Math" panose="02040503050406030204" pitchFamily="18" charset="0"/>
                                              <a:ea typeface="Times New Roman" panose="02020603050405020304" pitchFamily="18" charset="0"/>
                                              <a:cs typeface="Times New Roman" panose="02020603050405020304" pitchFamily="18" charset="0"/>
                                            </a:rPr>
                                            <m:t>2</m:t>
                                          </m:r>
                                        </m:sub>
                                        <m:sup>
                                          <m:r>
                                            <a:rPr lang="en-IN" sz="2000" i="1">
                                              <a:latin typeface="Cambria Math" panose="02040503050406030204" pitchFamily="18" charset="0"/>
                                              <a:ea typeface="Times New Roman" panose="02020603050405020304" pitchFamily="18" charset="0"/>
                                              <a:cs typeface="Times New Roman" panose="02020603050405020304" pitchFamily="18" charset="0"/>
                                            </a:rPr>
                                            <m:t>2</m:t>
                                          </m:r>
                                        </m:sup>
                                      </m:sSubSup>
                                    </m:num>
                                    <m:den>
                                      <m:sSub>
                                        <m:sSubPr>
                                          <m:ctrlPr>
                                            <a:rPr lang="en-IN" sz="2000" i="1">
                                              <a:latin typeface="Cambria Math" panose="02040503050406030204" pitchFamily="18" charset="0"/>
                                              <a:ea typeface="Times New Roman" panose="02020603050405020304" pitchFamily="18" charset="0"/>
                                              <a:cs typeface="Times New Roman" panose="02020603050405020304" pitchFamily="18" charset="0"/>
                                            </a:rPr>
                                          </m:ctrlPr>
                                        </m:sSubPr>
                                        <m:e>
                                          <m:r>
                                            <a:rPr lang="en-IN" sz="2000" i="1">
                                              <a:latin typeface="Cambria Math" panose="02040503050406030204" pitchFamily="18" charset="0"/>
                                              <a:ea typeface="Times New Roman" panose="02020603050405020304" pitchFamily="18" charset="0"/>
                                              <a:cs typeface="Times New Roman" panose="02020603050405020304" pitchFamily="18" charset="0"/>
                                            </a:rPr>
                                            <m:t>𝑛</m:t>
                                          </m:r>
                                        </m:e>
                                        <m:sub>
                                          <m:r>
                                            <a:rPr lang="en-IN" sz="2000" i="1">
                                              <a:latin typeface="Cambria Math" panose="02040503050406030204" pitchFamily="18" charset="0"/>
                                              <a:ea typeface="Times New Roman" panose="02020603050405020304" pitchFamily="18" charset="0"/>
                                              <a:cs typeface="Times New Roman" panose="02020603050405020304" pitchFamily="18" charset="0"/>
                                            </a:rPr>
                                            <m:t>1</m:t>
                                          </m:r>
                                        </m:sub>
                                      </m:sSub>
                                      <m:r>
                                        <a:rPr lang="en-IN" sz="2000" i="1">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2000" i="1">
                                              <a:latin typeface="Cambria Math" panose="02040503050406030204" pitchFamily="18" charset="0"/>
                                              <a:ea typeface="Times New Roman" panose="02020603050405020304" pitchFamily="18" charset="0"/>
                                              <a:cs typeface="Times New Roman" panose="02020603050405020304" pitchFamily="18" charset="0"/>
                                            </a:rPr>
                                          </m:ctrlPr>
                                        </m:sSubPr>
                                        <m:e>
                                          <m:r>
                                            <a:rPr lang="en-IN" sz="2000" i="1">
                                              <a:latin typeface="Cambria Math" panose="02040503050406030204" pitchFamily="18" charset="0"/>
                                              <a:ea typeface="Times New Roman" panose="02020603050405020304" pitchFamily="18" charset="0"/>
                                              <a:cs typeface="Times New Roman" panose="02020603050405020304" pitchFamily="18" charset="0"/>
                                            </a:rPr>
                                            <m:t>𝑛</m:t>
                                          </m:r>
                                        </m:e>
                                        <m:sub>
                                          <m:r>
                                            <a:rPr lang="en-IN" sz="2000" i="1">
                                              <a:latin typeface="Cambria Math" panose="02040503050406030204" pitchFamily="18" charset="0"/>
                                              <a:ea typeface="Times New Roman" panose="02020603050405020304" pitchFamily="18" charset="0"/>
                                              <a:cs typeface="Times New Roman" panose="02020603050405020304" pitchFamily="18" charset="0"/>
                                            </a:rPr>
                                            <m:t>2</m:t>
                                          </m:r>
                                        </m:sub>
                                      </m:sSub>
                                      <m:r>
                                        <a:rPr lang="en-IN" sz="2000" i="1">
                                          <a:latin typeface="Cambria Math" panose="02040503050406030204" pitchFamily="18" charset="0"/>
                                          <a:ea typeface="Times New Roman" panose="02020603050405020304" pitchFamily="18" charset="0"/>
                                          <a:cs typeface="Times New Roman" panose="02020603050405020304" pitchFamily="18" charset="0"/>
                                        </a:rPr>
                                        <m:t>−1</m:t>
                                      </m:r>
                                    </m:den>
                                  </m:f>
                                  <m:d>
                                    <m:dPr>
                                      <m:ctrlPr>
                                        <a:rPr lang="en-IN" sz="2000" i="1">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2000" i="1">
                                              <a:latin typeface="Cambria Math" panose="02040503050406030204" pitchFamily="18" charset="0"/>
                                              <a:ea typeface="Times New Roman" panose="02020603050405020304" pitchFamily="18" charset="0"/>
                                              <a:cs typeface="Times New Roman" panose="02020603050405020304" pitchFamily="18" charset="0"/>
                                            </a:rPr>
                                          </m:ctrlPr>
                                        </m:fPr>
                                        <m:num>
                                          <m:r>
                                            <a:rPr lang="en-IN" sz="2000" i="1">
                                              <a:latin typeface="Cambria Math" panose="02040503050406030204" pitchFamily="18" charset="0"/>
                                              <a:ea typeface="Times New Roman" panose="02020603050405020304" pitchFamily="18" charset="0"/>
                                              <a:cs typeface="Times New Roman" panose="02020603050405020304" pitchFamily="18" charset="0"/>
                                            </a:rPr>
                                            <m:t>1</m:t>
                                          </m:r>
                                        </m:num>
                                        <m:den>
                                          <m:sSub>
                                            <m:sSubPr>
                                              <m:ctrlPr>
                                                <a:rPr lang="en-IN" sz="2000" i="1">
                                                  <a:latin typeface="Cambria Math" panose="02040503050406030204" pitchFamily="18" charset="0"/>
                                                  <a:ea typeface="Times New Roman" panose="02020603050405020304" pitchFamily="18" charset="0"/>
                                                  <a:cs typeface="Times New Roman" panose="02020603050405020304" pitchFamily="18" charset="0"/>
                                                </a:rPr>
                                              </m:ctrlPr>
                                            </m:sSubPr>
                                            <m:e>
                                              <m:r>
                                                <a:rPr lang="en-IN" sz="2000" i="1">
                                                  <a:latin typeface="Cambria Math" panose="02040503050406030204" pitchFamily="18" charset="0"/>
                                                  <a:ea typeface="Times New Roman" panose="02020603050405020304" pitchFamily="18" charset="0"/>
                                                  <a:cs typeface="Times New Roman" panose="02020603050405020304" pitchFamily="18" charset="0"/>
                                                </a:rPr>
                                                <m:t>𝑛</m:t>
                                              </m:r>
                                            </m:e>
                                            <m:sub>
                                              <m:r>
                                                <a:rPr lang="en-IN" sz="2000" i="1">
                                                  <a:latin typeface="Cambria Math" panose="02040503050406030204" pitchFamily="18" charset="0"/>
                                                  <a:ea typeface="Times New Roman" panose="02020603050405020304" pitchFamily="18" charset="0"/>
                                                  <a:cs typeface="Times New Roman" panose="02020603050405020304" pitchFamily="18" charset="0"/>
                                                </a:rPr>
                                                <m:t>1</m:t>
                                              </m:r>
                                            </m:sub>
                                          </m:sSub>
                                        </m:den>
                                      </m:f>
                                      <m:r>
                                        <a:rPr lang="en-IN" sz="2000" i="1">
                                          <a:latin typeface="Cambria Math" panose="02040503050406030204" pitchFamily="18" charset="0"/>
                                          <a:ea typeface="Times New Roman" panose="02020603050405020304" pitchFamily="18" charset="0"/>
                                          <a:cs typeface="Times New Roman" panose="02020603050405020304" pitchFamily="18" charset="0"/>
                                        </a:rPr>
                                        <m:t>+</m:t>
                                      </m:r>
                                      <m:f>
                                        <m:fPr>
                                          <m:ctrlPr>
                                            <a:rPr lang="en-IN" sz="2000" i="1">
                                              <a:latin typeface="Cambria Math" panose="02040503050406030204" pitchFamily="18" charset="0"/>
                                              <a:ea typeface="Times New Roman" panose="02020603050405020304" pitchFamily="18" charset="0"/>
                                              <a:cs typeface="Times New Roman" panose="02020603050405020304" pitchFamily="18" charset="0"/>
                                            </a:rPr>
                                          </m:ctrlPr>
                                        </m:fPr>
                                        <m:num>
                                          <m:r>
                                            <a:rPr lang="en-IN" sz="2000" i="1">
                                              <a:latin typeface="Cambria Math" panose="02040503050406030204" pitchFamily="18" charset="0"/>
                                              <a:ea typeface="Times New Roman" panose="02020603050405020304" pitchFamily="18" charset="0"/>
                                              <a:cs typeface="Times New Roman" panose="02020603050405020304" pitchFamily="18" charset="0"/>
                                            </a:rPr>
                                            <m:t>1</m:t>
                                          </m:r>
                                        </m:num>
                                        <m:den>
                                          <m:sSub>
                                            <m:sSubPr>
                                              <m:ctrlPr>
                                                <a:rPr lang="en-IN" sz="2000" i="1">
                                                  <a:latin typeface="Cambria Math" panose="02040503050406030204" pitchFamily="18" charset="0"/>
                                                  <a:ea typeface="Times New Roman" panose="02020603050405020304" pitchFamily="18" charset="0"/>
                                                  <a:cs typeface="Times New Roman" panose="02020603050405020304" pitchFamily="18" charset="0"/>
                                                </a:rPr>
                                              </m:ctrlPr>
                                            </m:sSubPr>
                                            <m:e>
                                              <m:r>
                                                <a:rPr lang="en-IN" sz="2000" i="1">
                                                  <a:latin typeface="Cambria Math" panose="02040503050406030204" pitchFamily="18" charset="0"/>
                                                  <a:ea typeface="Times New Roman" panose="02020603050405020304" pitchFamily="18" charset="0"/>
                                                  <a:cs typeface="Times New Roman" panose="02020603050405020304" pitchFamily="18" charset="0"/>
                                                </a:rPr>
                                                <m:t>𝑛</m:t>
                                              </m:r>
                                            </m:e>
                                            <m:sub>
                                              <m:r>
                                                <a:rPr lang="en-IN" sz="2000" i="1">
                                                  <a:latin typeface="Cambria Math" panose="02040503050406030204" pitchFamily="18" charset="0"/>
                                                  <a:ea typeface="Times New Roman" panose="02020603050405020304" pitchFamily="18" charset="0"/>
                                                  <a:cs typeface="Times New Roman" panose="02020603050405020304" pitchFamily="18" charset="0"/>
                                                </a:rPr>
                                                <m:t>2</m:t>
                                              </m:r>
                                            </m:sub>
                                          </m:sSub>
                                        </m:den>
                                      </m:f>
                                    </m:e>
                                  </m:d>
                                </m:e>
                              </m:rad>
                              <m:r>
                                <a:rPr lang="en-IN" sz="2000" i="1">
                                  <a:latin typeface="Cambria Math" panose="02040503050406030204" pitchFamily="18" charset="0"/>
                                  <a:ea typeface="Times New Roman" panose="02020603050405020304" pitchFamily="18" charset="0"/>
                                  <a:cs typeface="Times New Roman" panose="02020603050405020304" pitchFamily="18" charset="0"/>
                                </a:rPr>
                                <m:t>, </m:t>
                              </m:r>
                              <m:r>
                                <a:rPr lang="en-IN" sz="2000" i="1">
                                  <a:latin typeface="Cambria Math" panose="02040503050406030204" pitchFamily="18" charset="0"/>
                                  <a:ea typeface="Times New Roman" panose="02020603050405020304" pitchFamily="18" charset="0"/>
                                  <a:cs typeface="Times New Roman" panose="02020603050405020304" pitchFamily="18" charset="0"/>
                                </a:rPr>
                                <m:t>𝑓𝑜𝑟</m:t>
                              </m:r>
                              <m:r>
                                <a:rPr lang="en-IN" sz="2000" i="1">
                                  <a:latin typeface="Cambria Math" panose="02040503050406030204" pitchFamily="18" charset="0"/>
                                  <a:ea typeface="Times New Roman" panose="02020603050405020304" pitchFamily="18" charset="0"/>
                                  <a:cs typeface="Times New Roman" panose="02020603050405020304" pitchFamily="18" charset="0"/>
                                </a:rPr>
                                <m:t> </m:t>
                              </m:r>
                              <m:r>
                                <a:rPr lang="en-IN" sz="2000" i="1">
                                  <a:latin typeface="Cambria Math" panose="02040503050406030204" pitchFamily="18" charset="0"/>
                                  <a:ea typeface="Times New Roman" panose="02020603050405020304" pitchFamily="18" charset="0"/>
                                  <a:cs typeface="Times New Roman" panose="02020603050405020304" pitchFamily="18" charset="0"/>
                                </a:rPr>
                                <m:t>𝑠𝑎𝑚𝑒</m:t>
                              </m:r>
                              <m:r>
                                <a:rPr lang="en-IN" sz="2000" i="1">
                                  <a:latin typeface="Cambria Math" panose="02040503050406030204" pitchFamily="18" charset="0"/>
                                  <a:ea typeface="Times New Roman" panose="02020603050405020304" pitchFamily="18" charset="0"/>
                                  <a:cs typeface="Times New Roman" panose="02020603050405020304" pitchFamily="18" charset="0"/>
                                </a:rPr>
                                <m:t> </m:t>
                              </m:r>
                              <m:r>
                                <a:rPr lang="en-IN" sz="2000" i="1">
                                  <a:latin typeface="Cambria Math" panose="02040503050406030204" pitchFamily="18" charset="0"/>
                                  <a:ea typeface="Times New Roman" panose="02020603050405020304" pitchFamily="18" charset="0"/>
                                  <a:cs typeface="Times New Roman" panose="02020603050405020304" pitchFamily="18" charset="0"/>
                                </a:rPr>
                                <m:t>𝑝𝑜𝑝𝑢𝑙𝑎𝑡𝑖𝑜𝑛</m:t>
                              </m:r>
                            </m:e>
                          </m:eqArr>
                        </m:e>
                      </m:d>
                    </m:oMath>
                  </m:oMathPara>
                </a14:m>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Degrees of freedom is n</a:t>
                </a:r>
                <a:r>
                  <a:rPr lang="en-US" sz="1200"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+n</a:t>
                </a:r>
                <a:r>
                  <a:rPr lang="en-US" sz="12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a:t>
                </a:r>
              </a:p>
              <a:p>
                <a:endParaRPr lang="en-US" sz="2400" dirty="0">
                  <a:latin typeface="Times New Roman" panose="02020603050405020304" pitchFamily="18" charset="0"/>
                  <a:cs typeface="Times New Roman" panose="02020603050405020304" pitchFamily="18" charset="0"/>
                </a:endParaRPr>
              </a:p>
            </p:txBody>
          </p:sp>
        </mc:Choice>
        <mc:Fallback xmlns="">
          <p:sp>
            <p:nvSpPr>
              <p:cNvPr id="4" name="Text Placeholder 3"/>
              <p:cNvSpPr>
                <a:spLocks noGrp="1" noRot="1" noChangeAspect="1" noMove="1" noResize="1" noEditPoints="1" noAdjustHandles="1" noChangeArrowheads="1" noChangeShapeType="1" noTextEdit="1"/>
              </p:cNvSpPr>
              <p:nvPr>
                <p:ph type="body" sz="quarter" idx="13"/>
              </p:nvPr>
            </p:nvSpPr>
            <p:spPr>
              <a:xfrm>
                <a:off x="444500" y="1361616"/>
                <a:ext cx="9824915" cy="4093243"/>
              </a:xfrm>
              <a:blipFill>
                <a:blip r:embed="rId2"/>
                <a:stretch>
                  <a:fillRect l="-1117" t="-1488" b="-18452"/>
                </a:stretch>
              </a:blipFill>
            </p:spPr>
            <p:txBody>
              <a:bodyPr/>
              <a:lstStyle/>
              <a:p>
                <a:r>
                  <a:rPr lang="en-US">
                    <a:noFill/>
                  </a:rPr>
                  <a:t> </a:t>
                </a:r>
              </a:p>
            </p:txBody>
          </p:sp>
        </mc:Fallback>
      </mc:AlternateContent>
    </p:spTree>
    <p:extLst>
      <p:ext uri="{BB962C8B-B14F-4D97-AF65-F5344CB8AC3E}">
        <p14:creationId xmlns:p14="http://schemas.microsoft.com/office/powerpoint/2010/main" val="16949420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Paired Sample T-test</a:t>
            </a:r>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24</a:t>
            </a:fld>
            <a:endParaRPr lang="en-US" noProof="0" dirty="0"/>
          </a:p>
        </p:txBody>
      </p:sp>
      <mc:AlternateContent xmlns:mc="http://schemas.openxmlformats.org/markup-compatibility/2006" xmlns:a14="http://schemas.microsoft.com/office/drawing/2010/main">
        <mc:Choice Requires="a14">
          <p:sp>
            <p:nvSpPr>
              <p:cNvPr id="4" name="Text Placeholder 3"/>
              <p:cNvSpPr>
                <a:spLocks noGrp="1"/>
              </p:cNvSpPr>
              <p:nvPr>
                <p:ph type="body" sz="quarter" idx="13"/>
              </p:nvPr>
            </p:nvSpPr>
            <p:spPr/>
            <p:txBody>
              <a:bodyPr/>
              <a:lstStyle/>
              <a:p>
                <a:r>
                  <a:rPr lang="en-US" sz="2800" dirty="0">
                    <a:latin typeface="Times New Roman" panose="02020603050405020304" pitchFamily="18" charset="0"/>
                    <a:cs typeface="Times New Roman" panose="02020603050405020304" pitchFamily="18" charset="0"/>
                  </a:rPr>
                  <a:t>H</a:t>
                </a:r>
                <a:r>
                  <a:rPr lang="en-US" sz="1400" dirty="0">
                    <a:latin typeface="Times New Roman" panose="02020603050405020304" pitchFamily="18" charset="0"/>
                    <a:cs typeface="Times New Roman" panose="02020603050405020304" pitchFamily="18" charset="0"/>
                  </a:rPr>
                  <a:t>0: </a:t>
                </a:r>
                <a14:m>
                  <m:oMath xmlns:m="http://schemas.openxmlformats.org/officeDocument/2006/math">
                    <m:bar>
                      <m:barPr>
                        <m:pos m:val="top"/>
                        <m:ctrlPr>
                          <a:rPr lang="en-US" sz="2400" i="1">
                            <a:latin typeface="Cambria Math" panose="02040503050406030204" pitchFamily="18" charset="0"/>
                            <a:cs typeface="Times New Roman" panose="02020603050405020304" pitchFamily="18" charset="0"/>
                          </a:rPr>
                        </m:ctrlPr>
                      </m:barPr>
                      <m:e>
                        <m:r>
                          <a:rPr lang="en-US" sz="2400" i="1">
                            <a:latin typeface="Cambria Math" panose="02040503050406030204" pitchFamily="18" charset="0"/>
                            <a:cs typeface="Times New Roman" panose="02020603050405020304" pitchFamily="18" charset="0"/>
                          </a:rPr>
                          <m:t>𝑋</m:t>
                        </m:r>
                      </m:e>
                    </m:bar>
                  </m:oMath>
                </a14:m>
                <a:r>
                  <a:rPr lang="en-US" sz="1400" dirty="0">
                    <a:latin typeface="Times New Roman" panose="02020603050405020304" pitchFamily="18" charset="0"/>
                    <a:cs typeface="Times New Roman" panose="02020603050405020304" pitchFamily="18" charset="0"/>
                  </a:rPr>
                  <a:t>d</a:t>
                </a:r>
                <a:r>
                  <a:rPr lang="en-US" sz="2400" dirty="0">
                    <a:latin typeface="Times New Roman" panose="02020603050405020304" pitchFamily="18" charset="0"/>
                    <a:cs typeface="Times New Roman" panose="02020603050405020304" pitchFamily="18" charset="0"/>
                  </a:rPr>
                  <a:t>= 0; H</a:t>
                </a:r>
                <a:r>
                  <a:rPr lang="en-US" sz="1400"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 </a:t>
                </a:r>
                <a14:m>
                  <m:oMath xmlns:m="http://schemas.openxmlformats.org/officeDocument/2006/math">
                    <m:bar>
                      <m:barPr>
                        <m:pos m:val="top"/>
                        <m:ctrlPr>
                          <a:rPr lang="en-US" sz="2400" i="1">
                            <a:latin typeface="Cambria Math" panose="02040503050406030204" pitchFamily="18" charset="0"/>
                            <a:cs typeface="Times New Roman" panose="02020603050405020304" pitchFamily="18" charset="0"/>
                          </a:rPr>
                        </m:ctrlPr>
                      </m:barPr>
                      <m:e>
                        <m:r>
                          <a:rPr lang="en-US" sz="2400" i="1">
                            <a:latin typeface="Cambria Math" panose="02040503050406030204" pitchFamily="18" charset="0"/>
                            <a:cs typeface="Times New Roman" panose="02020603050405020304" pitchFamily="18" charset="0"/>
                          </a:rPr>
                          <m:t>𝑋</m:t>
                        </m:r>
                      </m:e>
                    </m:bar>
                  </m:oMath>
                </a14:m>
                <a:r>
                  <a:rPr lang="en-US" sz="1200" dirty="0">
                    <a:latin typeface="Times New Roman" panose="02020603050405020304" pitchFamily="18" charset="0"/>
                    <a:cs typeface="Times New Roman" panose="02020603050405020304" pitchFamily="18" charset="0"/>
                  </a:rPr>
                  <a:t>d </a:t>
                </a:r>
                <a:r>
                  <a:rPr lang="en-US" sz="2400" dirty="0">
                    <a:latin typeface="Times New Roman" panose="02020603050405020304" pitchFamily="18" charset="0"/>
                    <a:cs typeface="Times New Roman" panose="02020603050405020304" pitchFamily="18" charset="0"/>
                  </a:rPr>
                  <a:t>≠ 0</a:t>
                </a:r>
              </a:p>
              <a:p>
                <a:pPr marL="0" indent="0">
                  <a:buNone/>
                </a:pPr>
                <a:r>
                  <a:rPr lang="en-US" sz="2400" dirty="0">
                    <a:latin typeface="Times New Roman" panose="02020603050405020304" pitchFamily="18" charset="0"/>
                    <a:cs typeface="Times New Roman" panose="02020603050405020304" pitchFamily="18" charset="0"/>
                  </a:rPr>
                  <a:t>Where </a:t>
                </a:r>
                <a14:m>
                  <m:oMath xmlns:m="http://schemas.openxmlformats.org/officeDocument/2006/math">
                    <m:bar>
                      <m:barPr>
                        <m:pos m:val="top"/>
                        <m:ctrlPr>
                          <a:rPr lang="en-US" sz="2400" i="1">
                            <a:latin typeface="Cambria Math" panose="02040503050406030204" pitchFamily="18" charset="0"/>
                            <a:cs typeface="Times New Roman" panose="02020603050405020304" pitchFamily="18" charset="0"/>
                          </a:rPr>
                        </m:ctrlPr>
                      </m:barPr>
                      <m:e>
                        <m:r>
                          <a:rPr lang="en-US" sz="2400" i="1">
                            <a:latin typeface="Cambria Math" panose="02040503050406030204" pitchFamily="18" charset="0"/>
                            <a:cs typeface="Times New Roman" panose="02020603050405020304" pitchFamily="18" charset="0"/>
                          </a:rPr>
                          <m:t>𝑋</m:t>
                        </m:r>
                      </m:e>
                    </m:bar>
                  </m:oMath>
                </a14:m>
                <a:r>
                  <a:rPr lang="en-US" sz="1400" dirty="0">
                    <a:latin typeface="Times New Roman" panose="02020603050405020304" pitchFamily="18" charset="0"/>
                    <a:cs typeface="Times New Roman" panose="02020603050405020304" pitchFamily="18" charset="0"/>
                  </a:rPr>
                  <a:t>d  </a:t>
                </a:r>
                <a:r>
                  <a:rPr lang="en-US" sz="2400" dirty="0">
                    <a:latin typeface="Times New Roman" panose="02020603050405020304" pitchFamily="18" charset="0"/>
                    <a:cs typeface="Times New Roman" panose="02020603050405020304" pitchFamily="18" charset="0"/>
                  </a:rPr>
                  <a:t>is the mean of difference between the pairs.</a:t>
                </a:r>
              </a:p>
              <a:p>
                <a:r>
                  <a:rPr lang="en-US" sz="2400" dirty="0">
                    <a:latin typeface="Times New Roman" panose="02020603050405020304" pitchFamily="18" charset="0"/>
                    <a:cs typeface="Times New Roman" panose="02020603050405020304" pitchFamily="18" charset="0"/>
                  </a:rPr>
                  <a:t>The t value is</a:t>
                </a:r>
              </a:p>
              <a:p>
                <a:pPr marL="0" indent="0">
                  <a:buNone/>
                </a:pPr>
                <a:r>
                  <a:rPr lang="en-US" sz="2400" dirty="0">
                    <a:latin typeface="Times New Roman" panose="02020603050405020304" pitchFamily="18" charset="0"/>
                    <a:cs typeface="Times New Roman" panose="02020603050405020304" pitchFamily="18" charset="0"/>
                  </a:rPr>
                  <a: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𝑡</m:t>
                    </m:r>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bar>
                          <m:barPr>
                            <m:pos m:val="top"/>
                            <m:ctrlPr>
                              <a:rPr lang="en-US" sz="2400" i="1">
                                <a:latin typeface="Cambria Math" panose="02040503050406030204" pitchFamily="18" charset="0"/>
                                <a:cs typeface="Times New Roman" panose="02020603050405020304" pitchFamily="18" charset="0"/>
                              </a:rPr>
                            </m:ctrlPr>
                          </m:barPr>
                          <m:e>
                            <m:r>
                              <a:rPr lang="en-US" sz="2400" i="1">
                                <a:latin typeface="Cambria Math" panose="02040503050406030204" pitchFamily="18" charset="0"/>
                                <a:cs typeface="Times New Roman" panose="02020603050405020304" pitchFamily="18" charset="0"/>
                              </a:rPr>
                              <m:t>𝑋</m:t>
                            </m:r>
                          </m:e>
                        </m:bar>
                        <m:r>
                          <m:rPr>
                            <m:nor/>
                          </m:rPr>
                          <a:rPr lang="en-US" sz="1400" dirty="0">
                            <a:latin typeface="Times New Roman" panose="02020603050405020304" pitchFamily="18" charset="0"/>
                            <a:cs typeface="Times New Roman" panose="02020603050405020304" pitchFamily="18" charset="0"/>
                          </a:rPr>
                          <m:t>d</m:t>
                        </m:r>
                      </m:num>
                      <m:den>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𝑠</m:t>
                            </m:r>
                          </m:num>
                          <m:den>
                            <m:r>
                              <a:rPr lang="en-US" sz="2400" b="0" i="1" smtClean="0">
                                <a:latin typeface="Cambria Math" panose="02040503050406030204" pitchFamily="18" charset="0"/>
                                <a:ea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𝑛</m:t>
                            </m:r>
                          </m:den>
                        </m:f>
                      </m:den>
                    </m:f>
                  </m:oMath>
                </a14:m>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Degrees of freedom is n-</a:t>
                </a:r>
                <a:r>
                  <a:rPr lang="en-US" sz="1800" dirty="0">
                    <a:latin typeface="Times New Roman" panose="02020603050405020304" pitchFamily="18" charset="0"/>
                    <a:cs typeface="Times New Roman" panose="02020603050405020304" pitchFamily="18" charset="0"/>
                  </a:rPr>
                  <a:t>1.</a:t>
                </a:r>
              </a:p>
            </p:txBody>
          </p:sp>
        </mc:Choice>
        <mc:Fallback xmlns="">
          <p:sp>
            <p:nvSpPr>
              <p:cNvPr id="4" name="Text Placeholder 3"/>
              <p:cNvSpPr>
                <a:spLocks noGrp="1" noRot="1" noChangeAspect="1" noMove="1" noResize="1" noEditPoints="1" noAdjustHandles="1" noChangeArrowheads="1" noChangeShapeType="1" noTextEdit="1"/>
              </p:cNvSpPr>
              <p:nvPr>
                <p:ph type="body" sz="quarter" idx="13"/>
              </p:nvPr>
            </p:nvSpPr>
            <p:spPr>
              <a:blipFill>
                <a:blip r:embed="rId2"/>
                <a:stretch>
                  <a:fillRect l="-1633" t="-1639"/>
                </a:stretch>
              </a:blipFill>
            </p:spPr>
            <p:txBody>
              <a:bodyPr/>
              <a:lstStyle/>
              <a:p>
                <a:r>
                  <a:rPr lang="en-US">
                    <a:noFill/>
                  </a:rPr>
                  <a:t> </a:t>
                </a:r>
              </a:p>
            </p:txBody>
          </p:sp>
        </mc:Fallback>
      </mc:AlternateContent>
    </p:spTree>
    <p:extLst>
      <p:ext uri="{BB962C8B-B14F-4D97-AF65-F5344CB8AC3E}">
        <p14:creationId xmlns:p14="http://schemas.microsoft.com/office/powerpoint/2010/main" val="17440235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Critical t value</a:t>
            </a:r>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25</a:t>
            </a:fld>
            <a:endParaRPr lang="en-US" noProof="0" dirty="0"/>
          </a:p>
        </p:txBody>
      </p:sp>
      <p:sp>
        <p:nvSpPr>
          <p:cNvPr id="4" name="Text Placeholder 3"/>
          <p:cNvSpPr>
            <a:spLocks noGrp="1"/>
          </p:cNvSpPr>
          <p:nvPr>
            <p:ph type="body" sz="quarter" idx="13"/>
          </p:nvPr>
        </p:nvSpPr>
        <p:spPr>
          <a:xfrm>
            <a:off x="444500" y="1634177"/>
            <a:ext cx="4408854" cy="4093243"/>
          </a:xfrm>
        </p:spPr>
        <p:txBody>
          <a:bodyPr/>
          <a:lstStyle/>
          <a:p>
            <a:r>
              <a:rPr lang="en-US" sz="2400" dirty="0">
                <a:latin typeface="Times New Roman" panose="02020603050405020304" pitchFamily="18" charset="0"/>
                <a:cs typeface="Times New Roman" panose="02020603050405020304" pitchFamily="18" charset="0"/>
              </a:rPr>
              <a:t>If </a:t>
            </a:r>
            <a:r>
              <a:rPr lang="en-US" sz="2400" i="1" dirty="0">
                <a:latin typeface="Times New Roman" panose="02020603050405020304" pitchFamily="18" charset="0"/>
                <a:cs typeface="Times New Roman" panose="02020603050405020304" pitchFamily="18" charset="0"/>
              </a:rPr>
              <a:t>ɑ</a:t>
            </a:r>
            <a:r>
              <a:rPr lang="en-US" sz="2400" dirty="0">
                <a:latin typeface="Times New Roman" panose="02020603050405020304" pitchFamily="18" charset="0"/>
                <a:cs typeface="Times New Roman" panose="02020603050405020304" pitchFamily="18" charset="0"/>
              </a:rPr>
              <a:t> is the significance level and </a:t>
            </a:r>
            <a:r>
              <a:rPr lang="en-US" sz="2400" i="1" dirty="0">
                <a:latin typeface="Times New Roman" panose="02020603050405020304" pitchFamily="18" charset="0"/>
                <a:cs typeface="Times New Roman" panose="02020603050405020304" pitchFamily="18" charset="0"/>
              </a:rPr>
              <a:t>d </a:t>
            </a:r>
            <a:r>
              <a:rPr lang="en-US" sz="2400" dirty="0">
                <a:latin typeface="Times New Roman" panose="02020603050405020304" pitchFamily="18" charset="0"/>
                <a:cs typeface="Times New Roman" panose="02020603050405020304" pitchFamily="18" charset="0"/>
              </a:rPr>
              <a:t> be the degrees of freedom then </a:t>
            </a:r>
            <a:r>
              <a:rPr lang="en-US" sz="2400" i="1" dirty="0" err="1">
                <a:latin typeface="Times New Roman" panose="02020603050405020304" pitchFamily="18" charset="0"/>
                <a:cs typeface="Times New Roman" panose="02020603050405020304" pitchFamily="18" charset="0"/>
              </a:rPr>
              <a:t>t</a:t>
            </a:r>
            <a:r>
              <a:rPr lang="en-US" i="1" dirty="0" err="1">
                <a:latin typeface="Times New Roman" panose="02020603050405020304" pitchFamily="18" charset="0"/>
                <a:cs typeface="Times New Roman" panose="02020603050405020304" pitchFamily="18" charset="0"/>
              </a:rPr>
              <a:t>c</a:t>
            </a:r>
            <a:r>
              <a:rPr lang="en-US" i="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is value corresponding to</a:t>
            </a:r>
          </a:p>
          <a:p>
            <a:pPr marL="0" indent="0">
              <a:buNone/>
            </a:pPr>
            <a:r>
              <a:rPr lang="en-US" sz="2400" i="1" dirty="0">
                <a:latin typeface="Times New Roman" panose="02020603050405020304" pitchFamily="18" charset="0"/>
                <a:cs typeface="Times New Roman" panose="02020603050405020304" pitchFamily="18" charset="0"/>
              </a:rPr>
              <a:t>    a (</a:t>
            </a:r>
            <a:r>
              <a:rPr lang="en-US" sz="2400" dirty="0" err="1">
                <a:latin typeface="Times New Roman" panose="02020603050405020304" pitchFamily="18" charset="0"/>
                <a:cs typeface="Times New Roman" panose="02020603050405020304" pitchFamily="18" charset="0"/>
              </a:rPr>
              <a:t>coloumn</a:t>
            </a:r>
            <a:r>
              <a:rPr lang="en-US" sz="2400" dirty="0">
                <a:latin typeface="Times New Roman" panose="02020603050405020304" pitchFamily="18" charset="0"/>
                <a:cs typeface="Times New Roman" panose="02020603050405020304" pitchFamily="18" charset="0"/>
              </a:rPr>
              <a:t>) and d (row).</a:t>
            </a:r>
          </a:p>
          <a:p>
            <a:r>
              <a:rPr lang="en-US" sz="2400" i="1" dirty="0">
                <a:latin typeface="Times New Roman" panose="02020603050405020304" pitchFamily="18" charset="0"/>
                <a:cs typeface="Times New Roman" panose="02020603050405020304" pitchFamily="18" charset="0"/>
              </a:rPr>
              <a:t>Example:</a:t>
            </a:r>
          </a:p>
          <a:p>
            <a:pPr marL="0" indent="0">
              <a:buNone/>
            </a:pPr>
            <a:r>
              <a:rPr lang="en-US" sz="2400" i="1" dirty="0">
                <a:latin typeface="Times New Roman" panose="02020603050405020304" pitchFamily="18" charset="0"/>
                <a:cs typeface="Times New Roman" panose="02020603050405020304" pitchFamily="18" charset="0"/>
              </a:rPr>
              <a:t> a=0.05 d=7 then </a:t>
            </a:r>
            <a:r>
              <a:rPr lang="en-US" sz="2400" i="1" dirty="0" err="1">
                <a:latin typeface="Times New Roman" panose="02020603050405020304" pitchFamily="18" charset="0"/>
                <a:cs typeface="Times New Roman" panose="02020603050405020304" pitchFamily="18" charset="0"/>
              </a:rPr>
              <a:t>t</a:t>
            </a:r>
            <a:r>
              <a:rPr lang="en-US" sz="1400" i="1" dirty="0" err="1">
                <a:latin typeface="Times New Roman" panose="02020603050405020304" pitchFamily="18" charset="0"/>
                <a:cs typeface="Times New Roman" panose="02020603050405020304" pitchFamily="18" charset="0"/>
              </a:rPr>
              <a:t>c</a:t>
            </a:r>
            <a:r>
              <a:rPr lang="en-US" sz="1400" i="1" dirty="0">
                <a:latin typeface="Times New Roman" panose="02020603050405020304" pitchFamily="18" charset="0"/>
                <a:cs typeface="Times New Roman" panose="02020603050405020304" pitchFamily="18" charset="0"/>
              </a:rPr>
              <a:t>   </a:t>
            </a:r>
            <a:r>
              <a:rPr lang="en-US" sz="2400" i="1" dirty="0">
                <a:latin typeface="Times New Roman" panose="02020603050405020304" pitchFamily="18" charset="0"/>
                <a:cs typeface="Times New Roman" panose="02020603050405020304" pitchFamily="18" charset="0"/>
              </a:rPr>
              <a:t>is 2.365.</a:t>
            </a:r>
            <a:endParaRPr lang="en-US" sz="1400" i="1"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
        <p:nvSpPr>
          <p:cNvPr id="7" name="AutoShape 2" descr="Student's t Table (Free Download) | Guide &amp; Examples"/>
          <p:cNvSpPr>
            <a:spLocks noChangeAspect="1" noChangeArrowheads="1"/>
          </p:cNvSpPr>
          <p:nvPr/>
        </p:nvSpPr>
        <p:spPr bwMode="auto">
          <a:xfrm>
            <a:off x="227989" y="-144462"/>
            <a:ext cx="232385" cy="23238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p:cNvPicPr>
            <a:picLocks noChangeAspect="1"/>
          </p:cNvPicPr>
          <p:nvPr/>
        </p:nvPicPr>
        <p:blipFill>
          <a:blip r:embed="rId2"/>
          <a:stretch>
            <a:fillRect/>
          </a:stretch>
        </p:blipFill>
        <p:spPr>
          <a:xfrm>
            <a:off x="5278580" y="654628"/>
            <a:ext cx="6733309" cy="5769768"/>
          </a:xfrm>
          <a:prstGeom prst="rect">
            <a:avLst/>
          </a:prstGeom>
        </p:spPr>
      </p:pic>
    </p:spTree>
    <p:extLst>
      <p:ext uri="{BB962C8B-B14F-4D97-AF65-F5344CB8AC3E}">
        <p14:creationId xmlns:p14="http://schemas.microsoft.com/office/powerpoint/2010/main" val="7272750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Steps</a:t>
            </a:r>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26</a:t>
            </a:fld>
            <a:endParaRPr lang="en-US" noProof="0" dirty="0"/>
          </a:p>
        </p:txBody>
      </p:sp>
      <mc:AlternateContent xmlns:mc="http://schemas.openxmlformats.org/markup-compatibility/2006" xmlns:a14="http://schemas.microsoft.com/office/drawing/2010/main">
        <mc:Choice Requires="a14">
          <p:sp>
            <p:nvSpPr>
              <p:cNvPr id="4" name="Text Placeholder 3"/>
              <p:cNvSpPr>
                <a:spLocks noGrp="1"/>
              </p:cNvSpPr>
              <p:nvPr>
                <p:ph type="body" sz="quarter" idx="13"/>
              </p:nvPr>
            </p:nvSpPr>
            <p:spPr/>
            <p:txBody>
              <a:bodyPr/>
              <a:lstStyle/>
              <a:p>
                <a:r>
                  <a:rPr lang="en-US" sz="2400" dirty="0">
                    <a:latin typeface="Times New Roman" panose="02020603050405020304" pitchFamily="18" charset="0"/>
                    <a:cs typeface="Times New Roman" panose="02020603050405020304" pitchFamily="18" charset="0"/>
                  </a:rPr>
                  <a:t>Calculate Value of t </a:t>
                </a:r>
              </a:p>
              <a:p>
                <a:r>
                  <a:rPr lang="en-US" sz="2400" dirty="0">
                    <a:latin typeface="Times New Roman" panose="02020603050405020304" pitchFamily="18" charset="0"/>
                    <a:cs typeface="Times New Roman" panose="02020603050405020304" pitchFamily="18" charset="0"/>
                  </a:rPr>
                  <a:t>Find the critical </a:t>
                </a:r>
                <a:r>
                  <a:rPr lang="en-US" sz="2400" dirty="0" err="1">
                    <a:latin typeface="Times New Roman" panose="02020603050405020304" pitchFamily="18" charset="0"/>
                    <a:cs typeface="Times New Roman" panose="02020603050405020304" pitchFamily="18" charset="0"/>
                  </a:rPr>
                  <a:t>t</a:t>
                </a:r>
                <a:r>
                  <a:rPr lang="en-US" sz="1400" dirty="0" err="1">
                    <a:latin typeface="Times New Roman" panose="02020603050405020304" pitchFamily="18" charset="0"/>
                    <a:cs typeface="Times New Roman" panose="02020603050405020304" pitchFamily="18" charset="0"/>
                  </a:rPr>
                  <a:t>c</a:t>
                </a:r>
                <a:r>
                  <a:rPr lang="en-US" sz="1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value from the table.</a:t>
                </a:r>
              </a:p>
              <a:p>
                <a:r>
                  <a:rPr lang="en-US" sz="2400" dirty="0">
                    <a:latin typeface="Times New Roman" panose="02020603050405020304" pitchFamily="18" charset="0"/>
                    <a:cs typeface="Times New Roman" panose="02020603050405020304" pitchFamily="18" charset="0"/>
                  </a:rPr>
                  <a:t>If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𝑡</m:t>
                    </m:r>
                    <m:r>
                      <a:rPr lang="en-US" sz="2400" b="0" i="1" smtClean="0">
                        <a:latin typeface="Cambria Math" panose="02040503050406030204" pitchFamily="18" charset="0"/>
                        <a:cs typeface="Times New Roman" panose="02020603050405020304" pitchFamily="18" charset="0"/>
                      </a:rPr>
                      <m:t>&gt;</m:t>
                    </m:r>
                    <m:r>
                      <a:rPr lang="en-US" sz="2400" b="0" i="1" smtClean="0">
                        <a:latin typeface="Cambria Math" panose="02040503050406030204" pitchFamily="18" charset="0"/>
                        <a:cs typeface="Times New Roman" panose="02020603050405020304" pitchFamily="18" charset="0"/>
                      </a:rPr>
                      <m:t>𝑡</m:t>
                    </m:r>
                  </m:oMath>
                </a14:m>
                <a:r>
                  <a:rPr lang="en-US" i="1" dirty="0">
                    <a:latin typeface="Times New Roman" panose="02020603050405020304" pitchFamily="18" charset="0"/>
                    <a:cs typeface="Times New Roman" panose="02020603050405020304" pitchFamily="18" charset="0"/>
                  </a:rPr>
                  <a:t>c, </a:t>
                </a:r>
              </a:p>
              <a:p>
                <a:pPr marL="0" indent="0">
                  <a:buNone/>
                </a:pPr>
                <a:r>
                  <a:rPr lang="en-US" i="1" dirty="0">
                    <a:latin typeface="Times New Roman" panose="02020603050405020304" pitchFamily="18" charset="0"/>
                    <a:cs typeface="Times New Roman" panose="02020603050405020304" pitchFamily="18" charset="0"/>
                  </a:rPr>
                  <a:t>                  </a:t>
                </a:r>
                <a:r>
                  <a:rPr lang="en-US" sz="2400" i="1" dirty="0">
                    <a:latin typeface="Times New Roman" panose="02020603050405020304" pitchFamily="18" charset="0"/>
                    <a:cs typeface="Times New Roman" panose="02020603050405020304" pitchFamily="18" charset="0"/>
                  </a:rPr>
                  <a:t>Reject H</a:t>
                </a:r>
                <a:r>
                  <a:rPr lang="en-US" sz="1100" i="1" dirty="0">
                    <a:latin typeface="Times New Roman" panose="02020603050405020304" pitchFamily="18" charset="0"/>
                    <a:cs typeface="Times New Roman" panose="02020603050405020304" pitchFamily="18" charset="0"/>
                  </a:rPr>
                  <a:t>0</a:t>
                </a:r>
              </a:p>
              <a:p>
                <a:pPr marL="0" indent="0">
                  <a:buNone/>
                </a:pPr>
                <a:r>
                  <a:rPr lang="en-US" sz="1100" i="1" dirty="0">
                    <a:latin typeface="Times New Roman" panose="02020603050405020304" pitchFamily="18" charset="0"/>
                    <a:cs typeface="Times New Roman" panose="02020603050405020304" pitchFamily="18" charset="0"/>
                  </a:rPr>
                  <a:t>         </a:t>
                </a:r>
                <a:endParaRPr lang="en-US" sz="2400" i="1" dirty="0">
                  <a:latin typeface="Times New Roman" panose="02020603050405020304" pitchFamily="18" charset="0"/>
                  <a:cs typeface="Times New Roman" panose="02020603050405020304" pitchFamily="18" charset="0"/>
                </a:endParaRPr>
              </a:p>
            </p:txBody>
          </p:sp>
        </mc:Choice>
        <mc:Fallback xmlns="">
          <p:sp>
            <p:nvSpPr>
              <p:cNvPr id="4" name="Text Placeholder 3"/>
              <p:cNvSpPr>
                <a:spLocks noGrp="1" noRot="1" noChangeAspect="1" noMove="1" noResize="1" noEditPoints="1" noAdjustHandles="1" noChangeArrowheads="1" noChangeShapeType="1" noTextEdit="1"/>
              </p:cNvSpPr>
              <p:nvPr>
                <p:ph type="body" sz="quarter" idx="13"/>
              </p:nvPr>
            </p:nvSpPr>
            <p:spPr>
              <a:blipFill>
                <a:blip r:embed="rId2"/>
                <a:stretch>
                  <a:fillRect l="-1270" t="-1192"/>
                </a:stretch>
              </a:blipFill>
            </p:spPr>
            <p:txBody>
              <a:bodyPr/>
              <a:lstStyle/>
              <a:p>
                <a:r>
                  <a:rPr lang="en-US">
                    <a:noFill/>
                  </a:rPr>
                  <a:t> </a:t>
                </a:r>
              </a:p>
            </p:txBody>
          </p:sp>
        </mc:Fallback>
      </mc:AlternateContent>
    </p:spTree>
    <p:extLst>
      <p:ext uri="{BB962C8B-B14F-4D97-AF65-F5344CB8AC3E}">
        <p14:creationId xmlns:p14="http://schemas.microsoft.com/office/powerpoint/2010/main" val="8397938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Example</a:t>
            </a:r>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27</a:t>
            </a:fld>
            <a:endParaRPr lang="en-US" noProof="0" dirty="0"/>
          </a:p>
        </p:txBody>
      </p:sp>
      <p:sp>
        <p:nvSpPr>
          <p:cNvPr id="4" name="Text Placeholder 3"/>
          <p:cNvSpPr>
            <a:spLocks noGrp="1"/>
          </p:cNvSpPr>
          <p:nvPr>
            <p:ph type="body" sz="quarter" idx="13"/>
          </p:nvPr>
        </p:nvSpPr>
        <p:spPr>
          <a:xfrm>
            <a:off x="444499" y="1625385"/>
            <a:ext cx="9525977" cy="4093243"/>
          </a:xfrm>
        </p:spPr>
        <p:txBody>
          <a:bodyPr/>
          <a:lstStyle/>
          <a:p>
            <a:r>
              <a:rPr lang="en-US" sz="2400" dirty="0">
                <a:latin typeface="Times New Roman" panose="02020603050405020304" pitchFamily="18" charset="0"/>
                <a:cs typeface="Times New Roman" panose="02020603050405020304" pitchFamily="18" charset="0"/>
              </a:rPr>
              <a:t>A public health official claims that the mean home water use is 350 gallons a day. To verify this claim, a study of 20 randomly selected homes was instigated with the result that the average daily water uses of these 20 homes were as follows:</a:t>
            </a:r>
          </a:p>
          <a:p>
            <a:pPr marL="0" indent="0">
              <a:buNone/>
            </a:pPr>
            <a:r>
              <a:rPr lang="en-US" sz="2400" dirty="0">
                <a:latin typeface="Times New Roman" panose="02020603050405020304" pitchFamily="18" charset="0"/>
                <a:cs typeface="Times New Roman" panose="02020603050405020304" pitchFamily="18" charset="0"/>
              </a:rPr>
              <a:t>   340 344 362 375</a:t>
            </a:r>
          </a:p>
          <a:p>
            <a:pPr marL="0" indent="0">
              <a:buNone/>
            </a:pPr>
            <a:r>
              <a:rPr lang="en-US" sz="2400" dirty="0">
                <a:latin typeface="Times New Roman" panose="02020603050405020304" pitchFamily="18" charset="0"/>
                <a:cs typeface="Times New Roman" panose="02020603050405020304" pitchFamily="18" charset="0"/>
              </a:rPr>
              <a:t>   356 386 354 364</a:t>
            </a:r>
          </a:p>
          <a:p>
            <a:pPr marL="0" indent="0">
              <a:buNone/>
            </a:pPr>
            <a:r>
              <a:rPr lang="en-US" sz="2400" dirty="0">
                <a:latin typeface="Times New Roman" panose="02020603050405020304" pitchFamily="18" charset="0"/>
                <a:cs typeface="Times New Roman" panose="02020603050405020304" pitchFamily="18" charset="0"/>
              </a:rPr>
              <a:t>   332 402 340 355</a:t>
            </a:r>
          </a:p>
          <a:p>
            <a:pPr marL="0" indent="0">
              <a:buNone/>
            </a:pPr>
            <a:r>
              <a:rPr lang="en-US" sz="2400" dirty="0">
                <a:latin typeface="Times New Roman" panose="02020603050405020304" pitchFamily="18" charset="0"/>
                <a:cs typeface="Times New Roman" panose="02020603050405020304" pitchFamily="18" charset="0"/>
              </a:rPr>
              <a:t>   362 322 372 324</a:t>
            </a:r>
          </a:p>
          <a:p>
            <a:pPr marL="0" indent="0">
              <a:buNone/>
            </a:pPr>
            <a:r>
              <a:rPr lang="en-US" sz="2400" dirty="0">
                <a:latin typeface="Times New Roman" panose="02020603050405020304" pitchFamily="18" charset="0"/>
                <a:cs typeface="Times New Roman" panose="02020603050405020304" pitchFamily="18" charset="0"/>
              </a:rPr>
              <a:t>   318 360 338 370</a:t>
            </a:r>
          </a:p>
          <a:p>
            <a:pPr marL="0" indent="0">
              <a:buNone/>
            </a:pPr>
            <a:r>
              <a:rPr lang="en-US" sz="2400" dirty="0">
                <a:latin typeface="Times New Roman" panose="02020603050405020304" pitchFamily="18" charset="0"/>
                <a:cs typeface="Times New Roman" panose="02020603050405020304" pitchFamily="18" charset="0"/>
              </a:rPr>
              <a:t>   Do the data contradict the official’s claim?</a:t>
            </a:r>
          </a:p>
        </p:txBody>
      </p:sp>
    </p:spTree>
    <p:extLst>
      <p:ext uri="{BB962C8B-B14F-4D97-AF65-F5344CB8AC3E}">
        <p14:creationId xmlns:p14="http://schemas.microsoft.com/office/powerpoint/2010/main" val="42301124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Solution</a:t>
            </a:r>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28</a:t>
            </a:fld>
            <a:endParaRPr lang="en-US" noProof="0" dirty="0"/>
          </a:p>
        </p:txBody>
      </p:sp>
      <mc:AlternateContent xmlns:mc="http://schemas.openxmlformats.org/markup-compatibility/2006" xmlns:a14="http://schemas.microsoft.com/office/drawing/2010/main">
        <mc:Choice Requires="a14">
          <p:sp>
            <p:nvSpPr>
              <p:cNvPr id="4" name="Text Placeholder 3"/>
              <p:cNvSpPr>
                <a:spLocks noGrp="1"/>
              </p:cNvSpPr>
              <p:nvPr>
                <p:ph type="body" sz="quarter" idx="13"/>
              </p:nvPr>
            </p:nvSpPr>
            <p:spPr>
              <a:xfrm>
                <a:off x="444500" y="1650144"/>
                <a:ext cx="6718300" cy="4761047"/>
              </a:xfrm>
            </p:spPr>
            <p:txBody>
              <a:bodyPr/>
              <a:lstStyle/>
              <a:p>
                <a:pPr marL="0" indent="0">
                  <a:buNone/>
                </a:pPr>
                <a:r>
                  <a:rPr lang="en-US" sz="2400" i="1" dirty="0">
                    <a:latin typeface="Times New Roman" panose="02020603050405020304" pitchFamily="18" charset="0"/>
                    <a:cs typeface="Times New Roman" panose="02020603050405020304" pitchFamily="18" charset="0"/>
                  </a:rPr>
                  <a:t>H</a:t>
                </a:r>
                <a:r>
                  <a:rPr lang="en-US" sz="1200" i="1" dirty="0">
                    <a:latin typeface="Times New Roman" panose="02020603050405020304" pitchFamily="18" charset="0"/>
                    <a:cs typeface="Times New Roman" panose="02020603050405020304" pitchFamily="18" charset="0"/>
                  </a:rPr>
                  <a:t>0</a:t>
                </a:r>
                <a:r>
                  <a:rPr lang="en-US" sz="2400" dirty="0">
                    <a:latin typeface="Times New Roman" panose="02020603050405020304" pitchFamily="18" charset="0"/>
                    <a:cs typeface="Times New Roman" panose="02020603050405020304" pitchFamily="18" charset="0"/>
                  </a:rPr>
                  <a:t>: </a:t>
                </a:r>
                <a14:m>
                  <m:oMath xmlns:m="http://schemas.openxmlformats.org/officeDocument/2006/math">
                    <m:bar>
                      <m:barPr>
                        <m:pos m:val="top"/>
                        <m:ctrlPr>
                          <a:rPr lang="en-US" sz="2400" b="0" i="1" smtClean="0">
                            <a:latin typeface="Cambria Math" panose="02040503050406030204" pitchFamily="18" charset="0"/>
                            <a:cs typeface="Times New Roman" panose="02020603050405020304" pitchFamily="18" charset="0"/>
                          </a:rPr>
                        </m:ctrlPr>
                      </m:barPr>
                      <m:e>
                        <m:r>
                          <a:rPr lang="en-US" sz="2400" b="0" i="1" smtClean="0">
                            <a:latin typeface="Cambria Math" panose="02040503050406030204" pitchFamily="18" charset="0"/>
                            <a:cs typeface="Times New Roman" panose="02020603050405020304" pitchFamily="18" charset="0"/>
                          </a:rPr>
                          <m:t>𝑋</m:t>
                        </m:r>
                      </m:e>
                    </m:bar>
                    <m:r>
                      <a:rPr lang="en-US" sz="2400" b="0" i="1" smtClean="0">
                        <a:latin typeface="Cambria Math" panose="02040503050406030204" pitchFamily="18" charset="0"/>
                        <a:cs typeface="Times New Roman" panose="02020603050405020304" pitchFamily="18" charset="0"/>
                      </a:rPr>
                      <m:t>=350; </m:t>
                    </m:r>
                  </m:oMath>
                </a14:m>
                <a:r>
                  <a:rPr lang="en-US" sz="1200" i="1" dirty="0">
                    <a:latin typeface="Times New Roman" panose="02020603050405020304" pitchFamily="18" charset="0"/>
                    <a:cs typeface="Times New Roman" panose="02020603050405020304" pitchFamily="18" charset="0"/>
                  </a:rPr>
                  <a:t> </a:t>
                </a:r>
              </a:p>
              <a:p>
                <a:pPr marL="0" indent="0">
                  <a:buNone/>
                </a:pPr>
                <a:r>
                  <a:rPr lang="en-US" sz="2400" i="1" dirty="0">
                    <a:latin typeface="Times New Roman" panose="02020603050405020304" pitchFamily="18" charset="0"/>
                    <a:cs typeface="Times New Roman" panose="02020603050405020304" pitchFamily="18" charset="0"/>
                  </a:rPr>
                  <a:t>H</a:t>
                </a:r>
                <a:r>
                  <a:rPr lang="en-US" sz="1400" i="1"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a:t>
                </a:r>
                <a14:m>
                  <m:oMath xmlns:m="http://schemas.openxmlformats.org/officeDocument/2006/math">
                    <m:bar>
                      <m:barPr>
                        <m:pos m:val="top"/>
                        <m:ctrlPr>
                          <a:rPr lang="en-US" sz="2400" b="0" i="1" smtClean="0">
                            <a:latin typeface="Cambria Math" panose="02040503050406030204" pitchFamily="18" charset="0"/>
                            <a:cs typeface="Times New Roman" panose="02020603050405020304" pitchFamily="18" charset="0"/>
                          </a:rPr>
                        </m:ctrlPr>
                      </m:barPr>
                      <m:e>
                        <m:r>
                          <a:rPr lang="en-US" sz="2400" b="0" i="1" smtClean="0">
                            <a:latin typeface="Cambria Math" panose="02040503050406030204" pitchFamily="18" charset="0"/>
                            <a:cs typeface="Times New Roman" panose="02020603050405020304" pitchFamily="18" charset="0"/>
                          </a:rPr>
                          <m:t>𝑋</m:t>
                        </m:r>
                      </m:e>
                    </m:ba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≠350;</m:t>
                    </m:r>
                  </m:oMath>
                </a14:m>
                <a:endParaRPr lang="en-US" sz="2400" b="0" dirty="0">
                  <a:latin typeface="Times New Roman" panose="02020603050405020304" pitchFamily="18" charset="0"/>
                  <a:ea typeface="Cambria Math" panose="020405030504060302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Degrees of freedom is 20-1=19</a:t>
                </a:r>
              </a:p>
              <a:p>
                <a:pPr marL="0" indent="0">
                  <a:buNone/>
                </a:pPr>
                <a:r>
                  <a:rPr lang="en-US" sz="2400" i="1" dirty="0" err="1">
                    <a:latin typeface="Times New Roman" panose="02020603050405020304" pitchFamily="18" charset="0"/>
                    <a:cs typeface="Times New Roman" panose="02020603050405020304" pitchFamily="18" charset="0"/>
                  </a:rPr>
                  <a:t>t</a:t>
                </a:r>
                <a:r>
                  <a:rPr lang="en-US" sz="1400" i="1" dirty="0" err="1">
                    <a:latin typeface="Times New Roman" panose="02020603050405020304" pitchFamily="18" charset="0"/>
                    <a:cs typeface="Times New Roman" panose="02020603050405020304" pitchFamily="18" charset="0"/>
                  </a:rPr>
                  <a:t>c</a:t>
                </a:r>
                <a:r>
                  <a:rPr lang="en-US" sz="2400" i="1" dirty="0">
                    <a:latin typeface="Times New Roman" panose="02020603050405020304" pitchFamily="18" charset="0"/>
                    <a:cs typeface="Times New Roman" panose="02020603050405020304" pitchFamily="18" charset="0"/>
                  </a:rPr>
                  <a:t> = 2.093</a:t>
                </a:r>
              </a:p>
              <a:p>
                <a:pPr marL="0" indent="0">
                  <a:buNone/>
                </a:pPr>
                <a14:m>
                  <m:oMath xmlns:m="http://schemas.openxmlformats.org/officeDocument/2006/math">
                    <m:sSup>
                      <m:sSupPr>
                        <m:ctrlPr>
                          <a:rPr lang="en-US" sz="2800" i="1" dirty="0" smtClean="0">
                            <a:latin typeface="Cambria Math" panose="02040503050406030204" pitchFamily="18" charset="0"/>
                            <a:cs typeface="Times New Roman" panose="02020603050405020304" pitchFamily="18" charset="0"/>
                          </a:rPr>
                        </m:ctrlPr>
                      </m:sSupPr>
                      <m:e>
                        <m:r>
                          <a:rPr lang="en-US" sz="2800" b="0" i="1" dirty="0" smtClean="0">
                            <a:latin typeface="Cambria Math" panose="02040503050406030204" pitchFamily="18" charset="0"/>
                            <a:cs typeface="Times New Roman" panose="02020603050405020304" pitchFamily="18" charset="0"/>
                          </a:rPr>
                          <m:t>𝑆</m:t>
                        </m:r>
                      </m:e>
                      <m:sup>
                        <m:r>
                          <a:rPr lang="en-US" sz="2800" b="0" i="1" dirty="0" smtClean="0">
                            <a:latin typeface="Cambria Math" panose="02040503050406030204" pitchFamily="18" charset="0"/>
                            <a:cs typeface="Times New Roman" panose="02020603050405020304" pitchFamily="18" charset="0"/>
                          </a:rPr>
                          <m:t>2</m:t>
                        </m:r>
                      </m:sup>
                    </m:sSup>
                  </m:oMath>
                </a14:m>
                <a:r>
                  <a:rPr lang="en-US" sz="2800" i="1" dirty="0">
                    <a:latin typeface="Times New Roman" panose="02020603050405020304" pitchFamily="18" charset="0"/>
                    <a:cs typeface="Times New Roman" panose="02020603050405020304" pitchFamily="18" charset="0"/>
                  </a:rPr>
                  <a:t>=</a:t>
                </a:r>
                <a14:m>
                  <m:oMath xmlns:m="http://schemas.openxmlformats.org/officeDocument/2006/math">
                    <m:f>
                      <m:fPr>
                        <m:ctrlPr>
                          <a:rPr lang="en-US" sz="2400" i="1" smtClean="0">
                            <a:latin typeface="Cambria Math" panose="02040503050406030204" pitchFamily="18" charset="0"/>
                            <a:cs typeface="Times New Roman" panose="02020603050405020304" pitchFamily="18" charset="0"/>
                          </a:rPr>
                        </m:ctrlPr>
                      </m:fPr>
                      <m:num>
                        <m:nary>
                          <m:naryPr>
                            <m:chr m:val="∑"/>
                            <m:ctrlPr>
                              <a:rPr lang="en-US" sz="2400" i="1" smtClean="0">
                                <a:latin typeface="Cambria Math" panose="02040503050406030204" pitchFamily="18" charset="0"/>
                                <a:cs typeface="Times New Roman" panose="02020603050405020304" pitchFamily="18" charset="0"/>
                              </a:rPr>
                            </m:ctrlPr>
                          </m:naryPr>
                          <m:sub>
                            <m:r>
                              <m:rPr>
                                <m:brk m:alnAt="23"/>
                              </m:rPr>
                              <a:rPr lang="en-US" sz="2400" b="0" i="1" smtClean="0">
                                <a:latin typeface="Cambria Math" panose="02040503050406030204" pitchFamily="18" charset="0"/>
                                <a:cs typeface="Times New Roman" panose="02020603050405020304" pitchFamily="18" charset="0"/>
                              </a:rPr>
                              <m:t>𝑖</m:t>
                            </m:r>
                            <m:r>
                              <a:rPr lang="en-US" sz="2400" b="0" i="1" smtClean="0">
                                <a:latin typeface="Cambria Math" panose="02040503050406030204" pitchFamily="18" charset="0"/>
                                <a:cs typeface="Times New Roman" panose="02020603050405020304" pitchFamily="18" charset="0"/>
                              </a:rPr>
                              <m:t>=1</m:t>
                            </m:r>
                          </m:sub>
                          <m:sup>
                            <m:r>
                              <a:rPr lang="en-US" sz="2400" b="0" i="1" smtClean="0">
                                <a:latin typeface="Cambria Math" panose="02040503050406030204" pitchFamily="18" charset="0"/>
                                <a:cs typeface="Times New Roman" panose="02020603050405020304" pitchFamily="18" charset="0"/>
                              </a:rPr>
                              <m:t>20</m:t>
                            </m:r>
                          </m:sup>
                          <m:e>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𝑋𝑖</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𝜇</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)^2</m:t>
                            </m:r>
                          </m:e>
                        </m:nary>
                      </m:num>
                      <m:den>
                        <m:r>
                          <a:rPr lang="en-US" sz="2400" b="0" i="1" smtClean="0">
                            <a:latin typeface="Cambria Math" panose="02040503050406030204" pitchFamily="18" charset="0"/>
                            <a:cs typeface="Times New Roman" panose="02020603050405020304" pitchFamily="18" charset="0"/>
                          </a:rPr>
                          <m:t>𝑛</m:t>
                        </m:r>
                      </m:den>
                    </m:f>
                  </m:oMath>
                </a14:m>
                <a:r>
                  <a:rPr lang="en-US" sz="2800" i="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21.8478</a:t>
                </a:r>
              </a:p>
              <a:p>
                <a:pPr marL="0" indent="0">
                  <a:buNone/>
                </a:pPr>
                <a:r>
                  <a:rPr lang="en-US" sz="2400" dirty="0">
                    <a:latin typeface="Times New Roman" panose="02020603050405020304" pitchFamily="18" charset="0"/>
                    <a:cs typeface="Times New Roman" panose="02020603050405020304" pitchFamily="18" charset="0"/>
                  </a:rPr>
                  <a:t>t= (353.8 -350)</a:t>
                </a:r>
                <a14:m>
                  <m:oMath xmlns:m="http://schemas.openxmlformats.org/officeDocument/2006/math">
                    <m:f>
                      <m:fPr>
                        <m:ctrlPr>
                          <a:rPr lang="en-US" sz="2400" i="1" smtClean="0">
                            <a:latin typeface="Cambria Math" panose="02040503050406030204" pitchFamily="18" charset="0"/>
                            <a:cs typeface="Times New Roman" panose="02020603050405020304" pitchFamily="18" charset="0"/>
                          </a:rPr>
                        </m:ctrlPr>
                      </m:fPr>
                      <m:num>
                        <m:r>
                          <a:rPr lang="en-US" sz="2400" i="1" smtClean="0">
                            <a:latin typeface="Cambria Math" panose="02040503050406030204" pitchFamily="18" charset="0"/>
                            <a:ea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ea typeface="Cambria Math" panose="02040503050406030204" pitchFamily="18" charset="0"/>
                            <a:cs typeface="Times New Roman" panose="02020603050405020304" pitchFamily="18" charset="0"/>
                          </a:rPr>
                          <m:t>20</m:t>
                        </m:r>
                      </m:num>
                      <m:den>
                        <m:r>
                          <a:rPr lang="en-US" sz="2400" b="0" i="1" smtClean="0">
                            <a:latin typeface="Cambria Math" panose="02040503050406030204" pitchFamily="18" charset="0"/>
                            <a:cs typeface="Times New Roman" panose="02020603050405020304" pitchFamily="18" charset="0"/>
                          </a:rPr>
                          <m:t>21.8478</m:t>
                        </m:r>
                      </m:den>
                    </m:f>
                    <m:r>
                      <a:rPr lang="en-US" sz="2400" b="0" i="0" smtClean="0">
                        <a:latin typeface="Cambria Math" panose="02040503050406030204" pitchFamily="18" charset="0"/>
                        <a:cs typeface="Times New Roman" panose="02020603050405020304" pitchFamily="18" charset="0"/>
                      </a:rPr>
                      <m:t> </m:t>
                    </m:r>
                  </m:oMath>
                </a14:m>
                <a:r>
                  <a:rPr lang="en-US" sz="2400" dirty="0">
                    <a:latin typeface="Times New Roman" panose="02020603050405020304" pitchFamily="18" charset="0"/>
                    <a:cs typeface="Times New Roman" panose="02020603050405020304" pitchFamily="18" charset="0"/>
                  </a:rPr>
                  <a:t>=0.7778</a:t>
                </a:r>
              </a:p>
              <a:p>
                <a:pPr marL="0" indent="0">
                  <a:buNone/>
                </a:pPr>
                <a:r>
                  <a:rPr lang="en-US" sz="2400" dirty="0">
                    <a:latin typeface="Times New Roman" panose="02020603050405020304" pitchFamily="18" charset="0"/>
                    <a:cs typeface="Times New Roman" panose="02020603050405020304" pitchFamily="18" charset="0"/>
                  </a:rPr>
                  <a:t>t&lt;</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t</a:t>
                </a:r>
                <a:r>
                  <a:rPr lang="en-US" sz="1400" i="1" dirty="0" err="1">
                    <a:latin typeface="Times New Roman" panose="02020603050405020304" pitchFamily="18" charset="0"/>
                    <a:cs typeface="Times New Roman" panose="02020603050405020304" pitchFamily="18" charset="0"/>
                  </a:rPr>
                  <a:t>c</a:t>
                </a:r>
                <a:r>
                  <a:rPr lang="en-US" sz="2400" i="1" dirty="0">
                    <a:latin typeface="Times New Roman" panose="02020603050405020304" pitchFamily="18" charset="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rPr>
                  <a:t>Accept H</a:t>
                </a:r>
                <a:r>
                  <a:rPr lang="en-US" sz="1400" dirty="0">
                    <a:latin typeface="Times New Roman" panose="02020603050405020304" pitchFamily="18" charset="0"/>
                    <a:cs typeface="Times New Roman" panose="02020603050405020304" pitchFamily="18" charset="0"/>
                  </a:rPr>
                  <a:t>0</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mc:Choice>
        <mc:Fallback xmlns="">
          <p:sp>
            <p:nvSpPr>
              <p:cNvPr id="4" name="Text Placeholder 3"/>
              <p:cNvSpPr>
                <a:spLocks noGrp="1" noRot="1" noChangeAspect="1" noMove="1" noResize="1" noEditPoints="1" noAdjustHandles="1" noChangeArrowheads="1" noChangeShapeType="1" noTextEdit="1"/>
              </p:cNvSpPr>
              <p:nvPr>
                <p:ph type="body" sz="quarter" idx="13"/>
              </p:nvPr>
            </p:nvSpPr>
            <p:spPr>
              <a:xfrm>
                <a:off x="444500" y="1650144"/>
                <a:ext cx="6718300" cy="4761047"/>
              </a:xfrm>
              <a:blipFill>
                <a:blip r:embed="rId2"/>
                <a:stretch>
                  <a:fillRect l="-1452" t="-128"/>
                </a:stretch>
              </a:blipFill>
            </p:spPr>
            <p:txBody>
              <a:bodyPr/>
              <a:lstStyle/>
              <a:p>
                <a:r>
                  <a:rPr lang="en-US">
                    <a:noFill/>
                  </a:rPr>
                  <a:t> </a:t>
                </a:r>
              </a:p>
            </p:txBody>
          </p:sp>
        </mc:Fallback>
      </mc:AlternateContent>
    </p:spTree>
    <p:extLst>
      <p:ext uri="{BB962C8B-B14F-4D97-AF65-F5344CB8AC3E}">
        <p14:creationId xmlns:p14="http://schemas.microsoft.com/office/powerpoint/2010/main" val="27383631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4500" y="542925"/>
            <a:ext cx="11214100" cy="535531"/>
          </a:xfrm>
        </p:spPr>
        <p:txBody>
          <a:bodyPr/>
          <a:lstStyle/>
          <a:p>
            <a:r>
              <a:rPr lang="en-US" dirty="0">
                <a:latin typeface="Times New Roman" panose="02020603050405020304" pitchFamily="18" charset="0"/>
                <a:cs typeface="Times New Roman" panose="02020603050405020304" pitchFamily="18" charset="0"/>
              </a:rPr>
              <a:t>Example</a:t>
            </a:r>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29</a:t>
            </a:fld>
            <a:endParaRPr lang="en-US" noProof="0" dirty="0"/>
          </a:p>
        </p:txBody>
      </p:sp>
      <p:sp>
        <p:nvSpPr>
          <p:cNvPr id="4" name="Text Placeholder 3"/>
          <p:cNvSpPr>
            <a:spLocks noGrp="1"/>
          </p:cNvSpPr>
          <p:nvPr>
            <p:ph type="body" sz="quarter" idx="13"/>
          </p:nvPr>
        </p:nvSpPr>
        <p:spPr>
          <a:xfrm>
            <a:off x="444499" y="1625385"/>
            <a:ext cx="8824191" cy="4093243"/>
          </a:xfrm>
        </p:spPr>
        <p:txBody>
          <a:bodyPr/>
          <a:lstStyle/>
          <a:p>
            <a:r>
              <a:rPr lang="en-US" sz="2400" dirty="0">
                <a:latin typeface="Times New Roman" panose="02020603050405020304" pitchFamily="18" charset="0"/>
                <a:cs typeface="Times New Roman" panose="02020603050405020304" pitchFamily="18" charset="0"/>
              </a:rPr>
              <a:t>An industrial safety program was recently instituted in the computer chip industry. The average weekly loss (averaged over 1 month) in man-hours due to accidents in 10 similar plants both before and after the program are as follows:</a:t>
            </a:r>
          </a:p>
          <a:p>
            <a:pPr marL="0" indent="0">
              <a:buNone/>
            </a:pPr>
            <a:r>
              <a:rPr lang="en-US" sz="2400" dirty="0">
                <a:latin typeface="Times New Roman" panose="02020603050405020304" pitchFamily="18" charset="0"/>
                <a:cs typeface="Times New Roman" panose="02020603050405020304" pitchFamily="18" charset="0"/>
              </a:rPr>
              <a:t>   Determine, at the 5 percent level of significance, whether the safety        program has been proven to be effective.</a:t>
            </a:r>
          </a:p>
        </p:txBody>
      </p:sp>
    </p:spTree>
    <p:extLst>
      <p:ext uri="{BB962C8B-B14F-4D97-AF65-F5344CB8AC3E}">
        <p14:creationId xmlns:p14="http://schemas.microsoft.com/office/powerpoint/2010/main" val="18561045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01323FB-427E-4A8D-B473-AB0657D8D23B}"/>
              </a:ext>
            </a:extLst>
          </p:cNvPr>
          <p:cNvSpPr>
            <a:spLocks noGrp="1"/>
          </p:cNvSpPr>
          <p:nvPr>
            <p:ph type="title"/>
          </p:nvPr>
        </p:nvSpPr>
        <p:spPr/>
        <p:txBody>
          <a:bodyPr/>
          <a:lstStyle/>
          <a:p>
            <a:r>
              <a:rPr lang="en-US"/>
              <a:t>Table</a:t>
            </a:r>
            <a:endParaRPr lang="en-US" dirty="0"/>
          </a:p>
        </p:txBody>
      </p:sp>
      <p:sp>
        <p:nvSpPr>
          <p:cNvPr id="2" name="Slide Number Placeholder 1">
            <a:extLst>
              <a:ext uri="{FF2B5EF4-FFF2-40B4-BE49-F238E27FC236}">
                <a16:creationId xmlns:a16="http://schemas.microsoft.com/office/drawing/2014/main" id="{E4398C1C-6656-4A73-A680-62A81CDC27FD}"/>
              </a:ext>
            </a:extLst>
          </p:cNvPr>
          <p:cNvSpPr>
            <a:spLocks noGrp="1"/>
          </p:cNvSpPr>
          <p:nvPr>
            <p:ph type="sldNum" sz="quarter" idx="12"/>
          </p:nvPr>
        </p:nvSpPr>
        <p:spPr/>
        <p:txBody>
          <a:bodyPr/>
          <a:lstStyle/>
          <a:p>
            <a:fld id="{C263D6C4-4840-40CC-AC84-17E24B3B7BDE}" type="slidenum">
              <a:rPr lang="en-US" smtClean="0"/>
              <a:pPr/>
              <a:t>30</a:t>
            </a:fld>
            <a:endParaRPr lang="en-US" dirty="0"/>
          </a:p>
        </p:txBody>
      </p:sp>
      <p:graphicFrame>
        <p:nvGraphicFramePr>
          <p:cNvPr id="9" name="Table 8"/>
          <p:cNvGraphicFramePr>
            <a:graphicFrameLocks noGrp="1"/>
          </p:cNvGraphicFramePr>
          <p:nvPr>
            <p:extLst>
              <p:ext uri="{D42A27DB-BD31-4B8C-83A1-F6EECF244321}">
                <p14:modId xmlns:p14="http://schemas.microsoft.com/office/powerpoint/2010/main" val="2542076267"/>
              </p:ext>
            </p:extLst>
          </p:nvPr>
        </p:nvGraphicFramePr>
        <p:xfrm>
          <a:off x="1857664" y="1371600"/>
          <a:ext cx="8128000" cy="4348480"/>
        </p:xfrm>
        <a:graphic>
          <a:graphicData uri="http://schemas.openxmlformats.org/drawingml/2006/table">
            <a:tbl>
              <a:tblPr firstRow="1" bandRow="1">
                <a:tableStyleId>{7DF18680-E054-41AD-8BC1-D1AEF772440D}</a:tableStyleId>
              </a:tblPr>
              <a:tblGrid>
                <a:gridCol w="2032000">
                  <a:extLst>
                    <a:ext uri="{9D8B030D-6E8A-4147-A177-3AD203B41FA5}">
                      <a16:colId xmlns:a16="http://schemas.microsoft.com/office/drawing/2014/main" val="66701680"/>
                    </a:ext>
                  </a:extLst>
                </a:gridCol>
                <a:gridCol w="2032000">
                  <a:extLst>
                    <a:ext uri="{9D8B030D-6E8A-4147-A177-3AD203B41FA5}">
                      <a16:colId xmlns:a16="http://schemas.microsoft.com/office/drawing/2014/main" val="119505369"/>
                    </a:ext>
                  </a:extLst>
                </a:gridCol>
                <a:gridCol w="2032000">
                  <a:extLst>
                    <a:ext uri="{9D8B030D-6E8A-4147-A177-3AD203B41FA5}">
                      <a16:colId xmlns:a16="http://schemas.microsoft.com/office/drawing/2014/main" val="55903757"/>
                    </a:ext>
                  </a:extLst>
                </a:gridCol>
                <a:gridCol w="2032000">
                  <a:extLst>
                    <a:ext uri="{9D8B030D-6E8A-4147-A177-3AD203B41FA5}">
                      <a16:colId xmlns:a16="http://schemas.microsoft.com/office/drawing/2014/main" val="868565147"/>
                    </a:ext>
                  </a:extLst>
                </a:gridCol>
              </a:tblGrid>
              <a:tr h="536171">
                <a:tc>
                  <a:txBody>
                    <a:bodyPr/>
                    <a:lstStyle/>
                    <a:p>
                      <a:r>
                        <a:rPr lang="en-US" dirty="0"/>
                        <a:t>Plant</a:t>
                      </a:r>
                    </a:p>
                  </a:txBody>
                  <a:tcPr/>
                </a:tc>
                <a:tc>
                  <a:txBody>
                    <a:bodyPr/>
                    <a:lstStyle/>
                    <a:p>
                      <a:r>
                        <a:rPr lang="en-US" dirty="0"/>
                        <a:t>Before</a:t>
                      </a:r>
                    </a:p>
                  </a:txBody>
                  <a:tcPr/>
                </a:tc>
                <a:tc>
                  <a:txBody>
                    <a:bodyPr/>
                    <a:lstStyle/>
                    <a:p>
                      <a:r>
                        <a:rPr lang="en-US" dirty="0"/>
                        <a:t>After</a:t>
                      </a:r>
                    </a:p>
                  </a:txBody>
                  <a:tcPr/>
                </a:tc>
                <a:tc>
                  <a:txBody>
                    <a:bodyPr/>
                    <a:lstStyle/>
                    <a:p>
                      <a:r>
                        <a:rPr lang="en-US" dirty="0"/>
                        <a:t>After-</a:t>
                      </a:r>
                    </a:p>
                    <a:p>
                      <a:r>
                        <a:rPr lang="en-US" dirty="0"/>
                        <a:t>Before</a:t>
                      </a:r>
                    </a:p>
                  </a:txBody>
                  <a:tcPr/>
                </a:tc>
                <a:extLst>
                  <a:ext uri="{0D108BD9-81ED-4DB2-BD59-A6C34878D82A}">
                    <a16:rowId xmlns:a16="http://schemas.microsoft.com/office/drawing/2014/main" val="3077859556"/>
                  </a:ext>
                </a:extLst>
              </a:tr>
              <a:tr h="370840">
                <a:tc>
                  <a:txBody>
                    <a:bodyPr/>
                    <a:lstStyle/>
                    <a:p>
                      <a:r>
                        <a:rPr lang="en-US" dirty="0"/>
                        <a:t>1</a:t>
                      </a:r>
                    </a:p>
                  </a:txBody>
                  <a:tcPr/>
                </a:tc>
                <a:tc>
                  <a:txBody>
                    <a:bodyPr/>
                    <a:lstStyle/>
                    <a:p>
                      <a:r>
                        <a:rPr lang="en-US" dirty="0"/>
                        <a:t>30.5</a:t>
                      </a:r>
                    </a:p>
                  </a:txBody>
                  <a:tcPr/>
                </a:tc>
                <a:tc>
                  <a:txBody>
                    <a:bodyPr/>
                    <a:lstStyle/>
                    <a:p>
                      <a:r>
                        <a:rPr lang="en-US" dirty="0"/>
                        <a:t>23</a:t>
                      </a:r>
                    </a:p>
                  </a:txBody>
                  <a:tcPr/>
                </a:tc>
                <a:tc>
                  <a:txBody>
                    <a:bodyPr/>
                    <a:lstStyle/>
                    <a:p>
                      <a:r>
                        <a:rPr lang="en-US" dirty="0"/>
                        <a:t>-7.5</a:t>
                      </a:r>
                    </a:p>
                  </a:txBody>
                  <a:tcPr/>
                </a:tc>
                <a:extLst>
                  <a:ext uri="{0D108BD9-81ED-4DB2-BD59-A6C34878D82A}">
                    <a16:rowId xmlns:a16="http://schemas.microsoft.com/office/drawing/2014/main" val="656699396"/>
                  </a:ext>
                </a:extLst>
              </a:tr>
              <a:tr h="370840">
                <a:tc>
                  <a:txBody>
                    <a:bodyPr/>
                    <a:lstStyle/>
                    <a:p>
                      <a:r>
                        <a:rPr lang="en-US" dirty="0"/>
                        <a:t>2</a:t>
                      </a:r>
                    </a:p>
                  </a:txBody>
                  <a:tcPr/>
                </a:tc>
                <a:tc>
                  <a:txBody>
                    <a:bodyPr/>
                    <a:lstStyle/>
                    <a:p>
                      <a:r>
                        <a:rPr lang="en-US" dirty="0"/>
                        <a:t>18.5</a:t>
                      </a:r>
                    </a:p>
                  </a:txBody>
                  <a:tcPr/>
                </a:tc>
                <a:tc>
                  <a:txBody>
                    <a:bodyPr/>
                    <a:lstStyle/>
                    <a:p>
                      <a:r>
                        <a:rPr lang="en-US" dirty="0"/>
                        <a:t>21</a:t>
                      </a:r>
                    </a:p>
                  </a:txBody>
                  <a:tcPr/>
                </a:tc>
                <a:tc>
                  <a:txBody>
                    <a:bodyPr/>
                    <a:lstStyle/>
                    <a:p>
                      <a:r>
                        <a:rPr lang="en-US" dirty="0"/>
                        <a:t>2.5</a:t>
                      </a:r>
                    </a:p>
                  </a:txBody>
                  <a:tcPr/>
                </a:tc>
                <a:extLst>
                  <a:ext uri="{0D108BD9-81ED-4DB2-BD59-A6C34878D82A}">
                    <a16:rowId xmlns:a16="http://schemas.microsoft.com/office/drawing/2014/main" val="710728856"/>
                  </a:ext>
                </a:extLst>
              </a:tr>
              <a:tr h="370840">
                <a:tc>
                  <a:txBody>
                    <a:bodyPr/>
                    <a:lstStyle/>
                    <a:p>
                      <a:r>
                        <a:rPr lang="en-US" dirty="0"/>
                        <a:t>3</a:t>
                      </a:r>
                    </a:p>
                  </a:txBody>
                  <a:tcPr/>
                </a:tc>
                <a:tc>
                  <a:txBody>
                    <a:bodyPr/>
                    <a:lstStyle/>
                    <a:p>
                      <a:r>
                        <a:rPr lang="en-US" dirty="0"/>
                        <a:t>24.5</a:t>
                      </a:r>
                    </a:p>
                  </a:txBody>
                  <a:tcPr/>
                </a:tc>
                <a:tc>
                  <a:txBody>
                    <a:bodyPr/>
                    <a:lstStyle/>
                    <a:p>
                      <a:r>
                        <a:rPr lang="en-US" dirty="0"/>
                        <a:t>22</a:t>
                      </a:r>
                    </a:p>
                  </a:txBody>
                  <a:tcPr/>
                </a:tc>
                <a:tc>
                  <a:txBody>
                    <a:bodyPr/>
                    <a:lstStyle/>
                    <a:p>
                      <a:r>
                        <a:rPr lang="en-US" dirty="0"/>
                        <a:t>-2.5</a:t>
                      </a:r>
                    </a:p>
                  </a:txBody>
                  <a:tcPr/>
                </a:tc>
                <a:extLst>
                  <a:ext uri="{0D108BD9-81ED-4DB2-BD59-A6C34878D82A}">
                    <a16:rowId xmlns:a16="http://schemas.microsoft.com/office/drawing/2014/main" val="665905360"/>
                  </a:ext>
                </a:extLst>
              </a:tr>
              <a:tr h="370840">
                <a:tc>
                  <a:txBody>
                    <a:bodyPr/>
                    <a:lstStyle/>
                    <a:p>
                      <a:r>
                        <a:rPr lang="en-US" dirty="0"/>
                        <a:t>4</a:t>
                      </a:r>
                    </a:p>
                  </a:txBody>
                  <a:tcPr/>
                </a:tc>
                <a:tc>
                  <a:txBody>
                    <a:bodyPr/>
                    <a:lstStyle/>
                    <a:p>
                      <a:r>
                        <a:rPr lang="en-US" dirty="0"/>
                        <a:t>32</a:t>
                      </a:r>
                    </a:p>
                  </a:txBody>
                  <a:tcPr/>
                </a:tc>
                <a:tc>
                  <a:txBody>
                    <a:bodyPr/>
                    <a:lstStyle/>
                    <a:p>
                      <a:r>
                        <a:rPr lang="en-US" dirty="0"/>
                        <a:t>28.5</a:t>
                      </a:r>
                    </a:p>
                  </a:txBody>
                  <a:tcPr/>
                </a:tc>
                <a:tc>
                  <a:txBody>
                    <a:bodyPr/>
                    <a:lstStyle/>
                    <a:p>
                      <a:r>
                        <a:rPr lang="en-US" dirty="0"/>
                        <a:t>-3.5</a:t>
                      </a:r>
                    </a:p>
                  </a:txBody>
                  <a:tcPr/>
                </a:tc>
                <a:extLst>
                  <a:ext uri="{0D108BD9-81ED-4DB2-BD59-A6C34878D82A}">
                    <a16:rowId xmlns:a16="http://schemas.microsoft.com/office/drawing/2014/main" val="3441446073"/>
                  </a:ext>
                </a:extLst>
              </a:tr>
              <a:tr h="370840">
                <a:tc>
                  <a:txBody>
                    <a:bodyPr/>
                    <a:lstStyle/>
                    <a:p>
                      <a:r>
                        <a:rPr lang="en-US" dirty="0"/>
                        <a:t>5</a:t>
                      </a:r>
                    </a:p>
                  </a:txBody>
                  <a:tcPr/>
                </a:tc>
                <a:tc>
                  <a:txBody>
                    <a:bodyPr/>
                    <a:lstStyle/>
                    <a:p>
                      <a:r>
                        <a:rPr lang="en-US" dirty="0"/>
                        <a:t>16</a:t>
                      </a:r>
                    </a:p>
                  </a:txBody>
                  <a:tcPr/>
                </a:tc>
                <a:tc>
                  <a:txBody>
                    <a:bodyPr/>
                    <a:lstStyle/>
                    <a:p>
                      <a:r>
                        <a:rPr lang="en-US" dirty="0"/>
                        <a:t>14.5</a:t>
                      </a:r>
                    </a:p>
                  </a:txBody>
                  <a:tcPr/>
                </a:tc>
                <a:tc>
                  <a:txBody>
                    <a:bodyPr/>
                    <a:lstStyle/>
                    <a:p>
                      <a:r>
                        <a:rPr lang="en-US" dirty="0"/>
                        <a:t>-1.5</a:t>
                      </a:r>
                    </a:p>
                  </a:txBody>
                  <a:tcPr/>
                </a:tc>
                <a:extLst>
                  <a:ext uri="{0D108BD9-81ED-4DB2-BD59-A6C34878D82A}">
                    <a16:rowId xmlns:a16="http://schemas.microsoft.com/office/drawing/2014/main" val="1581203374"/>
                  </a:ext>
                </a:extLst>
              </a:tr>
              <a:tr h="370840">
                <a:tc>
                  <a:txBody>
                    <a:bodyPr/>
                    <a:lstStyle/>
                    <a:p>
                      <a:r>
                        <a:rPr lang="en-US" dirty="0"/>
                        <a:t>6</a:t>
                      </a:r>
                    </a:p>
                  </a:txBody>
                  <a:tcPr/>
                </a:tc>
                <a:tc>
                  <a:txBody>
                    <a:bodyPr/>
                    <a:lstStyle/>
                    <a:p>
                      <a:r>
                        <a:rPr lang="en-US" dirty="0"/>
                        <a:t>15</a:t>
                      </a:r>
                    </a:p>
                  </a:txBody>
                  <a:tcPr/>
                </a:tc>
                <a:tc>
                  <a:txBody>
                    <a:bodyPr/>
                    <a:lstStyle/>
                    <a:p>
                      <a:r>
                        <a:rPr lang="en-US" dirty="0"/>
                        <a:t>15.5</a:t>
                      </a:r>
                    </a:p>
                  </a:txBody>
                  <a:tcPr/>
                </a:tc>
                <a:tc>
                  <a:txBody>
                    <a:bodyPr/>
                    <a:lstStyle/>
                    <a:p>
                      <a:r>
                        <a:rPr lang="en-US" dirty="0"/>
                        <a:t>0.5</a:t>
                      </a:r>
                    </a:p>
                  </a:txBody>
                  <a:tcPr/>
                </a:tc>
                <a:extLst>
                  <a:ext uri="{0D108BD9-81ED-4DB2-BD59-A6C34878D82A}">
                    <a16:rowId xmlns:a16="http://schemas.microsoft.com/office/drawing/2014/main" val="1052215216"/>
                  </a:ext>
                </a:extLst>
              </a:tr>
              <a:tr h="370840">
                <a:tc>
                  <a:txBody>
                    <a:bodyPr/>
                    <a:lstStyle/>
                    <a:p>
                      <a:r>
                        <a:rPr lang="en-US" dirty="0"/>
                        <a:t>7</a:t>
                      </a:r>
                    </a:p>
                  </a:txBody>
                  <a:tcPr/>
                </a:tc>
                <a:tc>
                  <a:txBody>
                    <a:bodyPr/>
                    <a:lstStyle/>
                    <a:p>
                      <a:r>
                        <a:rPr lang="en-US" dirty="0"/>
                        <a:t>23.5</a:t>
                      </a:r>
                    </a:p>
                  </a:txBody>
                  <a:tcPr/>
                </a:tc>
                <a:tc>
                  <a:txBody>
                    <a:bodyPr/>
                    <a:lstStyle/>
                    <a:p>
                      <a:r>
                        <a:rPr lang="en-US" dirty="0"/>
                        <a:t>24.5</a:t>
                      </a:r>
                    </a:p>
                  </a:txBody>
                  <a:tcPr/>
                </a:tc>
                <a:tc>
                  <a:txBody>
                    <a:bodyPr/>
                    <a:lstStyle/>
                    <a:p>
                      <a:r>
                        <a:rPr lang="en-US" dirty="0"/>
                        <a:t>1</a:t>
                      </a:r>
                    </a:p>
                  </a:txBody>
                  <a:tcPr/>
                </a:tc>
                <a:extLst>
                  <a:ext uri="{0D108BD9-81ED-4DB2-BD59-A6C34878D82A}">
                    <a16:rowId xmlns:a16="http://schemas.microsoft.com/office/drawing/2014/main" val="685615444"/>
                  </a:ext>
                </a:extLst>
              </a:tr>
              <a:tr h="370840">
                <a:tc>
                  <a:txBody>
                    <a:bodyPr/>
                    <a:lstStyle/>
                    <a:p>
                      <a:r>
                        <a:rPr lang="en-US" dirty="0"/>
                        <a:t>8</a:t>
                      </a:r>
                    </a:p>
                  </a:txBody>
                  <a:tcPr/>
                </a:tc>
                <a:tc>
                  <a:txBody>
                    <a:bodyPr/>
                    <a:lstStyle/>
                    <a:p>
                      <a:r>
                        <a:rPr lang="en-US" dirty="0"/>
                        <a:t>25.5</a:t>
                      </a:r>
                    </a:p>
                  </a:txBody>
                  <a:tcPr/>
                </a:tc>
                <a:tc>
                  <a:txBody>
                    <a:bodyPr/>
                    <a:lstStyle/>
                    <a:p>
                      <a:r>
                        <a:rPr lang="en-US" dirty="0"/>
                        <a:t>21</a:t>
                      </a:r>
                    </a:p>
                  </a:txBody>
                  <a:tcPr/>
                </a:tc>
                <a:tc>
                  <a:txBody>
                    <a:bodyPr/>
                    <a:lstStyle/>
                    <a:p>
                      <a:r>
                        <a:rPr lang="en-US" dirty="0"/>
                        <a:t>-4.5</a:t>
                      </a:r>
                    </a:p>
                  </a:txBody>
                  <a:tcPr/>
                </a:tc>
                <a:extLst>
                  <a:ext uri="{0D108BD9-81ED-4DB2-BD59-A6C34878D82A}">
                    <a16:rowId xmlns:a16="http://schemas.microsoft.com/office/drawing/2014/main" val="663299671"/>
                  </a:ext>
                </a:extLst>
              </a:tr>
              <a:tr h="370840">
                <a:tc>
                  <a:txBody>
                    <a:bodyPr/>
                    <a:lstStyle/>
                    <a:p>
                      <a:r>
                        <a:rPr lang="en-US" dirty="0"/>
                        <a:t>9</a:t>
                      </a:r>
                    </a:p>
                  </a:txBody>
                  <a:tcPr/>
                </a:tc>
                <a:tc>
                  <a:txBody>
                    <a:bodyPr/>
                    <a:lstStyle/>
                    <a:p>
                      <a:r>
                        <a:rPr lang="en-US" dirty="0"/>
                        <a:t>28</a:t>
                      </a:r>
                    </a:p>
                  </a:txBody>
                  <a:tcPr/>
                </a:tc>
                <a:tc>
                  <a:txBody>
                    <a:bodyPr/>
                    <a:lstStyle/>
                    <a:p>
                      <a:r>
                        <a:rPr lang="en-US" dirty="0"/>
                        <a:t>23.5</a:t>
                      </a:r>
                    </a:p>
                  </a:txBody>
                  <a:tcPr/>
                </a:tc>
                <a:tc>
                  <a:txBody>
                    <a:bodyPr/>
                    <a:lstStyle/>
                    <a:p>
                      <a:r>
                        <a:rPr lang="en-US" dirty="0"/>
                        <a:t>-4.5</a:t>
                      </a:r>
                    </a:p>
                  </a:txBody>
                  <a:tcPr/>
                </a:tc>
                <a:extLst>
                  <a:ext uri="{0D108BD9-81ED-4DB2-BD59-A6C34878D82A}">
                    <a16:rowId xmlns:a16="http://schemas.microsoft.com/office/drawing/2014/main" val="3787236390"/>
                  </a:ext>
                </a:extLst>
              </a:tr>
              <a:tr h="370840">
                <a:tc>
                  <a:txBody>
                    <a:bodyPr/>
                    <a:lstStyle/>
                    <a:p>
                      <a:r>
                        <a:rPr lang="en-US" dirty="0"/>
                        <a:t>10</a:t>
                      </a:r>
                    </a:p>
                  </a:txBody>
                  <a:tcPr/>
                </a:tc>
                <a:tc>
                  <a:txBody>
                    <a:bodyPr/>
                    <a:lstStyle/>
                    <a:p>
                      <a:r>
                        <a:rPr lang="en-US" dirty="0"/>
                        <a:t>18</a:t>
                      </a:r>
                    </a:p>
                  </a:txBody>
                  <a:tcPr/>
                </a:tc>
                <a:tc>
                  <a:txBody>
                    <a:bodyPr/>
                    <a:lstStyle/>
                    <a:p>
                      <a:r>
                        <a:rPr lang="en-US" dirty="0"/>
                        <a:t>16.5</a:t>
                      </a:r>
                    </a:p>
                  </a:txBody>
                  <a:tcPr/>
                </a:tc>
                <a:tc>
                  <a:txBody>
                    <a:bodyPr/>
                    <a:lstStyle/>
                    <a:p>
                      <a:r>
                        <a:rPr lang="en-US" dirty="0"/>
                        <a:t>-1.5</a:t>
                      </a:r>
                    </a:p>
                  </a:txBody>
                  <a:tcPr/>
                </a:tc>
                <a:extLst>
                  <a:ext uri="{0D108BD9-81ED-4DB2-BD59-A6C34878D82A}">
                    <a16:rowId xmlns:a16="http://schemas.microsoft.com/office/drawing/2014/main" val="1274159512"/>
                  </a:ext>
                </a:extLst>
              </a:tr>
            </a:tbl>
          </a:graphicData>
        </a:graphic>
      </p:graphicFrame>
    </p:spTree>
    <p:extLst>
      <p:ext uri="{BB962C8B-B14F-4D97-AF65-F5344CB8AC3E}">
        <p14:creationId xmlns:p14="http://schemas.microsoft.com/office/powerpoint/2010/main" val="1065425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Solution</a:t>
            </a:r>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31</a:t>
            </a:fld>
            <a:endParaRPr lang="en-US" noProof="0" dirty="0"/>
          </a:p>
        </p:txBody>
      </p:sp>
      <mc:AlternateContent xmlns:mc="http://schemas.openxmlformats.org/markup-compatibility/2006" xmlns:a14="http://schemas.microsoft.com/office/drawing/2010/main">
        <mc:Choice Requires="a14">
          <p:sp>
            <p:nvSpPr>
              <p:cNvPr id="4" name="Text Placeholder 3"/>
              <p:cNvSpPr>
                <a:spLocks noGrp="1"/>
              </p:cNvSpPr>
              <p:nvPr>
                <p:ph type="body" sz="quarter" idx="13"/>
              </p:nvPr>
            </p:nvSpPr>
            <p:spPr/>
            <p:txBody>
              <a:bodyPr/>
              <a:lstStyle/>
              <a:p>
                <a:r>
                  <a:rPr lang="en-US" sz="2800" dirty="0">
                    <a:latin typeface="Times New Roman" panose="02020603050405020304" pitchFamily="18" charset="0"/>
                    <a:cs typeface="Times New Roman" panose="02020603050405020304" pitchFamily="18" charset="0"/>
                  </a:rPr>
                  <a:t>H</a:t>
                </a:r>
                <a:r>
                  <a:rPr lang="en-US" sz="1400" dirty="0">
                    <a:latin typeface="Times New Roman" panose="02020603050405020304" pitchFamily="18" charset="0"/>
                    <a:cs typeface="Times New Roman" panose="02020603050405020304" pitchFamily="18" charset="0"/>
                  </a:rPr>
                  <a:t>0: </a:t>
                </a:r>
                <a14:m>
                  <m:oMath xmlns:m="http://schemas.openxmlformats.org/officeDocument/2006/math">
                    <m:bar>
                      <m:barPr>
                        <m:pos m:val="top"/>
                        <m:ctrlPr>
                          <a:rPr lang="en-US" sz="2400" i="1">
                            <a:latin typeface="Cambria Math" panose="02040503050406030204" pitchFamily="18" charset="0"/>
                            <a:cs typeface="Times New Roman" panose="02020603050405020304" pitchFamily="18" charset="0"/>
                          </a:rPr>
                        </m:ctrlPr>
                      </m:barPr>
                      <m:e>
                        <m:r>
                          <a:rPr lang="en-US" sz="2400" i="1">
                            <a:latin typeface="Cambria Math" panose="02040503050406030204" pitchFamily="18" charset="0"/>
                            <a:cs typeface="Times New Roman" panose="02020603050405020304" pitchFamily="18" charset="0"/>
                          </a:rPr>
                          <m:t>𝑋</m:t>
                        </m:r>
                      </m:e>
                    </m:bar>
                  </m:oMath>
                </a14:m>
                <a:r>
                  <a:rPr lang="en-US" sz="1400" dirty="0">
                    <a:latin typeface="Times New Roman" panose="02020603050405020304" pitchFamily="18" charset="0"/>
                    <a:cs typeface="Times New Roman" panose="02020603050405020304" pitchFamily="18" charset="0"/>
                  </a:rPr>
                  <a:t>d</a:t>
                </a:r>
                <a:r>
                  <a:rPr lang="en-US" sz="2400" dirty="0">
                    <a:latin typeface="Times New Roman" panose="02020603050405020304" pitchFamily="18" charset="0"/>
                    <a:cs typeface="Times New Roman" panose="02020603050405020304" pitchFamily="18" charset="0"/>
                  </a:rPr>
                  <a:t>= 0; </a:t>
                </a:r>
                <a:r>
                  <a:rPr lang="en-US" sz="2800" dirty="0">
                    <a:latin typeface="Times New Roman" panose="02020603050405020304" pitchFamily="18" charset="0"/>
                    <a:cs typeface="Times New Roman" panose="02020603050405020304" pitchFamily="18" charset="0"/>
                  </a:rPr>
                  <a:t>H</a:t>
                </a:r>
                <a:r>
                  <a:rPr lang="en-US" sz="1400"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 </a:t>
                </a:r>
                <a14:m>
                  <m:oMath xmlns:m="http://schemas.openxmlformats.org/officeDocument/2006/math">
                    <m:bar>
                      <m:barPr>
                        <m:pos m:val="top"/>
                        <m:ctrlPr>
                          <a:rPr lang="en-US" sz="2400" i="1">
                            <a:latin typeface="Cambria Math" panose="02040503050406030204" pitchFamily="18" charset="0"/>
                            <a:cs typeface="Times New Roman" panose="02020603050405020304" pitchFamily="18" charset="0"/>
                          </a:rPr>
                        </m:ctrlPr>
                      </m:barPr>
                      <m:e>
                        <m:r>
                          <a:rPr lang="en-US" sz="2400" i="1">
                            <a:latin typeface="Cambria Math" panose="02040503050406030204" pitchFamily="18" charset="0"/>
                            <a:cs typeface="Times New Roman" panose="02020603050405020304" pitchFamily="18" charset="0"/>
                          </a:rPr>
                          <m:t>𝑋</m:t>
                        </m:r>
                      </m:e>
                    </m:bar>
                  </m:oMath>
                </a14:m>
                <a:r>
                  <a:rPr lang="en-US" sz="1200" dirty="0">
                    <a:latin typeface="Times New Roman" panose="02020603050405020304" pitchFamily="18" charset="0"/>
                    <a:cs typeface="Times New Roman" panose="02020603050405020304" pitchFamily="18" charset="0"/>
                  </a:rPr>
                  <a:t>d </a:t>
                </a:r>
                <a:r>
                  <a:rPr lang="en-US" sz="2400" dirty="0">
                    <a:latin typeface="Times New Roman" panose="02020603050405020304" pitchFamily="18" charset="0"/>
                    <a:cs typeface="Times New Roman" panose="02020603050405020304" pitchFamily="18" charset="0"/>
                  </a:rPr>
                  <a:t>≠ 0</a:t>
                </a:r>
                <a:r>
                  <a:rPr lang="en-US" sz="1400" dirty="0">
                    <a:latin typeface="Times New Roman" panose="02020603050405020304" pitchFamily="18" charset="0"/>
                    <a:cs typeface="Times New Roman" panose="02020603050405020304" pitchFamily="18" charset="0"/>
                  </a:rPr>
                  <a:t>;</a:t>
                </a:r>
              </a:p>
              <a:p>
                <a:pPr marL="0" indent="0">
                  <a:buNone/>
                </a:pPr>
                <a14:m>
                  <m:oMath xmlns:m="http://schemas.openxmlformats.org/officeDocument/2006/math">
                    <m:bar>
                      <m:barPr>
                        <m:pos m:val="top"/>
                        <m:ctrlPr>
                          <a:rPr lang="en-US" sz="2400" i="1">
                            <a:latin typeface="Cambria Math" panose="02040503050406030204" pitchFamily="18" charset="0"/>
                            <a:cs typeface="Times New Roman" panose="02020603050405020304" pitchFamily="18" charset="0"/>
                          </a:rPr>
                        </m:ctrlPr>
                      </m:barPr>
                      <m:e>
                        <m:r>
                          <a:rPr lang="en-US" sz="2400" i="1">
                            <a:latin typeface="Cambria Math" panose="02040503050406030204" pitchFamily="18" charset="0"/>
                            <a:cs typeface="Times New Roman" panose="02020603050405020304" pitchFamily="18" charset="0"/>
                          </a:rPr>
                          <m:t>𝑋</m:t>
                        </m:r>
                      </m:e>
                    </m:bar>
                  </m:oMath>
                </a14:m>
                <a:r>
                  <a:rPr lang="en-US" sz="1400" dirty="0">
                    <a:latin typeface="Times New Roman" panose="02020603050405020304" pitchFamily="18" charset="0"/>
                    <a:cs typeface="Times New Roman" panose="02020603050405020304" pitchFamily="18" charset="0"/>
                  </a:rPr>
                  <a:t>d = -</a:t>
                </a:r>
                <a:r>
                  <a:rPr lang="en-US" sz="2400" dirty="0">
                    <a:latin typeface="Times New Roman" panose="02020603050405020304" pitchFamily="18" charset="0"/>
                    <a:cs typeface="Times New Roman" panose="02020603050405020304" pitchFamily="18" charset="0"/>
                  </a:rPr>
                  <a:t>2.35</a:t>
                </a:r>
              </a:p>
              <a:p>
                <a:pPr marL="0" indent="0">
                  <a:buNone/>
                </a:pPr>
                <a:r>
                  <a:rPr lang="en-US" sz="2400" dirty="0">
                    <a:latin typeface="Times New Roman" panose="02020603050405020304" pitchFamily="18" charset="0"/>
                    <a:cs typeface="Times New Roman" panose="02020603050405020304" pitchFamily="18" charset="0"/>
                  </a:rPr>
                  <a:t>S=3.007</a:t>
                </a:r>
              </a:p>
              <a:p>
                <a:pPr marL="0" indent="0">
                  <a:buNone/>
                </a:pPr>
                <a:r>
                  <a:rPr lang="en-US" sz="2400" dirty="0">
                    <a:latin typeface="Times New Roman" panose="02020603050405020304" pitchFamily="18" charset="0"/>
                    <a:cs typeface="Times New Roman" panose="02020603050405020304" pitchFamily="18" charset="0"/>
                  </a:rPr>
                  <a:t>t = 2.471</a:t>
                </a:r>
              </a:p>
              <a:p>
                <a:pPr marL="0" indent="0">
                  <a:buNone/>
                </a:pPr>
                <a:r>
                  <a:rPr lang="en-US" sz="2400" dirty="0">
                    <a:latin typeface="Times New Roman" panose="02020603050405020304" pitchFamily="18" charset="0"/>
                    <a:cs typeface="Times New Roman" panose="02020603050405020304" pitchFamily="18" charset="0"/>
                  </a:rPr>
                  <a:t>Degrees of freedom= 10-1=9</a:t>
                </a:r>
              </a:p>
              <a:p>
                <a:pPr marL="0" indent="0">
                  <a:buNone/>
                </a:pPr>
                <a:r>
                  <a:rPr lang="en-US" sz="2400" i="1" dirty="0" err="1">
                    <a:latin typeface="Times New Roman" panose="02020603050405020304" pitchFamily="18" charset="0"/>
                    <a:cs typeface="Times New Roman" panose="02020603050405020304" pitchFamily="18" charset="0"/>
                  </a:rPr>
                  <a:t>t</a:t>
                </a:r>
                <a:r>
                  <a:rPr lang="en-US" sz="1400" i="1" dirty="0" err="1">
                    <a:latin typeface="Times New Roman" panose="02020603050405020304" pitchFamily="18" charset="0"/>
                    <a:cs typeface="Times New Roman" panose="02020603050405020304" pitchFamily="18" charset="0"/>
                  </a:rPr>
                  <a:t>c</a:t>
                </a:r>
                <a:r>
                  <a:rPr lang="en-US" sz="1400" i="1"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2.2625</a:t>
                </a:r>
              </a:p>
              <a:p>
                <a:pPr marL="0" indent="0">
                  <a:buNone/>
                </a:pPr>
                <a:r>
                  <a:rPr lang="en-US" sz="2400" dirty="0">
                    <a:latin typeface="Times New Roman" panose="02020603050405020304" pitchFamily="18" charset="0"/>
                    <a:cs typeface="Times New Roman" panose="02020603050405020304" pitchFamily="18" charset="0"/>
                  </a:rPr>
                  <a:t>t &gt; </a:t>
                </a:r>
                <a:r>
                  <a:rPr lang="en-US" sz="2400" dirty="0" err="1">
                    <a:latin typeface="Times New Roman" panose="02020603050405020304" pitchFamily="18" charset="0"/>
                    <a:cs typeface="Times New Roman" panose="02020603050405020304" pitchFamily="18" charset="0"/>
                  </a:rPr>
                  <a:t>t</a:t>
                </a:r>
                <a:r>
                  <a:rPr lang="en-US" sz="1400" dirty="0" err="1">
                    <a:latin typeface="Times New Roman" panose="02020603050405020304" pitchFamily="18" charset="0"/>
                    <a:cs typeface="Times New Roman" panose="02020603050405020304" pitchFamily="18" charset="0"/>
                  </a:rPr>
                  <a:t>c</a:t>
                </a:r>
                <a:r>
                  <a:rPr lang="en-US" sz="2400" dirty="0">
                    <a:latin typeface="Times New Roman" panose="02020603050405020304" pitchFamily="18" charset="0"/>
                    <a:cs typeface="Times New Roman" panose="02020603050405020304" pitchFamily="18" charset="0"/>
                  </a:rPr>
                  <a:t> we reject H</a:t>
                </a:r>
                <a:r>
                  <a:rPr lang="en-US" sz="1400" dirty="0">
                    <a:latin typeface="Times New Roman" panose="02020603050405020304" pitchFamily="18" charset="0"/>
                    <a:cs typeface="Times New Roman" panose="02020603050405020304" pitchFamily="18" charset="0"/>
                  </a:rPr>
                  <a:t>0</a:t>
                </a:r>
              </a:p>
            </p:txBody>
          </p:sp>
        </mc:Choice>
        <mc:Fallback xmlns="">
          <p:sp>
            <p:nvSpPr>
              <p:cNvPr id="4" name="Text Placeholder 3"/>
              <p:cNvSpPr>
                <a:spLocks noGrp="1" noRot="1" noChangeAspect="1" noMove="1" noResize="1" noEditPoints="1" noAdjustHandles="1" noChangeArrowheads="1" noChangeShapeType="1" noTextEdit="1"/>
              </p:cNvSpPr>
              <p:nvPr>
                <p:ph type="body" sz="quarter" idx="13"/>
              </p:nvPr>
            </p:nvSpPr>
            <p:spPr>
              <a:blipFill>
                <a:blip r:embed="rId2"/>
                <a:stretch>
                  <a:fillRect l="-1633" t="-1639"/>
                </a:stretch>
              </a:blipFill>
            </p:spPr>
            <p:txBody>
              <a:bodyPr/>
              <a:lstStyle/>
              <a:p>
                <a:r>
                  <a:rPr lang="en-US">
                    <a:noFill/>
                  </a:rPr>
                  <a:t> </a:t>
                </a:r>
              </a:p>
            </p:txBody>
          </p:sp>
        </mc:Fallback>
      </mc:AlternateContent>
    </p:spTree>
    <p:extLst>
      <p:ext uri="{BB962C8B-B14F-4D97-AF65-F5344CB8AC3E}">
        <p14:creationId xmlns:p14="http://schemas.microsoft.com/office/powerpoint/2010/main" val="35222376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Example</a:t>
            </a:r>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32</a:t>
            </a:fld>
            <a:endParaRPr lang="en-US" noProof="0" dirty="0"/>
          </a:p>
        </p:txBody>
      </p:sp>
      <p:sp>
        <p:nvSpPr>
          <p:cNvPr id="4" name="Text Placeholder 3"/>
          <p:cNvSpPr>
            <a:spLocks noGrp="1"/>
          </p:cNvSpPr>
          <p:nvPr>
            <p:ph type="body" sz="quarter" idx="13"/>
          </p:nvPr>
        </p:nvSpPr>
        <p:spPr/>
        <p:txBody>
          <a:bodyPr/>
          <a:lstStyle/>
          <a:p>
            <a:pPr marL="0" indent="0" algn="just">
              <a:spcAft>
                <a:spcPts val="800"/>
              </a:spcAft>
              <a:buNone/>
            </a:pPr>
            <a:r>
              <a:rPr lang="en-IN" sz="2400" dirty="0">
                <a:latin typeface="Times New Roman" panose="02020603050405020304" pitchFamily="18" charset="0"/>
                <a:ea typeface="Times New Roman" panose="02020603050405020304" pitchFamily="18" charset="0"/>
                <a:cs typeface="Times New Roman" panose="02020603050405020304" pitchFamily="18" charset="0"/>
              </a:rPr>
              <a:t>For a random sample of 10 persons, fed on a diet A, the increase in weights measured in pounds for a certain period were: 10, 6, 16, 17, 13, 12, 8, 14, 15, 9.</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marL="0" indent="0" algn="just">
              <a:spcAft>
                <a:spcPts val="800"/>
              </a:spcAft>
              <a:buNone/>
            </a:pPr>
            <a:r>
              <a:rPr lang="en-IN" sz="2400" dirty="0">
                <a:latin typeface="Times New Roman" panose="02020603050405020304" pitchFamily="18" charset="0"/>
                <a:ea typeface="Times New Roman" panose="02020603050405020304" pitchFamily="18" charset="0"/>
                <a:cs typeface="Times New Roman" panose="02020603050405020304" pitchFamily="18" charset="0"/>
              </a:rPr>
              <a:t>For another random sample of 12 persons, fed on a diet B, the increase in the same period were: 7, 13, 22, 15, 12, 14, 18, 8, 21, 23, 10, 17.</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marL="0" indent="0" algn="just">
              <a:spcAft>
                <a:spcPts val="800"/>
              </a:spcAft>
              <a:buNone/>
            </a:pPr>
            <a:r>
              <a:rPr lang="en-IN" sz="2400" dirty="0">
                <a:latin typeface="Times New Roman" panose="02020603050405020304" pitchFamily="18" charset="0"/>
                <a:ea typeface="Times New Roman" panose="02020603050405020304" pitchFamily="18" charset="0"/>
                <a:cs typeface="Times New Roman" panose="02020603050405020304" pitchFamily="18" charset="0"/>
              </a:rPr>
              <a:t>Test whether diets A and B differ significantly as regards their effect on an increase in weight</a:t>
            </a:r>
            <a:endParaRPr lang="en-US" sz="2400" dirty="0"/>
          </a:p>
        </p:txBody>
      </p:sp>
    </p:spTree>
    <p:extLst>
      <p:ext uri="{BB962C8B-B14F-4D97-AF65-F5344CB8AC3E}">
        <p14:creationId xmlns:p14="http://schemas.microsoft.com/office/powerpoint/2010/main" val="17814477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Solution</a:t>
            </a:r>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33</a:t>
            </a:fld>
            <a:endParaRPr lang="en-US" noProof="0" dirty="0"/>
          </a:p>
        </p:txBody>
      </p:sp>
      <mc:AlternateContent xmlns:mc="http://schemas.openxmlformats.org/markup-compatibility/2006" xmlns:a14="http://schemas.microsoft.com/office/drawing/2010/main">
        <mc:Choice Requires="a14">
          <p:sp>
            <p:nvSpPr>
              <p:cNvPr id="4" name="Text Placeholder 3"/>
              <p:cNvSpPr>
                <a:spLocks noGrp="1"/>
              </p:cNvSpPr>
              <p:nvPr>
                <p:ph type="body" sz="quarter" idx="13"/>
              </p:nvPr>
            </p:nvSpPr>
            <p:spPr>
              <a:xfrm>
                <a:off x="444500" y="1396785"/>
                <a:ext cx="6718300" cy="5100852"/>
              </a:xfrm>
            </p:spPr>
            <p:txBody>
              <a:bodyPr/>
              <a:lstStyle/>
              <a:p>
                <a:r>
                  <a:rPr lang="en-US" sz="2800" dirty="0">
                    <a:latin typeface="Times New Roman" panose="02020603050405020304" pitchFamily="18" charset="0"/>
                    <a:cs typeface="Times New Roman" panose="02020603050405020304" pitchFamily="18" charset="0"/>
                  </a:rPr>
                  <a:t>H</a:t>
                </a:r>
                <a:r>
                  <a:rPr lang="en-US" sz="1400" dirty="0">
                    <a:latin typeface="Times New Roman" panose="02020603050405020304" pitchFamily="18" charset="0"/>
                    <a:cs typeface="Times New Roman" panose="02020603050405020304" pitchFamily="18" charset="0"/>
                  </a:rPr>
                  <a:t>0: </a:t>
                </a:r>
                <a14:m>
                  <m:oMath xmlns:m="http://schemas.openxmlformats.org/officeDocument/2006/math">
                    <m:bar>
                      <m:barPr>
                        <m:pos m:val="top"/>
                        <m:ctrlPr>
                          <a:rPr lang="en-US" sz="2400" i="1">
                            <a:latin typeface="Cambria Math" panose="02040503050406030204" pitchFamily="18" charset="0"/>
                            <a:cs typeface="Times New Roman" panose="02020603050405020304" pitchFamily="18" charset="0"/>
                          </a:rPr>
                        </m:ctrlPr>
                      </m:barPr>
                      <m:e>
                        <m:r>
                          <a:rPr lang="en-US" sz="2400" i="1">
                            <a:latin typeface="Cambria Math" panose="02040503050406030204" pitchFamily="18" charset="0"/>
                            <a:cs typeface="Times New Roman" panose="02020603050405020304" pitchFamily="18" charset="0"/>
                          </a:rPr>
                          <m:t>𝑋</m:t>
                        </m:r>
                      </m:e>
                    </m:bar>
                  </m:oMath>
                </a14:m>
                <a:r>
                  <a:rPr lang="en-US" sz="1200"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 </a:t>
                </a:r>
                <a14:m>
                  <m:oMath xmlns:m="http://schemas.openxmlformats.org/officeDocument/2006/math">
                    <m:bar>
                      <m:barPr>
                        <m:pos m:val="top"/>
                        <m:ctrlPr>
                          <a:rPr lang="en-US" sz="2400" i="1">
                            <a:latin typeface="Cambria Math" panose="02040503050406030204" pitchFamily="18" charset="0"/>
                            <a:cs typeface="Times New Roman" panose="02020603050405020304" pitchFamily="18" charset="0"/>
                          </a:rPr>
                        </m:ctrlPr>
                      </m:barPr>
                      <m:e>
                        <m:r>
                          <a:rPr lang="en-US" sz="2400" i="1">
                            <a:latin typeface="Cambria Math" panose="02040503050406030204" pitchFamily="18" charset="0"/>
                            <a:cs typeface="Times New Roman" panose="02020603050405020304" pitchFamily="18" charset="0"/>
                          </a:rPr>
                          <m:t>𝑋</m:t>
                        </m:r>
                      </m:e>
                    </m:bar>
                  </m:oMath>
                </a14:m>
                <a:r>
                  <a:rPr lang="en-US" sz="12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 ; H</a:t>
                </a:r>
                <a:r>
                  <a:rPr lang="en-US" sz="1400"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 </a:t>
                </a:r>
                <a14:m>
                  <m:oMath xmlns:m="http://schemas.openxmlformats.org/officeDocument/2006/math">
                    <m:bar>
                      <m:barPr>
                        <m:pos m:val="top"/>
                        <m:ctrlPr>
                          <a:rPr lang="en-US" sz="2400" i="1">
                            <a:latin typeface="Cambria Math" panose="02040503050406030204" pitchFamily="18" charset="0"/>
                            <a:cs typeface="Times New Roman" panose="02020603050405020304" pitchFamily="18" charset="0"/>
                          </a:rPr>
                        </m:ctrlPr>
                      </m:barPr>
                      <m:e>
                        <m:r>
                          <a:rPr lang="en-US" sz="2400" i="1">
                            <a:latin typeface="Cambria Math" panose="02040503050406030204" pitchFamily="18" charset="0"/>
                            <a:cs typeface="Times New Roman" panose="02020603050405020304" pitchFamily="18" charset="0"/>
                          </a:rPr>
                          <m:t>𝑋</m:t>
                        </m:r>
                      </m:e>
                    </m:bar>
                  </m:oMath>
                </a14:m>
                <a:r>
                  <a:rPr lang="en-US" sz="1200"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 ≠ </a:t>
                </a:r>
                <a14:m>
                  <m:oMath xmlns:m="http://schemas.openxmlformats.org/officeDocument/2006/math">
                    <m:bar>
                      <m:barPr>
                        <m:pos m:val="top"/>
                        <m:ctrlPr>
                          <a:rPr lang="en-US" sz="2400" i="1">
                            <a:latin typeface="Cambria Math" panose="02040503050406030204" pitchFamily="18" charset="0"/>
                            <a:cs typeface="Times New Roman" panose="02020603050405020304" pitchFamily="18" charset="0"/>
                          </a:rPr>
                        </m:ctrlPr>
                      </m:barPr>
                      <m:e>
                        <m:r>
                          <a:rPr lang="en-US" sz="2400" i="1">
                            <a:latin typeface="Cambria Math" panose="02040503050406030204" pitchFamily="18" charset="0"/>
                            <a:cs typeface="Times New Roman" panose="02020603050405020304" pitchFamily="18" charset="0"/>
                          </a:rPr>
                          <m:t>𝑋</m:t>
                        </m:r>
                      </m:e>
                    </m:bar>
                  </m:oMath>
                </a14:m>
                <a:r>
                  <a:rPr lang="en-US" sz="1200" dirty="0">
                    <a:latin typeface="Times New Roman" panose="02020603050405020304" pitchFamily="18" charset="0"/>
                    <a:cs typeface="Times New Roman" panose="02020603050405020304" pitchFamily="18" charset="0"/>
                  </a:rPr>
                  <a:t>2</a:t>
                </a:r>
              </a:p>
              <a:p>
                <a:r>
                  <a:rPr lang="en-US" sz="2400" dirty="0">
                    <a:latin typeface="Times New Roman" panose="02020603050405020304" pitchFamily="18" charset="0"/>
                    <a:cs typeface="Times New Roman" panose="02020603050405020304" pitchFamily="18" charset="0"/>
                  </a:rPr>
                  <a:t>n</a:t>
                </a:r>
                <a:r>
                  <a:rPr lang="en-US" sz="1100"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=10 n</a:t>
                </a:r>
                <a:r>
                  <a:rPr lang="en-US" sz="11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=12</a:t>
                </a:r>
              </a:p>
              <a:p>
                <a:pPr marL="0" indent="0">
                  <a:buNone/>
                </a:pPr>
                <a:r>
                  <a:rPr lang="en-US" sz="2400" dirty="0">
                    <a:latin typeface="Times New Roman" panose="02020603050405020304" pitchFamily="18" charset="0"/>
                    <a:cs typeface="Times New Roman" panose="02020603050405020304" pitchFamily="18" charset="0"/>
                  </a:rPr>
                  <a:t>Degrees of freedom is 10+12-2=20</a:t>
                </a:r>
              </a:p>
              <a:p>
                <a:pPr marL="0" indent="0">
                  <a:buNone/>
                </a:pPr>
                <a:r>
                  <a:rPr lang="en-US" sz="2400" i="1" dirty="0" err="1">
                    <a:latin typeface="Times New Roman" panose="02020603050405020304" pitchFamily="18" charset="0"/>
                    <a:cs typeface="Times New Roman" panose="02020603050405020304" pitchFamily="18" charset="0"/>
                  </a:rPr>
                  <a:t>t</a:t>
                </a:r>
                <a:r>
                  <a:rPr lang="en-US" sz="1400" i="1" dirty="0" err="1">
                    <a:latin typeface="Times New Roman" panose="02020603050405020304" pitchFamily="18" charset="0"/>
                    <a:cs typeface="Times New Roman" panose="02020603050405020304" pitchFamily="18" charset="0"/>
                  </a:rPr>
                  <a:t>c</a:t>
                </a:r>
                <a:r>
                  <a:rPr lang="en-US" sz="1400" i="1" dirty="0">
                    <a:latin typeface="Times New Roman" panose="02020603050405020304" pitchFamily="18" charset="0"/>
                    <a:cs typeface="Times New Roman" panose="02020603050405020304" pitchFamily="18" charset="0"/>
                  </a:rPr>
                  <a:t>= </a:t>
                </a:r>
                <a:r>
                  <a:rPr lang="en-US" sz="2400" i="1" dirty="0">
                    <a:latin typeface="Times New Roman" panose="02020603050405020304" pitchFamily="18" charset="0"/>
                    <a:cs typeface="Times New Roman" panose="02020603050405020304" pitchFamily="18" charset="0"/>
                  </a:rPr>
                  <a:t>2.086</a:t>
                </a:r>
              </a:p>
              <a:p>
                <a:pPr marL="0" indent="0">
                  <a:buNone/>
                </a:pPr>
                <a:r>
                  <a:rPr lang="en-US" sz="2400" i="1" dirty="0">
                    <a:latin typeface="Times New Roman" panose="02020603050405020304" pitchFamily="18" charset="0"/>
                    <a:cs typeface="Times New Roman" panose="02020603050405020304" pitchFamily="18" charset="0"/>
                  </a:rPr>
                  <a:t>S</a:t>
                </a:r>
                <a:r>
                  <a:rPr lang="en-US" sz="1400" i="1" dirty="0">
                    <a:latin typeface="Times New Roman" panose="02020603050405020304" pitchFamily="18" charset="0"/>
                    <a:cs typeface="Times New Roman" panose="02020603050405020304" pitchFamily="18" charset="0"/>
                  </a:rPr>
                  <a:t>=</a:t>
                </a:r>
                <a14:m>
                  <m:oMath xmlns:m="http://schemas.openxmlformats.org/officeDocument/2006/math">
                    <m:rad>
                      <m:radPr>
                        <m:degHide m:val="on"/>
                        <m:ctrlPr>
                          <a:rPr lang="en-IN" sz="2400" i="1">
                            <a:latin typeface="Cambria Math" panose="02040503050406030204" pitchFamily="18" charset="0"/>
                            <a:ea typeface="Times New Roman" panose="02020603050405020304" pitchFamily="18" charset="0"/>
                            <a:cs typeface="Times New Roman" panose="02020603050405020304" pitchFamily="18" charset="0"/>
                          </a:rPr>
                        </m:ctrlPr>
                      </m:radPr>
                      <m:deg/>
                      <m:e>
                        <m:f>
                          <m:fPr>
                            <m:ctrlPr>
                              <a:rPr lang="en-IN" sz="2400" i="1">
                                <a:latin typeface="Cambria Math" panose="02040503050406030204" pitchFamily="18" charset="0"/>
                                <a:ea typeface="Times New Roman" panose="02020603050405020304" pitchFamily="18" charset="0"/>
                                <a:cs typeface="Times New Roman" panose="02020603050405020304" pitchFamily="18" charset="0"/>
                              </a:rPr>
                            </m:ctrlPr>
                          </m:fPr>
                          <m:num>
                            <m:d>
                              <m:dPr>
                                <m:ctrlPr>
                                  <a:rPr lang="en-IN" sz="2400" i="1">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IN"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en-IN" sz="2400" i="1">
                                        <a:latin typeface="Cambria Math" panose="02040503050406030204" pitchFamily="18" charset="0"/>
                                        <a:ea typeface="Times New Roman" panose="02020603050405020304" pitchFamily="18" charset="0"/>
                                        <a:cs typeface="Times New Roman" panose="02020603050405020304" pitchFamily="18" charset="0"/>
                                      </a:rPr>
                                      <m:t>𝑛</m:t>
                                    </m:r>
                                  </m:e>
                                  <m:sub>
                                    <m:r>
                                      <a:rPr lang="en-IN" sz="2400" i="1">
                                        <a:latin typeface="Cambria Math" panose="02040503050406030204" pitchFamily="18" charset="0"/>
                                        <a:ea typeface="Times New Roman" panose="02020603050405020304" pitchFamily="18" charset="0"/>
                                        <a:cs typeface="Times New Roman" panose="02020603050405020304" pitchFamily="18" charset="0"/>
                                      </a:rPr>
                                      <m:t>1</m:t>
                                    </m:r>
                                  </m:sub>
                                </m:sSub>
                                <m:r>
                                  <a:rPr lang="en-IN" sz="2400" i="1">
                                    <a:latin typeface="Cambria Math" panose="02040503050406030204" pitchFamily="18" charset="0"/>
                                    <a:ea typeface="Times New Roman" panose="02020603050405020304" pitchFamily="18" charset="0"/>
                                    <a:cs typeface="Times New Roman" panose="02020603050405020304" pitchFamily="18" charset="0"/>
                                  </a:rPr>
                                  <m:t>−1</m:t>
                                </m:r>
                              </m:e>
                            </m:d>
                            <m:sSubSup>
                              <m:sSubSupPr>
                                <m:ctrlPr>
                                  <a:rPr lang="en-IN" sz="2400" i="1">
                                    <a:latin typeface="Cambria Math" panose="02040503050406030204" pitchFamily="18" charset="0"/>
                                    <a:ea typeface="Times New Roman" panose="02020603050405020304" pitchFamily="18" charset="0"/>
                                    <a:cs typeface="Times New Roman" panose="02020603050405020304" pitchFamily="18" charset="0"/>
                                  </a:rPr>
                                </m:ctrlPr>
                              </m:sSubSupPr>
                              <m:e>
                                <m:r>
                                  <a:rPr lang="en-IN" sz="2400" i="1">
                                    <a:latin typeface="Cambria Math" panose="02040503050406030204" pitchFamily="18" charset="0"/>
                                    <a:ea typeface="Times New Roman" panose="02020603050405020304" pitchFamily="18" charset="0"/>
                                    <a:cs typeface="Times New Roman" panose="02020603050405020304" pitchFamily="18" charset="0"/>
                                  </a:rPr>
                                  <m:t>𝑆</m:t>
                                </m:r>
                              </m:e>
                              <m:sub>
                                <m:r>
                                  <a:rPr lang="en-IN" sz="2400" i="1">
                                    <a:latin typeface="Cambria Math" panose="02040503050406030204" pitchFamily="18" charset="0"/>
                                    <a:ea typeface="Times New Roman" panose="02020603050405020304" pitchFamily="18" charset="0"/>
                                    <a:cs typeface="Times New Roman" panose="02020603050405020304" pitchFamily="18" charset="0"/>
                                  </a:rPr>
                                  <m:t>1</m:t>
                                </m:r>
                              </m:sub>
                              <m:sup>
                                <m:r>
                                  <a:rPr lang="en-IN" sz="2400" i="1">
                                    <a:latin typeface="Cambria Math" panose="02040503050406030204" pitchFamily="18" charset="0"/>
                                    <a:ea typeface="Times New Roman" panose="02020603050405020304" pitchFamily="18" charset="0"/>
                                    <a:cs typeface="Times New Roman" panose="02020603050405020304" pitchFamily="18" charset="0"/>
                                  </a:rPr>
                                  <m:t>2</m:t>
                                </m:r>
                              </m:sup>
                            </m:sSubSup>
                            <m:r>
                              <a:rPr lang="en-IN" sz="2400" i="1">
                                <a:latin typeface="Cambria Math" panose="02040503050406030204" pitchFamily="18" charset="0"/>
                                <a:ea typeface="Times New Roman" panose="02020603050405020304" pitchFamily="18" charset="0"/>
                                <a:cs typeface="Times New Roman" panose="02020603050405020304" pitchFamily="18" charset="0"/>
                              </a:rPr>
                              <m:t>+</m:t>
                            </m:r>
                            <m:d>
                              <m:dPr>
                                <m:ctrlPr>
                                  <a:rPr lang="en-IN" sz="2400" i="1">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IN"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en-IN" sz="2400" i="1">
                                        <a:latin typeface="Cambria Math" panose="02040503050406030204" pitchFamily="18" charset="0"/>
                                        <a:ea typeface="Times New Roman" panose="02020603050405020304" pitchFamily="18" charset="0"/>
                                        <a:cs typeface="Times New Roman" panose="02020603050405020304" pitchFamily="18" charset="0"/>
                                      </a:rPr>
                                      <m:t>𝑛</m:t>
                                    </m:r>
                                  </m:e>
                                  <m:sub>
                                    <m:r>
                                      <a:rPr lang="en-IN" sz="2400" i="1">
                                        <a:latin typeface="Cambria Math" panose="02040503050406030204" pitchFamily="18" charset="0"/>
                                        <a:ea typeface="Times New Roman" panose="02020603050405020304" pitchFamily="18" charset="0"/>
                                        <a:cs typeface="Times New Roman" panose="02020603050405020304" pitchFamily="18" charset="0"/>
                                      </a:rPr>
                                      <m:t>2</m:t>
                                    </m:r>
                                  </m:sub>
                                </m:sSub>
                                <m:r>
                                  <a:rPr lang="en-IN" sz="2400" i="1">
                                    <a:latin typeface="Cambria Math" panose="02040503050406030204" pitchFamily="18" charset="0"/>
                                    <a:ea typeface="Times New Roman" panose="02020603050405020304" pitchFamily="18" charset="0"/>
                                    <a:cs typeface="Times New Roman" panose="02020603050405020304" pitchFamily="18" charset="0"/>
                                  </a:rPr>
                                  <m:t>−1</m:t>
                                </m:r>
                              </m:e>
                            </m:d>
                            <m:sSubSup>
                              <m:sSubSupPr>
                                <m:ctrlPr>
                                  <a:rPr lang="en-IN" sz="2400" i="1">
                                    <a:latin typeface="Cambria Math" panose="02040503050406030204" pitchFamily="18" charset="0"/>
                                    <a:ea typeface="Times New Roman" panose="02020603050405020304" pitchFamily="18" charset="0"/>
                                    <a:cs typeface="Times New Roman" panose="02020603050405020304" pitchFamily="18" charset="0"/>
                                  </a:rPr>
                                </m:ctrlPr>
                              </m:sSubSupPr>
                              <m:e>
                                <m:r>
                                  <a:rPr lang="en-IN" sz="2400" i="1">
                                    <a:latin typeface="Cambria Math" panose="02040503050406030204" pitchFamily="18" charset="0"/>
                                    <a:ea typeface="Times New Roman" panose="02020603050405020304" pitchFamily="18" charset="0"/>
                                    <a:cs typeface="Times New Roman" panose="02020603050405020304" pitchFamily="18" charset="0"/>
                                  </a:rPr>
                                  <m:t>𝑆</m:t>
                                </m:r>
                              </m:e>
                              <m:sub>
                                <m:r>
                                  <a:rPr lang="en-IN" sz="2400" i="1">
                                    <a:latin typeface="Cambria Math" panose="02040503050406030204" pitchFamily="18" charset="0"/>
                                    <a:ea typeface="Times New Roman" panose="02020603050405020304" pitchFamily="18" charset="0"/>
                                    <a:cs typeface="Times New Roman" panose="02020603050405020304" pitchFamily="18" charset="0"/>
                                  </a:rPr>
                                  <m:t>2</m:t>
                                </m:r>
                              </m:sub>
                              <m:sup>
                                <m:r>
                                  <a:rPr lang="en-IN" sz="2400" i="1">
                                    <a:latin typeface="Cambria Math" panose="02040503050406030204" pitchFamily="18" charset="0"/>
                                    <a:ea typeface="Times New Roman" panose="02020603050405020304" pitchFamily="18" charset="0"/>
                                    <a:cs typeface="Times New Roman" panose="02020603050405020304" pitchFamily="18" charset="0"/>
                                  </a:rPr>
                                  <m:t>2</m:t>
                                </m:r>
                              </m:sup>
                            </m:sSubSup>
                          </m:num>
                          <m:den>
                            <m:sSub>
                              <m:sSubPr>
                                <m:ctrlPr>
                                  <a:rPr lang="en-IN"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en-IN" sz="2400" i="1">
                                    <a:latin typeface="Cambria Math" panose="02040503050406030204" pitchFamily="18" charset="0"/>
                                    <a:ea typeface="Times New Roman" panose="02020603050405020304" pitchFamily="18" charset="0"/>
                                    <a:cs typeface="Times New Roman" panose="02020603050405020304" pitchFamily="18" charset="0"/>
                                  </a:rPr>
                                  <m:t>𝑛</m:t>
                                </m:r>
                              </m:e>
                              <m:sub>
                                <m:r>
                                  <a:rPr lang="en-IN" sz="2400" i="1">
                                    <a:latin typeface="Cambria Math" panose="02040503050406030204" pitchFamily="18" charset="0"/>
                                    <a:ea typeface="Times New Roman" panose="02020603050405020304" pitchFamily="18" charset="0"/>
                                    <a:cs typeface="Times New Roman" panose="02020603050405020304" pitchFamily="18" charset="0"/>
                                  </a:rPr>
                                  <m:t>1</m:t>
                                </m:r>
                              </m:sub>
                            </m:sSub>
                            <m:r>
                              <a:rPr lang="en-IN" sz="2400" i="1">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en-IN" sz="2400" i="1">
                                    <a:latin typeface="Cambria Math" panose="02040503050406030204" pitchFamily="18" charset="0"/>
                                    <a:ea typeface="Times New Roman" panose="02020603050405020304" pitchFamily="18" charset="0"/>
                                    <a:cs typeface="Times New Roman" panose="02020603050405020304" pitchFamily="18" charset="0"/>
                                  </a:rPr>
                                  <m:t>𝑛</m:t>
                                </m:r>
                              </m:e>
                              <m:sub>
                                <m:r>
                                  <a:rPr lang="en-IN" sz="2400" i="1">
                                    <a:latin typeface="Cambria Math" panose="02040503050406030204" pitchFamily="18" charset="0"/>
                                    <a:ea typeface="Times New Roman" panose="02020603050405020304" pitchFamily="18" charset="0"/>
                                    <a:cs typeface="Times New Roman" panose="02020603050405020304" pitchFamily="18" charset="0"/>
                                  </a:rPr>
                                  <m:t>2</m:t>
                                </m:r>
                              </m:sub>
                            </m:sSub>
                            <m:r>
                              <a:rPr lang="en-IN" sz="2400" i="1">
                                <a:latin typeface="Cambria Math" panose="02040503050406030204" pitchFamily="18" charset="0"/>
                                <a:ea typeface="Times New Roman" panose="02020603050405020304" pitchFamily="18" charset="0"/>
                                <a:cs typeface="Times New Roman" panose="02020603050405020304" pitchFamily="18" charset="0"/>
                              </a:rPr>
                              <m:t>−2</m:t>
                            </m:r>
                          </m:den>
                        </m:f>
                        <m:d>
                          <m:dPr>
                            <m:ctrlPr>
                              <a:rPr lang="en-IN" sz="2400" i="1">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n-IN" sz="2400" i="1">
                                    <a:latin typeface="Cambria Math" panose="02040503050406030204" pitchFamily="18" charset="0"/>
                                    <a:ea typeface="Times New Roman" panose="02020603050405020304" pitchFamily="18" charset="0"/>
                                    <a:cs typeface="Times New Roman" panose="02020603050405020304" pitchFamily="18" charset="0"/>
                                  </a:rPr>
                                </m:ctrlPr>
                              </m:fPr>
                              <m:num>
                                <m:r>
                                  <a:rPr lang="en-IN" sz="2400" i="1">
                                    <a:latin typeface="Cambria Math" panose="02040503050406030204" pitchFamily="18" charset="0"/>
                                    <a:ea typeface="Times New Roman" panose="02020603050405020304" pitchFamily="18" charset="0"/>
                                    <a:cs typeface="Times New Roman" panose="02020603050405020304" pitchFamily="18" charset="0"/>
                                  </a:rPr>
                                  <m:t>1</m:t>
                                </m:r>
                              </m:num>
                              <m:den>
                                <m:sSub>
                                  <m:sSubPr>
                                    <m:ctrlPr>
                                      <a:rPr lang="en-IN"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en-IN" sz="2400" i="1">
                                        <a:latin typeface="Cambria Math" panose="02040503050406030204" pitchFamily="18" charset="0"/>
                                        <a:ea typeface="Times New Roman" panose="02020603050405020304" pitchFamily="18" charset="0"/>
                                        <a:cs typeface="Times New Roman" panose="02020603050405020304" pitchFamily="18" charset="0"/>
                                      </a:rPr>
                                      <m:t>𝑛</m:t>
                                    </m:r>
                                  </m:e>
                                  <m:sub>
                                    <m:r>
                                      <a:rPr lang="en-IN" sz="2400" i="1">
                                        <a:latin typeface="Cambria Math" panose="02040503050406030204" pitchFamily="18" charset="0"/>
                                        <a:ea typeface="Times New Roman" panose="02020603050405020304" pitchFamily="18" charset="0"/>
                                        <a:cs typeface="Times New Roman" panose="02020603050405020304" pitchFamily="18" charset="0"/>
                                      </a:rPr>
                                      <m:t>1</m:t>
                                    </m:r>
                                  </m:sub>
                                </m:sSub>
                              </m:den>
                            </m:f>
                            <m:r>
                              <a:rPr lang="en-IN" sz="2400" i="1">
                                <a:latin typeface="Cambria Math" panose="02040503050406030204" pitchFamily="18" charset="0"/>
                                <a:ea typeface="Times New Roman" panose="02020603050405020304" pitchFamily="18" charset="0"/>
                                <a:cs typeface="Times New Roman" panose="02020603050405020304" pitchFamily="18" charset="0"/>
                              </a:rPr>
                              <m:t>+</m:t>
                            </m:r>
                            <m:f>
                              <m:fPr>
                                <m:ctrlPr>
                                  <a:rPr lang="en-IN" sz="2400" i="1">
                                    <a:latin typeface="Cambria Math" panose="02040503050406030204" pitchFamily="18" charset="0"/>
                                    <a:ea typeface="Times New Roman" panose="02020603050405020304" pitchFamily="18" charset="0"/>
                                    <a:cs typeface="Times New Roman" panose="02020603050405020304" pitchFamily="18" charset="0"/>
                                  </a:rPr>
                                </m:ctrlPr>
                              </m:fPr>
                              <m:num>
                                <m:r>
                                  <a:rPr lang="en-IN" sz="2400" i="1">
                                    <a:latin typeface="Cambria Math" panose="02040503050406030204" pitchFamily="18" charset="0"/>
                                    <a:ea typeface="Times New Roman" panose="02020603050405020304" pitchFamily="18" charset="0"/>
                                    <a:cs typeface="Times New Roman" panose="02020603050405020304" pitchFamily="18" charset="0"/>
                                  </a:rPr>
                                  <m:t>1</m:t>
                                </m:r>
                              </m:num>
                              <m:den>
                                <m:sSub>
                                  <m:sSubPr>
                                    <m:ctrlPr>
                                      <a:rPr lang="en-IN" sz="2400" i="1">
                                        <a:latin typeface="Cambria Math" panose="02040503050406030204" pitchFamily="18" charset="0"/>
                                        <a:ea typeface="Times New Roman" panose="02020603050405020304" pitchFamily="18" charset="0"/>
                                        <a:cs typeface="Times New Roman" panose="02020603050405020304" pitchFamily="18" charset="0"/>
                                      </a:rPr>
                                    </m:ctrlPr>
                                  </m:sSubPr>
                                  <m:e>
                                    <m:r>
                                      <a:rPr lang="en-IN" sz="2400" i="1">
                                        <a:latin typeface="Cambria Math" panose="02040503050406030204" pitchFamily="18" charset="0"/>
                                        <a:ea typeface="Times New Roman" panose="02020603050405020304" pitchFamily="18" charset="0"/>
                                        <a:cs typeface="Times New Roman" panose="02020603050405020304" pitchFamily="18" charset="0"/>
                                      </a:rPr>
                                      <m:t>𝑛</m:t>
                                    </m:r>
                                  </m:e>
                                  <m:sub>
                                    <m:r>
                                      <a:rPr lang="en-IN" sz="2400" i="1">
                                        <a:latin typeface="Cambria Math" panose="02040503050406030204" pitchFamily="18" charset="0"/>
                                        <a:ea typeface="Times New Roman" panose="02020603050405020304" pitchFamily="18" charset="0"/>
                                        <a:cs typeface="Times New Roman" panose="02020603050405020304" pitchFamily="18" charset="0"/>
                                      </a:rPr>
                                      <m:t>2</m:t>
                                    </m:r>
                                  </m:sub>
                                </m:sSub>
                              </m:den>
                            </m:f>
                          </m:e>
                        </m:d>
                      </m:e>
                    </m:rad>
                    <m:r>
                      <a:rPr lang="en-IN" sz="2400" i="1">
                        <a:latin typeface="Cambria Math" panose="02040503050406030204" pitchFamily="18" charset="0"/>
                        <a:ea typeface="Times New Roman" panose="02020603050405020304" pitchFamily="18" charset="0"/>
                        <a:cs typeface="Times New Roman" panose="02020603050405020304" pitchFamily="18" charset="0"/>
                      </a:rPr>
                      <m:t>=4.6583</m:t>
                    </m:r>
                  </m:oMath>
                </a14:m>
                <a:endParaRPr lang="en-IN" sz="24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14:m>
                  <m:oMath xmlns:m="http://schemas.openxmlformats.org/officeDocument/2006/math">
                    <m:bar>
                      <m:barPr>
                        <m:pos m:val="top"/>
                        <m:ctrlPr>
                          <a:rPr lang="en-US" sz="2400" i="1">
                            <a:latin typeface="Cambria Math" panose="02040503050406030204" pitchFamily="18" charset="0"/>
                            <a:cs typeface="Times New Roman" panose="02020603050405020304" pitchFamily="18" charset="0"/>
                          </a:rPr>
                        </m:ctrlPr>
                      </m:barPr>
                      <m:e>
                        <m:r>
                          <a:rPr lang="en-US" sz="2400" i="1">
                            <a:latin typeface="Cambria Math" panose="02040503050406030204" pitchFamily="18" charset="0"/>
                            <a:cs typeface="Times New Roman" panose="02020603050405020304" pitchFamily="18" charset="0"/>
                          </a:rPr>
                          <m:t>𝑋</m:t>
                        </m:r>
                      </m:e>
                    </m:bar>
                  </m:oMath>
                </a14:m>
                <a:r>
                  <a:rPr lang="en-US" sz="1200"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=12, </a:t>
                </a:r>
                <a14:m>
                  <m:oMath xmlns:m="http://schemas.openxmlformats.org/officeDocument/2006/math">
                    <m:bar>
                      <m:barPr>
                        <m:pos m:val="top"/>
                        <m:ctrlPr>
                          <a:rPr lang="en-US" sz="2400" i="1">
                            <a:latin typeface="Cambria Math" panose="02040503050406030204" pitchFamily="18" charset="0"/>
                            <a:cs typeface="Times New Roman" panose="02020603050405020304" pitchFamily="18" charset="0"/>
                          </a:rPr>
                        </m:ctrlPr>
                      </m:barPr>
                      <m:e>
                        <m:r>
                          <a:rPr lang="en-US" sz="2400" i="1">
                            <a:latin typeface="Cambria Math" panose="02040503050406030204" pitchFamily="18" charset="0"/>
                            <a:cs typeface="Times New Roman" panose="02020603050405020304" pitchFamily="18" charset="0"/>
                          </a:rPr>
                          <m:t>𝑋</m:t>
                        </m:r>
                      </m:e>
                    </m:bar>
                  </m:oMath>
                </a14:m>
                <a:r>
                  <a:rPr lang="en-US" sz="12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 =15</a:t>
                </a:r>
              </a:p>
              <a:p>
                <a:pPr marL="0" indent="0">
                  <a:buNone/>
                </a:pPr>
                <a:r>
                  <a:rPr lang="en-IN" sz="2400" dirty="0">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r>
                      <a:rPr lang="en-IN" sz="2400" i="1">
                        <a:latin typeface="Cambria Math" panose="02040503050406030204" pitchFamily="18" charset="0"/>
                        <a:ea typeface="Times New Roman" panose="02020603050405020304" pitchFamily="18" charset="0"/>
                        <a:cs typeface="Times New Roman" panose="02020603050405020304" pitchFamily="18" charset="0"/>
                      </a:rPr>
                      <m:t>𝑡</m:t>
                    </m:r>
                    <m:r>
                      <a:rPr lang="en-IN" sz="2400" i="1">
                        <a:latin typeface="Cambria Math" panose="02040503050406030204" pitchFamily="18" charset="0"/>
                        <a:ea typeface="Times New Roman" panose="02020603050405020304" pitchFamily="18" charset="0"/>
                        <a:cs typeface="Times New Roman" panose="02020603050405020304" pitchFamily="18" charset="0"/>
                      </a:rPr>
                      <m:t>=</m:t>
                    </m:r>
                    <m:f>
                      <m:fPr>
                        <m:ctrlPr>
                          <a:rPr lang="en-IN" sz="2400" i="1">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lang="en-IN" sz="2400" i="1">
                                <a:latin typeface="Cambria Math" panose="02040503050406030204" pitchFamily="18" charset="0"/>
                                <a:ea typeface="Times New Roman" panose="02020603050405020304" pitchFamily="18" charset="0"/>
                                <a:cs typeface="Times New Roman" panose="02020603050405020304" pitchFamily="18" charset="0"/>
                              </a:rPr>
                            </m:ctrlPr>
                          </m:sSubPr>
                          <m:e>
                            <m:bar>
                              <m:barPr>
                                <m:pos m:val="top"/>
                                <m:ctrlPr>
                                  <a:rPr lang="en-IN" sz="2400" i="1">
                                    <a:latin typeface="Cambria Math" panose="02040503050406030204" pitchFamily="18" charset="0"/>
                                    <a:ea typeface="Times New Roman" panose="02020603050405020304" pitchFamily="18" charset="0"/>
                                    <a:cs typeface="Times New Roman" panose="02020603050405020304" pitchFamily="18" charset="0"/>
                                  </a:rPr>
                                </m:ctrlPr>
                              </m:barPr>
                              <m:e>
                                <m:r>
                                  <a:rPr lang="en-IN" sz="2400" i="1">
                                    <a:latin typeface="Cambria Math" panose="02040503050406030204" pitchFamily="18" charset="0"/>
                                    <a:ea typeface="Times New Roman" panose="02020603050405020304" pitchFamily="18" charset="0"/>
                                    <a:cs typeface="Times New Roman" panose="02020603050405020304" pitchFamily="18" charset="0"/>
                                  </a:rPr>
                                  <m:t>𝑋</m:t>
                                </m:r>
                              </m:e>
                            </m:bar>
                          </m:e>
                          <m:sub>
                            <m:r>
                              <a:rPr lang="en-IN" sz="2400" i="1">
                                <a:latin typeface="Cambria Math" panose="02040503050406030204" pitchFamily="18" charset="0"/>
                                <a:ea typeface="Times New Roman" panose="02020603050405020304" pitchFamily="18" charset="0"/>
                                <a:cs typeface="Times New Roman" panose="02020603050405020304" pitchFamily="18" charset="0"/>
                              </a:rPr>
                              <m:t>1</m:t>
                            </m:r>
                          </m:sub>
                        </m:sSub>
                        <m:r>
                          <a:rPr lang="en-IN" sz="2400" i="1">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IN" sz="2400" i="1">
                                <a:latin typeface="Cambria Math" panose="02040503050406030204" pitchFamily="18" charset="0"/>
                                <a:ea typeface="Times New Roman" panose="02020603050405020304" pitchFamily="18" charset="0"/>
                                <a:cs typeface="Times New Roman" panose="02020603050405020304" pitchFamily="18" charset="0"/>
                              </a:rPr>
                            </m:ctrlPr>
                          </m:sSubPr>
                          <m:e>
                            <m:bar>
                              <m:barPr>
                                <m:pos m:val="top"/>
                                <m:ctrlPr>
                                  <a:rPr lang="en-IN" sz="2400" i="1">
                                    <a:latin typeface="Cambria Math" panose="02040503050406030204" pitchFamily="18" charset="0"/>
                                    <a:ea typeface="Times New Roman" panose="02020603050405020304" pitchFamily="18" charset="0"/>
                                    <a:cs typeface="Times New Roman" panose="02020603050405020304" pitchFamily="18" charset="0"/>
                                  </a:rPr>
                                </m:ctrlPr>
                              </m:barPr>
                              <m:e>
                                <m:r>
                                  <a:rPr lang="en-IN" sz="2400" i="1">
                                    <a:latin typeface="Cambria Math" panose="02040503050406030204" pitchFamily="18" charset="0"/>
                                    <a:ea typeface="Times New Roman" panose="02020603050405020304" pitchFamily="18" charset="0"/>
                                    <a:cs typeface="Times New Roman" panose="02020603050405020304" pitchFamily="18" charset="0"/>
                                  </a:rPr>
                                  <m:t>𝑋</m:t>
                                </m:r>
                              </m:e>
                            </m:bar>
                          </m:e>
                          <m:sub>
                            <m:r>
                              <a:rPr lang="en-IN" sz="2400" i="1">
                                <a:latin typeface="Cambria Math" panose="02040503050406030204" pitchFamily="18" charset="0"/>
                                <a:ea typeface="Times New Roman" panose="02020603050405020304" pitchFamily="18" charset="0"/>
                                <a:cs typeface="Times New Roman" panose="02020603050405020304" pitchFamily="18" charset="0"/>
                              </a:rPr>
                              <m:t>2</m:t>
                            </m:r>
                          </m:sub>
                        </m:sSub>
                      </m:num>
                      <m:den>
                        <m:r>
                          <a:rPr lang="en-IN" sz="2400" i="1">
                            <a:latin typeface="Cambria Math" panose="02040503050406030204" pitchFamily="18" charset="0"/>
                            <a:ea typeface="Times New Roman" panose="02020603050405020304" pitchFamily="18" charset="0"/>
                            <a:cs typeface="Times New Roman" panose="02020603050405020304" pitchFamily="18" charset="0"/>
                          </a:rPr>
                          <m:t>𝑆𝐸</m:t>
                        </m:r>
                      </m:den>
                    </m:f>
                    <m:r>
                      <a:rPr lang="en-IN" sz="2400" i="1">
                        <a:latin typeface="Cambria Math" panose="02040503050406030204" pitchFamily="18" charset="0"/>
                        <a:ea typeface="Times New Roman" panose="02020603050405020304" pitchFamily="18" charset="0"/>
                        <a:cs typeface="Times New Roman" panose="02020603050405020304" pitchFamily="18" charset="0"/>
                      </a:rPr>
                      <m:t>=1.51</m:t>
                    </m:r>
                  </m:oMath>
                </a14:m>
                <a:endParaRPr lang="en-IN" sz="24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IN" sz="2400" i="1" dirty="0">
                    <a:latin typeface="Times New Roman" panose="02020603050405020304" pitchFamily="18" charset="0"/>
                    <a:ea typeface="Calibri" panose="020F0502020204030204" pitchFamily="34" charset="0"/>
                    <a:cs typeface="Times New Roman" panose="02020603050405020304" pitchFamily="18" charset="0"/>
                  </a:rPr>
                  <a:t>t &lt; </a:t>
                </a:r>
                <a:r>
                  <a:rPr lang="en-IN" sz="2400" i="1" dirty="0" err="1">
                    <a:latin typeface="Times New Roman" panose="02020603050405020304" pitchFamily="18" charset="0"/>
                    <a:ea typeface="Calibri" panose="020F0502020204030204" pitchFamily="34" charset="0"/>
                    <a:cs typeface="Times New Roman" panose="02020603050405020304" pitchFamily="18" charset="0"/>
                  </a:rPr>
                  <a:t>t</a:t>
                </a:r>
                <a:r>
                  <a:rPr lang="en-IN" sz="1400" i="1" dirty="0" err="1">
                    <a:latin typeface="Times New Roman" panose="02020603050405020304" pitchFamily="18" charset="0"/>
                    <a:ea typeface="Calibri" panose="020F0502020204030204" pitchFamily="34" charset="0"/>
                    <a:cs typeface="Times New Roman" panose="02020603050405020304" pitchFamily="18" charset="0"/>
                  </a:rPr>
                  <a:t>c</a:t>
                </a:r>
                <a:r>
                  <a:rPr lang="en-IN" sz="1400" i="1" dirty="0">
                    <a:latin typeface="Times New Roman" panose="02020603050405020304" pitchFamily="18" charset="0"/>
                    <a:ea typeface="Calibri" panose="020F0502020204030204" pitchFamily="34" charset="0"/>
                    <a:cs typeface="Times New Roman" panose="02020603050405020304" pitchFamily="18" charset="0"/>
                  </a:rPr>
                  <a:t> </a:t>
                </a:r>
                <a:r>
                  <a:rPr lang="en-IN" sz="2400" i="1" dirty="0">
                    <a:latin typeface="Times New Roman" panose="02020603050405020304" pitchFamily="18" charset="0"/>
                    <a:ea typeface="Calibri" panose="020F0502020204030204" pitchFamily="34" charset="0"/>
                    <a:cs typeface="Times New Roman" panose="02020603050405020304" pitchFamily="18" charset="0"/>
                  </a:rPr>
                  <a:t>  </a:t>
                </a:r>
                <a:r>
                  <a:rPr lang="en-IN" sz="2400" dirty="0">
                    <a:latin typeface="Times New Roman" panose="02020603050405020304" pitchFamily="18" charset="0"/>
                    <a:ea typeface="Calibri" panose="020F0502020204030204" pitchFamily="34" charset="0"/>
                    <a:cs typeface="Times New Roman" panose="02020603050405020304" pitchFamily="18" charset="0"/>
                  </a:rPr>
                  <a:t>Accept the H</a:t>
                </a:r>
                <a:r>
                  <a:rPr lang="en-IN" sz="1200" dirty="0">
                    <a:latin typeface="Times New Roman" panose="02020603050405020304" pitchFamily="18" charset="0"/>
                    <a:ea typeface="Calibri" panose="020F0502020204030204" pitchFamily="34" charset="0"/>
                    <a:cs typeface="Times New Roman" panose="02020603050405020304" pitchFamily="18" charset="0"/>
                  </a:rPr>
                  <a:t>0</a:t>
                </a:r>
                <a:endParaRPr lang="en-IN" sz="1200" i="1" dirty="0">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IN" sz="24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sz="1400" i="1"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mc:Choice>
        <mc:Fallback xmlns="">
          <p:sp>
            <p:nvSpPr>
              <p:cNvPr id="4" name="Text Placeholder 3"/>
              <p:cNvSpPr>
                <a:spLocks noGrp="1" noRot="1" noChangeAspect="1" noMove="1" noResize="1" noEditPoints="1" noAdjustHandles="1" noChangeArrowheads="1" noChangeShapeType="1" noTextEdit="1"/>
              </p:cNvSpPr>
              <p:nvPr>
                <p:ph type="body" sz="quarter" idx="13"/>
              </p:nvPr>
            </p:nvSpPr>
            <p:spPr>
              <a:xfrm>
                <a:off x="444500" y="1396785"/>
                <a:ext cx="6718300" cy="5100852"/>
              </a:xfrm>
              <a:blipFill>
                <a:blip r:embed="rId2"/>
                <a:stretch>
                  <a:fillRect l="-1633" t="-1195"/>
                </a:stretch>
              </a:blipFill>
            </p:spPr>
            <p:txBody>
              <a:bodyPr/>
              <a:lstStyle/>
              <a:p>
                <a:r>
                  <a:rPr lang="en-US">
                    <a:noFill/>
                  </a:rPr>
                  <a:t> </a:t>
                </a:r>
              </a:p>
            </p:txBody>
          </p:sp>
        </mc:Fallback>
      </mc:AlternateContent>
      <p:pic>
        <p:nvPicPr>
          <p:cNvPr id="6" name="Picture 5"/>
          <p:cNvPicPr>
            <a:picLocks noChangeAspect="1"/>
          </p:cNvPicPr>
          <p:nvPr/>
        </p:nvPicPr>
        <p:blipFill>
          <a:blip r:embed="rId3"/>
          <a:stretch>
            <a:fillRect/>
          </a:stretch>
        </p:blipFill>
        <p:spPr>
          <a:xfrm>
            <a:off x="6154615" y="1321934"/>
            <a:ext cx="5780206" cy="5175703"/>
          </a:xfrm>
          <a:prstGeom prst="rect">
            <a:avLst/>
          </a:prstGeom>
        </p:spPr>
      </p:pic>
    </p:spTree>
    <p:extLst>
      <p:ext uri="{BB962C8B-B14F-4D97-AF65-F5344CB8AC3E}">
        <p14:creationId xmlns:p14="http://schemas.microsoft.com/office/powerpoint/2010/main" val="34252609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References</a:t>
            </a:r>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34</a:t>
            </a:fld>
            <a:endParaRPr lang="en-US" noProof="0" dirty="0"/>
          </a:p>
        </p:txBody>
      </p:sp>
      <p:sp>
        <p:nvSpPr>
          <p:cNvPr id="4" name="Text Placeholder 3"/>
          <p:cNvSpPr>
            <a:spLocks noGrp="1"/>
          </p:cNvSpPr>
          <p:nvPr>
            <p:ph type="body" sz="quarter" idx="13"/>
          </p:nvPr>
        </p:nvSpPr>
        <p:spPr>
          <a:xfrm>
            <a:off x="444499" y="1625385"/>
            <a:ext cx="8664331" cy="4093243"/>
          </a:xfrm>
        </p:spPr>
        <p:txBody>
          <a:bodyPr/>
          <a:lstStyle/>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Ross, S. (2009). Probability and statistics for engineers and scientists. </a:t>
            </a:r>
            <a:r>
              <a:rPr lang="en-US" sz="2400" i="1" dirty="0">
                <a:latin typeface="Times New Roman" panose="02020603050405020304" pitchFamily="18" charset="0"/>
                <a:cs typeface="Times New Roman" panose="02020603050405020304" pitchFamily="18" charset="0"/>
              </a:rPr>
              <a:t>Elsevier, New Delhi</a:t>
            </a:r>
            <a:r>
              <a:rPr lang="en-US" sz="2400" dirty="0">
                <a:latin typeface="Times New Roman" panose="02020603050405020304" pitchFamily="18" charset="0"/>
                <a:cs typeface="Times New Roman" panose="02020603050405020304" pitchFamily="18" charset="0"/>
              </a:rPr>
              <a:t>, </a:t>
            </a:r>
            <a:r>
              <a:rPr lang="en-US" sz="2400" i="1" dirty="0">
                <a:latin typeface="Times New Roman" panose="02020603050405020304" pitchFamily="18" charset="0"/>
                <a:cs typeface="Times New Roman" panose="02020603050405020304" pitchFamily="18" charset="0"/>
              </a:rPr>
              <a:t>16</a:t>
            </a:r>
            <a:r>
              <a:rPr lang="en-US" sz="2400" dirty="0">
                <a:latin typeface="Times New Roman" panose="02020603050405020304" pitchFamily="18" charset="0"/>
                <a:cs typeface="Times New Roman" panose="02020603050405020304" pitchFamily="18" charset="0"/>
              </a:rPr>
              <a:t>, 32-33.</a:t>
            </a:r>
          </a:p>
        </p:txBody>
      </p:sp>
    </p:spTree>
    <p:extLst>
      <p:ext uri="{BB962C8B-B14F-4D97-AF65-F5344CB8AC3E}">
        <p14:creationId xmlns:p14="http://schemas.microsoft.com/office/powerpoint/2010/main" val="26258716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dirty="0"/>
              <a:t>Thank You </a:t>
            </a:r>
            <a:endParaRPr lang="en-GB" dirty="0"/>
          </a:p>
        </p:txBody>
      </p:sp>
    </p:spTree>
    <p:extLst>
      <p:ext uri="{BB962C8B-B14F-4D97-AF65-F5344CB8AC3E}">
        <p14:creationId xmlns:p14="http://schemas.microsoft.com/office/powerpoint/2010/main" val="44069682"/>
      </p:ext>
    </p:extLst>
  </p:cSld>
  <p:clrMapOvr>
    <a:masterClrMapping/>
  </p:clrMapOvr>
  <p:transition spd="slow">
    <p:wipe/>
  </p:transition>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62DE005F4EFEF4ABB122FA5CC3E42B3" ma:contentTypeVersion="4" ma:contentTypeDescription="Create a new document." ma:contentTypeScope="" ma:versionID="e138d9c9acd5a28633c3cb03c310d7df">
  <xsd:schema xmlns:xsd="http://www.w3.org/2001/XMLSchema" xmlns:xs="http://www.w3.org/2001/XMLSchema" xmlns:p="http://schemas.microsoft.com/office/2006/metadata/properties" xmlns:ns2="5d1431e1-d8bb-424a-8728-245b070c75c6" targetNamespace="http://schemas.microsoft.com/office/2006/metadata/properties" ma:root="true" ma:fieldsID="62b69a8eb5e0403e0c015daacdc41f15" ns2:_="">
    <xsd:import namespace="5d1431e1-d8bb-424a-8728-245b070c75c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d1431e1-d8bb-424a-8728-245b070c75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2.xml><?xml version="1.0" encoding="utf-8"?>
<ds:datastoreItem xmlns:ds="http://schemas.openxmlformats.org/officeDocument/2006/customXml" ds:itemID="{F5757914-1161-4661-9696-421FD6935CDD}">
  <ds:schemaRefs>
    <ds:schemaRef ds:uri="http://schemas.microsoft.com/office/infopath/2007/PartnerControls"/>
    <ds:schemaRef ds:uri="http://schemas.microsoft.com/office/2006/documentManagement/types"/>
    <ds:schemaRef ds:uri="http://schemas.microsoft.com/office/2006/metadata/properties"/>
    <ds:schemaRef ds:uri="http://purl.org/dc/elements/1.1/"/>
    <ds:schemaRef ds:uri="http://www.w3.org/XML/1998/namespace"/>
    <ds:schemaRef ds:uri="http://purl.org/dc/dcmitype/"/>
    <ds:schemaRef ds:uri="http://purl.org/dc/terms/"/>
    <ds:schemaRef ds:uri="http://schemas.openxmlformats.org/package/2006/metadata/core-properties"/>
    <ds:schemaRef ds:uri="16c05727-aa75-4e4a-9b5f-8a80a1165891"/>
    <ds:schemaRef ds:uri="71af3243-3dd4-4a8d-8c0d-dd76da1f02a5"/>
  </ds:schemaRefs>
</ds:datastoreItem>
</file>

<file path=customXml/itemProps3.xml><?xml version="1.0" encoding="utf-8"?>
<ds:datastoreItem xmlns:ds="http://schemas.openxmlformats.org/officeDocument/2006/customXml" ds:itemID="{41058C48-0B84-467B-8FB9-E5518E3D635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d1431e1-d8bb-424a-8728-245b070c75c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0</TotalTime>
  <Words>949</Words>
  <Application>Microsoft Office PowerPoint</Application>
  <PresentationFormat>Widescreen</PresentationFormat>
  <Paragraphs>277</Paragraphs>
  <Slides>35</Slides>
  <Notes>0</Notes>
  <HiddenSlides>0</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Office Theme</vt:lpstr>
      <vt:lpstr>ANOVA and T-test</vt:lpstr>
      <vt:lpstr>Contents</vt:lpstr>
      <vt:lpstr>Introduction</vt:lpstr>
      <vt:lpstr>F-Test</vt:lpstr>
      <vt:lpstr>PowerPoint Presentation</vt:lpstr>
      <vt:lpstr>ANOVA</vt:lpstr>
      <vt:lpstr>PowerPoint Presentation</vt:lpstr>
      <vt:lpstr>Variance</vt:lpstr>
      <vt:lpstr>Types of ANOVA</vt:lpstr>
      <vt:lpstr>Two Way ANOVA</vt:lpstr>
      <vt:lpstr>Steps</vt:lpstr>
      <vt:lpstr>Example</vt:lpstr>
      <vt:lpstr>Solution</vt:lpstr>
      <vt:lpstr>PowerPoint Presentation</vt:lpstr>
      <vt:lpstr>PowerPoint Presentation</vt:lpstr>
      <vt:lpstr>PowerPoint Presentation</vt:lpstr>
      <vt:lpstr>Example</vt:lpstr>
      <vt:lpstr>PowerPoint Presentation</vt:lpstr>
      <vt:lpstr>PowerPoint Presentation</vt:lpstr>
      <vt:lpstr>PowerPoint Presentation</vt:lpstr>
      <vt:lpstr>T-test</vt:lpstr>
      <vt:lpstr>One Sample T-test</vt:lpstr>
      <vt:lpstr>Independent Sample T-test</vt:lpstr>
      <vt:lpstr>Paired Sample T-test</vt:lpstr>
      <vt:lpstr>Critical t value</vt:lpstr>
      <vt:lpstr>Steps</vt:lpstr>
      <vt:lpstr>Example</vt:lpstr>
      <vt:lpstr>Solution</vt:lpstr>
      <vt:lpstr>Example</vt:lpstr>
      <vt:lpstr>Table</vt:lpstr>
      <vt:lpstr>Solution</vt:lpstr>
      <vt:lpstr>Example</vt:lpstr>
      <vt:lpstr>Solution</vt:lpstr>
      <vt:lpstr>References</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3</cp:revision>
  <dcterms:created xsi:type="dcterms:W3CDTF">2024-10-26T08:34:56Z</dcterms:created>
  <dcterms:modified xsi:type="dcterms:W3CDTF">2024-11-19T02:33:27Z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0x010100662DE005F4EFEF4ABB122FA5CC3E42B3</vt:lpwstr>
  </property>
</Properties>
</file>
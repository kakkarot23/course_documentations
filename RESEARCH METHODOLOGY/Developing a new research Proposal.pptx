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75" r:id="rId5"/>
    <p:sldId id="259" r:id="rId6"/>
    <p:sldId id="260" r:id="rId7"/>
    <p:sldId id="261" r:id="rId8"/>
    <p:sldId id="262" r:id="rId9"/>
    <p:sldId id="264" r:id="rId10"/>
    <p:sldId id="267" r:id="rId11"/>
    <p:sldId id="268" r:id="rId12"/>
    <p:sldId id="269" r:id="rId13"/>
    <p:sldId id="270" r:id="rId14"/>
    <p:sldId id="265" r:id="rId15"/>
    <p:sldId id="271" r:id="rId16"/>
    <p:sldId id="272" r:id="rId17"/>
    <p:sldId id="273" r:id="rId18"/>
    <p:sldId id="274" r:id="rId19"/>
    <p:sldId id="277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7" autoAdjust="0"/>
  </p:normalViewPr>
  <p:slideViewPr>
    <p:cSldViewPr snapToGrid="0">
      <p:cViewPr varScale="1">
        <p:scale>
          <a:sx n="84" d="100"/>
          <a:sy n="84" d="100"/>
        </p:scale>
        <p:origin x="629" y="77"/>
      </p:cViewPr>
      <p:guideLst/>
    </p:cSldViewPr>
  </p:slideViewPr>
  <p:outlineViewPr>
    <p:cViewPr>
      <p:scale>
        <a:sx n="33" d="100"/>
        <a:sy n="33" d="100"/>
      </p:scale>
      <p:origin x="0" y="-1356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74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508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534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30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41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8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933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596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6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45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11821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9544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7088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7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490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47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07B1E-5671-4953-BDCA-6C5FD1D03B13}" type="datetimeFigureOut">
              <a:rPr lang="en-IN" smtClean="0"/>
              <a:t>23-10-2024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92B4842-13FF-48C4-A3D9-CB9C92701F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811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791886"/>
            <a:ext cx="7766936" cy="1646302"/>
          </a:xfrm>
        </p:spPr>
        <p:txBody>
          <a:bodyPr/>
          <a:lstStyle/>
          <a:p>
            <a:pPr algn="ctr"/>
            <a:r>
              <a:rPr lang="en-IN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Developing A New Research Proposal 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745777"/>
            <a:ext cx="7766936" cy="1096899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By </a:t>
            </a:r>
            <a:r>
              <a:rPr lang="en-IN" dirty="0" err="1" smtClean="0"/>
              <a:t>Govindan</a:t>
            </a:r>
            <a:r>
              <a:rPr lang="en-IN" dirty="0" smtClean="0"/>
              <a:t> </a:t>
            </a:r>
            <a:r>
              <a:rPr lang="en-IN" dirty="0" err="1" smtClean="0"/>
              <a:t>Namboothiri</a:t>
            </a:r>
            <a:r>
              <a:rPr lang="en-IN" dirty="0" smtClean="0"/>
              <a:t> S</a:t>
            </a:r>
          </a:p>
          <a:p>
            <a:r>
              <a:rPr lang="en-IN" dirty="0" smtClean="0"/>
              <a:t>Department of Physics</a:t>
            </a:r>
          </a:p>
          <a:p>
            <a:r>
              <a:rPr lang="en-IN" dirty="0" smtClean="0"/>
              <a:t>AM.PS.R4PHY24004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728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Content</a:t>
            </a:r>
            <a:r>
              <a:rPr lang="en-IN" dirty="0" smtClean="0"/>
              <a:t> 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What is a research proposal?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Basic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How to pick a research problem?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Defining the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Research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Different research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smtClean="0"/>
              <a:t>Basic components in detail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 smtClean="0"/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2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research proposal?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371600"/>
            <a:ext cx="8596668" cy="5321807"/>
          </a:xfrm>
        </p:spPr>
        <p:txBody>
          <a:bodyPr numCol="1">
            <a:normAutofit fontScale="5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N" sz="5000" dirty="0" smtClean="0"/>
              <a:t>A </a:t>
            </a:r>
            <a:r>
              <a:rPr lang="en-IN" sz="5000" dirty="0"/>
              <a:t>research proposal is a persuasive piece of writing that demonstrates the </a:t>
            </a:r>
            <a:r>
              <a:rPr lang="en-IN" sz="5000" dirty="0" smtClean="0"/>
              <a:t>quality </a:t>
            </a:r>
            <a:r>
              <a:rPr lang="en-IN" sz="5000" dirty="0"/>
              <a:t>and importance of the project, as well as the ability to conduct the research. The goal is to convince the reader to support the work, whether that’s a supervisor, funding provider, or a journal editor</a:t>
            </a:r>
            <a:r>
              <a:rPr lang="en-IN" sz="5000" dirty="0" smtClean="0"/>
              <a:t>.</a:t>
            </a:r>
          </a:p>
          <a:p>
            <a:endParaRPr lang="en-IN" dirty="0" smtClean="0"/>
          </a:p>
          <a:p>
            <a:pPr marL="0" indent="0" algn="just">
              <a:buNone/>
            </a:pPr>
            <a:r>
              <a:rPr lang="en-IN" dirty="0" smtClean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09858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Basic Components   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Title 				    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Abstract				   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Introduction			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Review of literature		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Aim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Objective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/>
              <a:t>Hypothesis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Methodology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Time and Expense</a:t>
            </a:r>
            <a:endParaRPr lang="en-IN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Bibliographic References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400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How to pick a research problem?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802" y="1621093"/>
            <a:ext cx="8596668" cy="4990019"/>
          </a:xfrm>
        </p:spPr>
        <p:txBody>
          <a:bodyPr>
            <a:normAutofit/>
          </a:bodyPr>
          <a:lstStyle/>
          <a:p>
            <a:r>
              <a:rPr lang="en-IN" sz="2400" dirty="0" smtClean="0"/>
              <a:t> First and foremost, a guide will pick up a research problem for the researcher. </a:t>
            </a:r>
          </a:p>
          <a:p>
            <a:r>
              <a:rPr lang="en-IN" sz="2400" dirty="0"/>
              <a:t> S</a:t>
            </a:r>
            <a:r>
              <a:rPr lang="en-IN" sz="2400" dirty="0" smtClean="0"/>
              <a:t>ubject which is overdone should not be normally chosen</a:t>
            </a:r>
          </a:p>
          <a:p>
            <a:r>
              <a:rPr lang="en-IN" sz="2400" dirty="0" smtClean="0"/>
              <a:t>Controversial subject should not become the choice of an average researchers.</a:t>
            </a:r>
          </a:p>
          <a:p>
            <a:r>
              <a:rPr lang="en-IN" sz="2400" dirty="0" smtClean="0"/>
              <a:t>Too narrow or too vague problems should be avoided.</a:t>
            </a:r>
          </a:p>
          <a:p>
            <a:r>
              <a:rPr lang="en-IN" sz="2400" dirty="0" smtClean="0"/>
              <a:t>The subject selected for the research should be familiar and feasible so that the related research material or sources of research within one’s reach.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311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Defining the problem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Defining a problem involves the task of laying down the boundaries within which a researcher shall study the problem with a pre-determined objective view. </a:t>
            </a:r>
          </a:p>
          <a:p>
            <a:r>
              <a:rPr lang="en-IN" sz="2000" dirty="0" smtClean="0"/>
              <a:t>Systematic way of defining the problem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 Statement of the problem in a general way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Understanding the nature of the problem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Surveying the available literature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Developing the ideas through discussions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dirty="0" smtClean="0"/>
              <a:t>Rephrasing the research problem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5153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Research Design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0201"/>
            <a:ext cx="8596668" cy="4441162"/>
          </a:xfrm>
        </p:spPr>
        <p:txBody>
          <a:bodyPr/>
          <a:lstStyle/>
          <a:p>
            <a:r>
              <a:rPr lang="en-IN" sz="2000" dirty="0" smtClean="0"/>
              <a:t>A research design is the arrangement of conditions for collecting and analysing of data in a manner that aims to combine relevance to the research purpose with economy in procedure.</a:t>
            </a:r>
          </a:p>
          <a:p>
            <a:r>
              <a:rPr lang="en-IN" sz="2000" dirty="0" smtClean="0"/>
              <a:t>Based on the design decisions, research design can be split into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The sampling design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The observational design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The statistical design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000" dirty="0" smtClean="0"/>
              <a:t>The operational design </a:t>
            </a:r>
          </a:p>
          <a:p>
            <a:pPr marL="0" indent="0">
              <a:buNone/>
            </a:pPr>
            <a:r>
              <a:rPr lang="en-IN" sz="2000" dirty="0"/>
              <a:t> </a:t>
            </a:r>
            <a:endParaRPr lang="en-IN" sz="2000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1467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Different Research design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smtClean="0"/>
              <a:t>Research design in case of exploratory research studies.</a:t>
            </a:r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400" dirty="0" smtClean="0"/>
              <a:t>Research design in case of descriptive and diagnostic research studies.</a:t>
            </a:r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400" dirty="0" smtClean="0"/>
              <a:t>Research design in case of hypotheses-testing research studies</a:t>
            </a:r>
          </a:p>
          <a:p>
            <a:endParaRPr lang="en-IN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867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1" r="3801"/>
          <a:stretch>
            <a:fillRect/>
          </a:stretch>
        </p:blipFill>
        <p:spPr>
          <a:xfrm>
            <a:off x="677863" y="609600"/>
            <a:ext cx="8596312" cy="475773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 smtClean="0"/>
              <a:t>from research methodology methods and techniques C.R Kothari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87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Title of The Research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 </a:t>
            </a:r>
          </a:p>
          <a:p>
            <a:r>
              <a:rPr lang="en-IN" sz="2400" dirty="0" smtClean="0"/>
              <a:t>It should be concise, descriptive, informative and catchy.</a:t>
            </a:r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400" dirty="0" smtClean="0"/>
              <a:t>Clearly indicate the independent and dependent variable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endParaRPr lang="en-IN" sz="2400" dirty="0" smtClean="0"/>
          </a:p>
          <a:p>
            <a:r>
              <a:rPr lang="en-IN" sz="2400" dirty="0" smtClean="0"/>
              <a:t>It is important to specify what population or universe will be investigated 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0134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Abstract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It should be a brief summary 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endParaRPr lang="en-IN" sz="2400" dirty="0" smtClean="0"/>
          </a:p>
          <a:p>
            <a:r>
              <a:rPr lang="en-IN" sz="2400" dirty="0" smtClean="0"/>
              <a:t>It should summarize all the important elements of the entire research proposal. Like objectives, methods, time frame etc..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900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Review of literature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This section includes what is already known about the topic.</a:t>
            </a:r>
          </a:p>
          <a:p>
            <a:pPr marL="0" indent="0">
              <a:buNone/>
            </a:pPr>
            <a:endParaRPr lang="en-IN" sz="2400" dirty="0" smtClean="0"/>
          </a:p>
          <a:p>
            <a:r>
              <a:rPr lang="en-IN" sz="2400" dirty="0" smtClean="0"/>
              <a:t>No need to include all the previous studies. Only most relevant and important has to keep.</a:t>
            </a:r>
          </a:p>
          <a:p>
            <a:endParaRPr lang="en-IN" sz="2400" dirty="0" smtClean="0"/>
          </a:p>
          <a:p>
            <a:r>
              <a:rPr lang="en-IN" sz="2400" dirty="0"/>
              <a:t> </a:t>
            </a:r>
            <a:r>
              <a:rPr lang="en-IN" sz="2400" dirty="0" smtClean="0"/>
              <a:t>Review of the literature </a:t>
            </a:r>
            <a:r>
              <a:rPr lang="en-IN" sz="2400" dirty="0" smtClean="0"/>
              <a:t>are </a:t>
            </a:r>
            <a:r>
              <a:rPr lang="en-IN" sz="2400" dirty="0" smtClean="0"/>
              <a:t>simply to understand the current phase of topic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4861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Aim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 smtClean="0"/>
              <a:t>Aim is simply what is our final goal on this particular project</a:t>
            </a:r>
          </a:p>
          <a:p>
            <a:pPr marL="0" indent="0">
              <a:buNone/>
            </a:pPr>
            <a:r>
              <a:rPr lang="en-IN" sz="2400" dirty="0" smtClean="0"/>
              <a:t> </a:t>
            </a:r>
          </a:p>
          <a:p>
            <a:r>
              <a:rPr lang="en-IN" sz="2400" dirty="0" smtClean="0"/>
              <a:t>It  could be an experimental result, a new mathematical formalism, etc.. </a:t>
            </a:r>
          </a:p>
          <a:p>
            <a:pPr marL="0" indent="0">
              <a:buNone/>
            </a:pPr>
            <a:r>
              <a:rPr lang="en-IN" sz="2400" dirty="0" smtClean="0"/>
              <a:t> </a:t>
            </a:r>
          </a:p>
          <a:p>
            <a:r>
              <a:rPr lang="en-IN" sz="2400" dirty="0" smtClean="0"/>
              <a:t>An aim is generally broad.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082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Objectives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000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The objectives are the specific steps you will take to achieve your aim.</a:t>
            </a:r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>
              <a:lnSpc>
                <a:spcPct val="90000"/>
              </a:lnSpc>
              <a:defRPr/>
            </a:pPr>
            <a:r>
              <a:rPr lang="en-US" sz="2000" dirty="0" smtClean="0">
                <a:solidFill>
                  <a:schemeClr val="tx1"/>
                </a:solidFill>
                <a:latin typeface="+mj-lt"/>
                <a:cs typeface="Times New Roman" pitchFamily="18" charset="0"/>
              </a:rPr>
              <a:t>The </a:t>
            </a:r>
            <a:r>
              <a:rPr lang="en-US" sz="20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objective stated should be  specific, achievable and measurable</a:t>
            </a: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Too many objectives to be avoided</a:t>
            </a:r>
          </a:p>
          <a:p>
            <a:pPr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Even just one clearly stated relevant objective for a study would be good enough </a:t>
            </a:r>
          </a:p>
          <a:p>
            <a:pPr>
              <a:lnSpc>
                <a:spcPct val="90000"/>
              </a:lnSpc>
              <a:defRPr/>
            </a:pPr>
            <a:r>
              <a:rPr lang="en-US" sz="20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If there is more than one objective the objectives can be presented in  the appropriate order of importance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81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Hypotheses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A supposition or proposed explanation made on the basis of limited evidence as a starting point for further investigation.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endParaRPr lang="en-IN" sz="2400" dirty="0" smtClean="0"/>
          </a:p>
          <a:p>
            <a:r>
              <a:rPr lang="en-IN" sz="2400" dirty="0" smtClean="0"/>
              <a:t>Any Hypotheses has to be experimentally/observationally proven in order to become a theory or fact.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16335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Methodology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/>
              <a:t>Methodology explains the procedures that will be used to achieve the objectives </a:t>
            </a:r>
          </a:p>
          <a:p>
            <a:pPr marL="0" indent="0">
              <a:buNone/>
            </a:pPr>
            <a:r>
              <a:rPr lang="en-IN" sz="2000" dirty="0" smtClean="0"/>
              <a:t> </a:t>
            </a:r>
          </a:p>
          <a:p>
            <a:r>
              <a:rPr lang="en-IN" sz="2000" dirty="0" smtClean="0"/>
              <a:t>Determine which method is used for </a:t>
            </a:r>
          </a:p>
          <a:p>
            <a:pPr marL="0" indent="0">
              <a:buNone/>
            </a:pPr>
            <a:r>
              <a:rPr lang="en-IN" sz="2000" dirty="0" smtClean="0"/>
              <a:t>            Data collection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 smtClean="0"/>
              <a:t>	Data analysis</a:t>
            </a:r>
          </a:p>
          <a:p>
            <a:pPr marL="0" indent="0">
              <a:buNone/>
            </a:pPr>
            <a:r>
              <a:rPr lang="en-IN" sz="2000" dirty="0"/>
              <a:t>	</a:t>
            </a:r>
            <a:r>
              <a:rPr lang="en-IN" sz="2000" dirty="0" smtClean="0"/>
              <a:t>	Interpretation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271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Time and Expense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The total time you have to spend on the project, including time for project management, preparation of conference papers, writing reports and so..</a:t>
            </a:r>
          </a:p>
          <a:p>
            <a:r>
              <a:rPr lang="en-IN" sz="2000" dirty="0" smtClean="0"/>
              <a:t>The expense includes cost of resource, salaries, materials etc..</a:t>
            </a:r>
          </a:p>
          <a:p>
            <a:r>
              <a:rPr lang="en-IN" sz="2000" dirty="0"/>
              <a:t>C</a:t>
            </a:r>
            <a:r>
              <a:rPr lang="en-IN" sz="2000" dirty="0" smtClean="0"/>
              <a:t>ontingency budget of 10-20% for unexpected expenses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7911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Bibliographic references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 smtClean="0"/>
              <a:t>Provide the reader about the source of data </a:t>
            </a:r>
          </a:p>
          <a:p>
            <a:pPr marL="0" indent="0">
              <a:buNone/>
            </a:pPr>
            <a:endParaRPr lang="en-IN" sz="2000" dirty="0" smtClean="0"/>
          </a:p>
          <a:p>
            <a:r>
              <a:rPr lang="en-IN" sz="2000" dirty="0" smtClean="0"/>
              <a:t>Follow the proper referencing guidelines as directed by the research approval authorities</a:t>
            </a:r>
            <a:r>
              <a:rPr lang="en-IN" dirty="0" smtClean="0"/>
              <a:t>. 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b="1" dirty="0" smtClean="0"/>
              <a:t>		Institutional </a:t>
            </a:r>
            <a:r>
              <a:rPr lang="en-IN" b="1" dirty="0"/>
              <a:t>Review Boards (IRBs</a:t>
            </a:r>
            <a:r>
              <a:rPr lang="en-IN" b="1" dirty="0" smtClean="0"/>
              <a:t>)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	</a:t>
            </a:r>
            <a:r>
              <a:rPr lang="en-IN" b="1" dirty="0"/>
              <a:t>Research Ethics Committees (RECs</a:t>
            </a:r>
            <a:r>
              <a:rPr lang="en-IN" b="1" dirty="0" smtClean="0"/>
              <a:t>)</a:t>
            </a:r>
          </a:p>
          <a:p>
            <a:pPr marL="0" indent="0">
              <a:buNone/>
            </a:pPr>
            <a:r>
              <a:rPr lang="en-IN" b="1" dirty="0"/>
              <a:t>	</a:t>
            </a:r>
            <a:r>
              <a:rPr lang="en-IN" b="1" dirty="0" smtClean="0"/>
              <a:t>	</a:t>
            </a:r>
            <a:r>
              <a:rPr lang="en-IN" b="1" dirty="0"/>
              <a:t>Central Drugs Standard Control Organization (CDSCO)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449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972" y="1321105"/>
            <a:ext cx="8596668" cy="2595460"/>
          </a:xfrm>
        </p:spPr>
        <p:txBody>
          <a:bodyPr>
            <a:normAutofit/>
          </a:bodyPr>
          <a:lstStyle/>
          <a:p>
            <a:r>
              <a:rPr lang="en-IN" sz="7200" dirty="0" smtClean="0"/>
              <a:t>Thank you 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12288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dirty="0" smtClean="0"/>
              <a:t>Research Methodology Methods and Techniques by </a:t>
            </a:r>
            <a:r>
              <a:rPr lang="en-IN" sz="2000" dirty="0" err="1" smtClean="0"/>
              <a:t>C.R.Kothari</a:t>
            </a:r>
            <a:endParaRPr lang="en-IN" sz="2000" dirty="0" smtClean="0"/>
          </a:p>
          <a:p>
            <a:r>
              <a:rPr lang="en-IN" sz="2000" dirty="0" smtClean="0"/>
              <a:t>Google search (</a:t>
            </a:r>
            <a:r>
              <a:rPr lang="en-IN" sz="2000" dirty="0" err="1" smtClean="0"/>
              <a:t>ChatGPT</a:t>
            </a:r>
            <a:r>
              <a:rPr lang="en-IN" sz="2000" dirty="0" smtClean="0"/>
              <a:t>, </a:t>
            </a:r>
            <a:r>
              <a:rPr lang="en-IN" sz="2000" dirty="0" err="1" smtClean="0"/>
              <a:t>Chatboat</a:t>
            </a:r>
            <a:r>
              <a:rPr lang="en-IN" sz="2000" dirty="0" smtClean="0"/>
              <a:t>..)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31804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2DE005F4EFEF4ABB122FA5CC3E42B3" ma:contentTypeVersion="4" ma:contentTypeDescription="Create a new document." ma:contentTypeScope="" ma:versionID="e138d9c9acd5a28633c3cb03c310d7df">
  <xsd:schema xmlns:xsd="http://www.w3.org/2001/XMLSchema" xmlns:xs="http://www.w3.org/2001/XMLSchema" xmlns:p="http://schemas.microsoft.com/office/2006/metadata/properties" xmlns:ns2="5d1431e1-d8bb-424a-8728-245b070c75c6" targetNamespace="http://schemas.microsoft.com/office/2006/metadata/properties" ma:root="true" ma:fieldsID="62b69a8eb5e0403e0c015daacdc41f15" ns2:_="">
    <xsd:import namespace="5d1431e1-d8bb-424a-8728-245b070c75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431e1-d8bb-424a-8728-245b070c75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3B036D5-504F-4ADF-A6BE-1A2166C18BD1}"/>
</file>

<file path=customXml/itemProps2.xml><?xml version="1.0" encoding="utf-8"?>
<ds:datastoreItem xmlns:ds="http://schemas.openxmlformats.org/officeDocument/2006/customXml" ds:itemID="{5FB28A1E-2BD2-4362-97B2-9C32C10FEDB0}"/>
</file>

<file path=customXml/itemProps3.xml><?xml version="1.0" encoding="utf-8"?>
<ds:datastoreItem xmlns:ds="http://schemas.openxmlformats.org/officeDocument/2006/customXml" ds:itemID="{E15F4D90-C48C-4C0A-9FC0-0BDA1CB111C4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967</TotalTime>
  <Words>706</Words>
  <Application>Microsoft Office PowerPoint</Application>
  <PresentationFormat>Widescreen</PresentationFormat>
  <Paragraphs>112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Times New Roman</vt:lpstr>
      <vt:lpstr>Trebuchet MS</vt:lpstr>
      <vt:lpstr>Wingdings</vt:lpstr>
      <vt:lpstr>Wingdings 3</vt:lpstr>
      <vt:lpstr>Facet</vt:lpstr>
      <vt:lpstr>Developing A New Research Proposal </vt:lpstr>
      <vt:lpstr>Content  </vt:lpstr>
      <vt:lpstr>What is a research proposal? </vt:lpstr>
      <vt:lpstr>Basic Components    </vt:lpstr>
      <vt:lpstr>How to pick a research problem?</vt:lpstr>
      <vt:lpstr>Defining the problem</vt:lpstr>
      <vt:lpstr>Research Design </vt:lpstr>
      <vt:lpstr>Different Research design</vt:lpstr>
      <vt:lpstr>PowerPoint Presentation</vt:lpstr>
      <vt:lpstr>Title of The Research</vt:lpstr>
      <vt:lpstr>Abstract</vt:lpstr>
      <vt:lpstr>Review of literature</vt:lpstr>
      <vt:lpstr>Aim</vt:lpstr>
      <vt:lpstr>Objectives </vt:lpstr>
      <vt:lpstr>Hypotheses </vt:lpstr>
      <vt:lpstr>Methodology</vt:lpstr>
      <vt:lpstr>Time and Expense</vt:lpstr>
      <vt:lpstr>Bibliographic references</vt:lpstr>
      <vt:lpstr>Thank you </vt:lpstr>
      <vt:lpstr>Reference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New Research Proposal </dc:title>
  <dc:creator>Microsoft account</dc:creator>
  <cp:lastModifiedBy>Microsoft account</cp:lastModifiedBy>
  <cp:revision>59</cp:revision>
  <dcterms:created xsi:type="dcterms:W3CDTF">2024-10-20T14:37:17Z</dcterms:created>
  <dcterms:modified xsi:type="dcterms:W3CDTF">2024-10-23T02:25:57Z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0x010100662DE005F4EFEF4ABB122FA5CC3E42B3</vt:lpwstr>
  </property>
</Properties>
</file>
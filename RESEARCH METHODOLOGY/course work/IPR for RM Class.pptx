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2" r:id="rId3"/>
    <p:sldId id="260" r:id="rId4"/>
    <p:sldId id="257" r:id="rId5"/>
    <p:sldId id="287" r:id="rId6"/>
    <p:sldId id="288" r:id="rId7"/>
    <p:sldId id="290" r:id="rId8"/>
    <p:sldId id="295" r:id="rId9"/>
    <p:sldId id="291" r:id="rId10"/>
    <p:sldId id="283" r:id="rId11"/>
    <p:sldId id="267" r:id="rId12"/>
    <p:sldId id="289" r:id="rId13"/>
    <p:sldId id="292" r:id="rId14"/>
    <p:sldId id="263" r:id="rId15"/>
    <p:sldId id="271" r:id="rId16"/>
    <p:sldId id="293" r:id="rId17"/>
    <p:sldId id="261" r:id="rId18"/>
    <p:sldId id="284" r:id="rId19"/>
    <p:sldId id="296" r:id="rId20"/>
    <p:sldId id="297" r:id="rId21"/>
    <p:sldId id="270" r:id="rId22"/>
    <p:sldId id="300" r:id="rId23"/>
    <p:sldId id="302" r:id="rId24"/>
    <p:sldId id="298" r:id="rId25"/>
    <p:sldId id="294" r:id="rId26"/>
    <p:sldId id="301" r:id="rId27"/>
    <p:sldId id="286" r:id="rId28"/>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9B954D"/>
    <a:srgbClr val="4C0000"/>
    <a:srgbClr val="F9AB6B"/>
    <a:srgbClr val="593B2A"/>
    <a:srgbClr val="593B52"/>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48CAF9-18B9-4F0F-89D2-8B6ACC6426E2}" type="datetimeFigureOut">
              <a:rPr lang="en-IN" smtClean="0"/>
              <a:pPr/>
              <a:t>10/16/2012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5C2090-157B-4977-A17A-766EA7009B56}"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7</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11</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12</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13</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21</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22</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24</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25</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CB5C2090-157B-4977-A17A-766EA7009B56}" type="slidenum">
              <a:rPr lang="en-IN" smtClean="0"/>
              <a:pPr/>
              <a:t>26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F7418E21-01BE-420A-85EC-2751F6AE3827}" type="datetime1">
              <a:rPr lang="en-IN" smtClean="0"/>
              <a:pPr>
                <a:defRPr/>
              </a:pPr>
              <a:t>10/16/2012</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14DEDCAF-836C-4C56-8066-90DEE0DCB67C}" type="slidenum">
              <a:rPr lang="fr-FR"/>
              <a:pPr>
                <a:defRPr/>
              </a:pP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238D50DA-DD13-4AE7-BDFF-625FAE2E9066}" type="datetime1">
              <a:rPr lang="en-IN" smtClean="0"/>
              <a:pPr>
                <a:defRPr/>
              </a:pPr>
              <a:t>10/16/2012</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D7E06C30-71D3-457B-A8D9-545BE19DB6E8}" type="slidenum">
              <a:rPr lang="fr-FR"/>
              <a:pPr>
                <a:defRPr/>
              </a:pP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08DD1163-E8A7-4D2B-AC95-4222CE7CB20D}" type="datetime1">
              <a:rPr lang="en-IN" smtClean="0"/>
              <a:pPr>
                <a:defRPr/>
              </a:pPr>
              <a:t>10/16/2012</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58CA6E14-6BEC-4800-BE34-7F3F23E1509B}" type="slidenum">
              <a:rPr lang="fr-FR"/>
              <a:pPr>
                <a:defRPr/>
              </a:pPr>
              <a:t>‹#›</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C37C405B-05CC-485B-A6F9-DC6EF5FE3BD6}" type="datetime1">
              <a:rPr lang="en-IN" smtClean="0"/>
              <a:pPr>
                <a:defRPr/>
              </a:pPr>
              <a:t>10/16/2012</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E305A66C-23DE-48C2-8FBD-85E4531CB3A6}" type="slidenum">
              <a:rPr lang="fr-FR"/>
              <a:pPr>
                <a:defRPr/>
              </a:pPr>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458DCF9E-01E5-4686-8300-E174084B3C3F}" type="datetime1">
              <a:rPr lang="en-IN" smtClean="0"/>
              <a:pPr>
                <a:defRPr/>
              </a:pPr>
              <a:t>10/16/2012</a:t>
            </a:fld>
            <a:endParaRPr lang="fr-FR"/>
          </a:p>
        </p:txBody>
      </p:sp>
      <p:sp>
        <p:nvSpPr>
          <p:cNvPr id="8" name="Espace réservé du pied de page 4"/>
          <p:cNvSpPr>
            <a:spLocks noGrp="1"/>
          </p:cNvSpPr>
          <p:nvPr>
            <p:ph type="ftr" sz="quarter" idx="11"/>
          </p:nvPr>
        </p:nvSpPr>
        <p:spPr/>
        <p:txBody>
          <a:bodyPr/>
          <a:lstStyle>
            <a:lvl1pPr>
              <a:defRPr/>
            </a:lvl1pPr>
          </a:lstStyle>
          <a:p>
            <a:pPr>
              <a:defRPr/>
            </a:pPr>
            <a:endParaRPr lang="fr-FR"/>
          </a:p>
        </p:txBody>
      </p:sp>
      <p:sp>
        <p:nvSpPr>
          <p:cNvPr id="9" name="Espace réservé du numéro de diapositive 5"/>
          <p:cNvSpPr>
            <a:spLocks noGrp="1"/>
          </p:cNvSpPr>
          <p:nvPr>
            <p:ph type="sldNum" sz="quarter" idx="12"/>
          </p:nvPr>
        </p:nvSpPr>
        <p:spPr/>
        <p:txBody>
          <a:bodyPr/>
          <a:lstStyle>
            <a:lvl1pPr>
              <a:defRPr/>
            </a:lvl1pPr>
          </a:lstStyle>
          <a:p>
            <a:pPr>
              <a:defRPr/>
            </a:pPr>
            <a:fld id="{7D8DBC28-F07E-4DCB-ABB2-3CCFE3C07CE0}" type="slidenum">
              <a:rPr lang="fr-FR"/>
              <a:pPr>
                <a:defRPr/>
              </a:pPr>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8170CBAC-2106-4C30-804C-EC0D278E5C4C}" type="datetime1">
              <a:rPr lang="en-IN" smtClean="0"/>
              <a:pPr>
                <a:defRPr/>
              </a:pPr>
              <a:t>10/16/2012</a:t>
            </a:fld>
            <a:endParaRPr lang="fr-FR"/>
          </a:p>
        </p:txBody>
      </p:sp>
      <p:sp>
        <p:nvSpPr>
          <p:cNvPr id="4" name="Espace réservé du pied de page 4"/>
          <p:cNvSpPr>
            <a:spLocks noGrp="1"/>
          </p:cNvSpPr>
          <p:nvPr>
            <p:ph type="ftr" sz="quarter" idx="11"/>
          </p:nvPr>
        </p:nvSpPr>
        <p:spPr/>
        <p:txBody>
          <a:bodyPr/>
          <a:lstStyle>
            <a:lvl1pPr>
              <a:defRPr/>
            </a:lvl1pPr>
          </a:lstStyle>
          <a:p>
            <a:pPr>
              <a:defRPr/>
            </a:pPr>
            <a:endParaRPr lang="fr-FR"/>
          </a:p>
        </p:txBody>
      </p:sp>
      <p:sp>
        <p:nvSpPr>
          <p:cNvPr id="5" name="Espace réservé du numéro de diapositive 5"/>
          <p:cNvSpPr>
            <a:spLocks noGrp="1"/>
          </p:cNvSpPr>
          <p:nvPr>
            <p:ph type="sldNum" sz="quarter" idx="12"/>
          </p:nvPr>
        </p:nvSpPr>
        <p:spPr/>
        <p:txBody>
          <a:bodyPr/>
          <a:lstStyle>
            <a:lvl1pPr>
              <a:defRPr/>
            </a:lvl1pPr>
          </a:lstStyle>
          <a:p>
            <a:pPr>
              <a:defRPr/>
            </a:pPr>
            <a:fld id="{ABA4E86F-994D-4F12-9D3B-78D590EE7BF6}" type="slidenum">
              <a:rPr lang="fr-FR"/>
              <a:pPr>
                <a:defRPr/>
              </a:pPr>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DFEDD8AE-EBBF-45A0-B10F-CB7212E68D8A}" type="datetime1">
              <a:rPr lang="en-IN" smtClean="0"/>
              <a:pPr>
                <a:defRPr/>
              </a:pPr>
              <a:t>10/16/2012</a:t>
            </a:fld>
            <a:endParaRPr lang="fr-FR"/>
          </a:p>
        </p:txBody>
      </p:sp>
      <p:sp>
        <p:nvSpPr>
          <p:cNvPr id="3" name="Espace réservé du pied de page 4"/>
          <p:cNvSpPr>
            <a:spLocks noGrp="1"/>
          </p:cNvSpPr>
          <p:nvPr>
            <p:ph type="ftr" sz="quarter" idx="11"/>
          </p:nvPr>
        </p:nvSpPr>
        <p:spPr/>
        <p:txBody>
          <a:bodyPr/>
          <a:lstStyle>
            <a:lvl1pPr>
              <a:defRPr/>
            </a:lvl1pPr>
          </a:lstStyle>
          <a:p>
            <a:pPr>
              <a:defRPr/>
            </a:pPr>
            <a:endParaRPr lang="fr-FR"/>
          </a:p>
        </p:txBody>
      </p:sp>
      <p:sp>
        <p:nvSpPr>
          <p:cNvPr id="4" name="Espace réservé du numéro de diapositive 5"/>
          <p:cNvSpPr>
            <a:spLocks noGrp="1"/>
          </p:cNvSpPr>
          <p:nvPr>
            <p:ph type="sldNum" sz="quarter" idx="12"/>
          </p:nvPr>
        </p:nvSpPr>
        <p:spPr/>
        <p:txBody>
          <a:bodyPr/>
          <a:lstStyle>
            <a:lvl1pPr>
              <a:defRPr/>
            </a:lvl1pPr>
          </a:lstStyle>
          <a:p>
            <a:pPr>
              <a:defRPr/>
            </a:pPr>
            <a:fld id="{79AB3C7F-1399-425B-A461-69AF9B44F9E9}" type="slidenum">
              <a:rPr lang="fr-FR"/>
              <a:pPr>
                <a:defRPr/>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DE30E8BA-7DC1-4A2E-AAF9-9413356A909D}" type="datetime1">
              <a:rPr lang="en-IN" smtClean="0"/>
              <a:pPr>
                <a:defRPr/>
              </a:pPr>
              <a:t>10/16/2012</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17FAAE44-E9D1-4B98-A3DE-E5CD43360959}" type="slidenum">
              <a:rPr lang="fr-FR"/>
              <a:pPr>
                <a:defRPr/>
              </a:pPr>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75DBC9E7-6461-4774-BD88-FB96672B8483}" type="datetime1">
              <a:rPr lang="en-IN" smtClean="0"/>
              <a:pPr>
                <a:defRPr/>
              </a:pPr>
              <a:t>10/16/2012</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9C273250-2444-4B8A-93A6-431A6DC11784}" type="slidenum">
              <a:rPr lang="fr-FR"/>
              <a:pPr>
                <a:defRPr/>
              </a:pPr>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B3BE3FA-23BD-4A10-96F9-866FDB86CBD3}" type="datetime1">
              <a:rPr lang="en-IN" smtClean="0"/>
              <a:pPr>
                <a:defRPr/>
              </a:pPr>
              <a:t>10/16/2012</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530347A7-667E-47D5-8A9C-BE00A83EA88F}" type="slidenum">
              <a:rPr lang="fr-FR"/>
              <a:pPr>
                <a:defRPr/>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78F24801-1CB1-4787-BC2C-94AEE4AF7906}" type="datetime1">
              <a:rPr lang="en-IN" smtClean="0"/>
              <a:pPr>
                <a:defRPr/>
              </a:pPr>
              <a:t>10/16/2012</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65A8DB2B-FC0E-49B0-9E98-3D5EAE84CC4C}" type="slidenum">
              <a:rPr lang="fr-FR"/>
              <a:pPr>
                <a:defRPr/>
              </a:pPr>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C7225E14-2484-4C24-A13C-5B783992619E}" type="datetime1">
              <a:rPr lang="en-IN" smtClean="0"/>
              <a:pPr>
                <a:defRPr/>
              </a:pPr>
              <a:t>10/16/2012</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E85037C-4B28-4C04-8F08-0F23892972C0}" type="slidenum">
              <a:rPr lang="fr-FR"/>
              <a:pPr>
                <a:defRPr/>
              </a:pP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6.jpe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hyperlink" Target="http://en.wikipedia.org/wiki/Image:Mus_Musculus-huismuis.jpg" TargetMode="External"/><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50" name="Titre 1"/>
          <p:cNvSpPr>
            <a:spLocks noGrp="1"/>
          </p:cNvSpPr>
          <p:nvPr>
            <p:ph type="ctrTitle"/>
          </p:nvPr>
        </p:nvSpPr>
        <p:spPr>
          <a:xfrm>
            <a:off x="755576" y="2276872"/>
            <a:ext cx="8105527" cy="1470025"/>
          </a:xfrm>
        </p:spPr>
        <p:txBody>
          <a:bodyPr/>
          <a:lstStyle/>
          <a:p>
            <a:r>
              <a:rPr lang="fr-CA" sz="4800" dirty="0" smtClean="0">
                <a:solidFill>
                  <a:srgbClr val="593B2A"/>
                </a:solidFill>
                <a:latin typeface="Garamond Premr Pro Smbd" pitchFamily="18" charset="0"/>
              </a:rPr>
              <a:t>I</a:t>
            </a:r>
            <a:r>
              <a:rPr lang="fr-CA" sz="3600" dirty="0" smtClean="0">
                <a:solidFill>
                  <a:srgbClr val="593B2A"/>
                </a:solidFill>
                <a:latin typeface="Garamond Premr Pro Smbd" pitchFamily="18" charset="0"/>
              </a:rPr>
              <a:t>NTELLECTUAL</a:t>
            </a:r>
            <a:r>
              <a:rPr lang="fr-CA" dirty="0" smtClean="0">
                <a:solidFill>
                  <a:srgbClr val="593B2A"/>
                </a:solidFill>
                <a:latin typeface="Garamond Premr Pro Smbd" pitchFamily="18" charset="0"/>
              </a:rPr>
              <a:t> P</a:t>
            </a:r>
            <a:r>
              <a:rPr lang="fr-CA" sz="3600" dirty="0" smtClean="0">
                <a:solidFill>
                  <a:srgbClr val="593B2A"/>
                </a:solidFill>
                <a:latin typeface="Garamond Premr Pro Smbd" pitchFamily="18" charset="0"/>
              </a:rPr>
              <a:t>ROPERTY</a:t>
            </a:r>
            <a:r>
              <a:rPr lang="fr-CA" dirty="0" smtClean="0">
                <a:solidFill>
                  <a:srgbClr val="593B2A"/>
                </a:solidFill>
                <a:latin typeface="Garamond Premr Pro Smbd" pitchFamily="18" charset="0"/>
              </a:rPr>
              <a:t> R</a:t>
            </a:r>
            <a:r>
              <a:rPr lang="fr-CA" sz="3600" dirty="0" smtClean="0">
                <a:solidFill>
                  <a:srgbClr val="593B2A"/>
                </a:solidFill>
                <a:latin typeface="Garamond Premr Pro Smbd" pitchFamily="18" charset="0"/>
              </a:rPr>
              <a:t>IGHTS</a:t>
            </a:r>
            <a:endParaRPr lang="fr-FR" dirty="0" smtClean="0">
              <a:solidFill>
                <a:srgbClr val="593B2A"/>
              </a:solidFill>
              <a:latin typeface="Garamond Premr Pro Smbd" pitchFamily="18" charset="0"/>
            </a:endParaRPr>
          </a:p>
        </p:txBody>
      </p:sp>
      <p:sp>
        <p:nvSpPr>
          <p:cNvPr id="5" name="Slide Number Placeholder 4"/>
          <p:cNvSpPr>
            <a:spLocks noGrp="1"/>
          </p:cNvSpPr>
          <p:nvPr>
            <p:ph type="sldNum" sz="quarter" idx="12"/>
          </p:nvPr>
        </p:nvSpPr>
        <p:spPr/>
        <p:txBody>
          <a:bodyPr/>
          <a:lstStyle/>
          <a:p>
            <a:pPr>
              <a:defRPr/>
            </a:pPr>
            <a:fld id="{14DEDCAF-836C-4C56-8066-90DEE0DCB67C}" type="slidenum">
              <a:rPr lang="fr-FR" smtClean="0"/>
              <a:pPr>
                <a:defRPr/>
              </a:pPr>
              <a:t>1</a:t>
            </a:fld>
            <a:endParaRPr lang="fr-F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2362200" y="228600"/>
            <a:ext cx="4714875" cy="701675"/>
          </a:xfrm>
          <a:prstGeom prst="rect">
            <a:avLst/>
          </a:prstGeom>
          <a:noFill/>
          <a:ln w="9525">
            <a:noFill/>
            <a:miter lim="800000"/>
            <a:headEnd/>
            <a:tailEnd/>
          </a:ln>
          <a:effectLst/>
        </p:spPr>
        <p:txBody>
          <a:bodyPr wrap="none">
            <a:spAutoFit/>
            <a:scene3d>
              <a:camera prst="orthographicFront"/>
              <a:lightRig rig="threePt" dir="t"/>
            </a:scene3d>
            <a:sp3d extrusionH="57150">
              <a:bevelT w="38100" h="38100"/>
            </a:sp3d>
          </a:bodyPr>
          <a:lstStyle/>
          <a:p>
            <a:pPr algn="ctr"/>
            <a:r>
              <a:rPr lang="en-US" sz="4000" b="1" dirty="0">
                <a:solidFill>
                  <a:srgbClr val="C00000"/>
                </a:solidFill>
                <a:effectLst>
                  <a:outerShdw blurRad="50800" dist="38100" dir="16200000" rotWithShape="0">
                    <a:prstClr val="black">
                      <a:alpha val="40000"/>
                    </a:prstClr>
                  </a:outerShdw>
                </a:effectLst>
                <a:latin typeface="Times New Roman" pitchFamily="18" charset="0"/>
                <a:cs typeface="Times New Roman" pitchFamily="18" charset="0"/>
              </a:rPr>
              <a:t>Intellectual Property</a:t>
            </a:r>
          </a:p>
        </p:txBody>
      </p:sp>
      <p:sp>
        <p:nvSpPr>
          <p:cNvPr id="6" name="Text Box 5"/>
          <p:cNvSpPr txBox="1">
            <a:spLocks noGrp="1" noChangeArrowheads="1"/>
          </p:cNvSpPr>
          <p:nvPr>
            <p:ph type="title"/>
          </p:nvPr>
        </p:nvSpPr>
        <p:spPr bwMode="auto">
          <a:xfrm>
            <a:off x="1259632" y="1424762"/>
            <a:ext cx="7488832" cy="830997"/>
          </a:xfrm>
          <a:prstGeom prst="rect">
            <a:avLst/>
          </a:prstGeom>
          <a:noFill/>
          <a:ln w="9525">
            <a:noFill/>
            <a:miter lim="800000"/>
            <a:headEnd/>
            <a:tailEnd/>
          </a:ln>
          <a:effectLst/>
        </p:spPr>
        <p:txBody>
          <a:bodyPr wrap="square">
            <a:spAutoFit/>
          </a:bodyPr>
          <a:lstStyle/>
          <a:p>
            <a:pPr algn="l">
              <a:spcBef>
                <a:spcPct val="50000"/>
              </a:spcBef>
            </a:pPr>
            <a:r>
              <a:rPr lang="en-US" sz="2400" dirty="0">
                <a:solidFill>
                  <a:schemeClr val="bg2">
                    <a:lumMod val="25000"/>
                  </a:schemeClr>
                </a:solidFill>
                <a:latin typeface="Garamond Premr Pro Smbd" pitchFamily="18" charset="0"/>
                <a:cs typeface="Times New Roman" pitchFamily="18" charset="0"/>
              </a:rPr>
              <a:t>I</a:t>
            </a:r>
            <a:r>
              <a:rPr lang="en-US" sz="2400" dirty="0">
                <a:solidFill>
                  <a:schemeClr val="bg2">
                    <a:lumMod val="25000"/>
                  </a:schemeClr>
                </a:solidFill>
                <a:latin typeface="Times New Roman" pitchFamily="18" charset="0"/>
                <a:cs typeface="Times New Roman" pitchFamily="18" charset="0"/>
              </a:rPr>
              <a:t>ntellectual Property is that which results from the </a:t>
            </a:r>
            <a:r>
              <a:rPr lang="en-US" sz="2400" dirty="0" smtClean="0">
                <a:solidFill>
                  <a:schemeClr val="bg2">
                    <a:lumMod val="25000"/>
                  </a:schemeClr>
                </a:solidFill>
                <a:latin typeface="Times New Roman" pitchFamily="18" charset="0"/>
                <a:cs typeface="Times New Roman" pitchFamily="18" charset="0"/>
              </a:rPr>
              <a:t>creation </a:t>
            </a:r>
            <a:r>
              <a:rPr lang="en-US" sz="2400" dirty="0">
                <a:solidFill>
                  <a:schemeClr val="bg2">
                    <a:lumMod val="25000"/>
                  </a:schemeClr>
                </a:solidFill>
                <a:latin typeface="Times New Roman" pitchFamily="18" charset="0"/>
                <a:cs typeface="Times New Roman" pitchFamily="18" charset="0"/>
              </a:rPr>
              <a:t>of intellect in industrial, scientific, literary or artistic field.</a:t>
            </a:r>
          </a:p>
        </p:txBody>
      </p:sp>
      <p:sp>
        <p:nvSpPr>
          <p:cNvPr id="7" name="Rectangle 7"/>
          <p:cNvSpPr>
            <a:spLocks noGrp="1" noChangeArrowheads="1"/>
          </p:cNvSpPr>
          <p:nvPr>
            <p:ph idx="1"/>
          </p:nvPr>
        </p:nvSpPr>
        <p:spPr bwMode="auto">
          <a:xfrm>
            <a:off x="1259632" y="2852936"/>
            <a:ext cx="7632848" cy="1200329"/>
          </a:xfrm>
          <a:prstGeom prst="rect">
            <a:avLst/>
          </a:prstGeom>
          <a:noFill/>
          <a:ln w="9525">
            <a:noFill/>
            <a:miter lim="800000"/>
            <a:headEnd/>
            <a:tailEnd/>
          </a:ln>
          <a:effectLst/>
        </p:spPr>
        <p:txBody>
          <a:bodyPr wrap="square">
            <a:spAutoFit/>
          </a:bodyPr>
          <a:lstStyle/>
          <a:p>
            <a:pPr>
              <a:spcBef>
                <a:spcPts val="0"/>
              </a:spcBef>
              <a:buNone/>
            </a:pPr>
            <a:r>
              <a:rPr lang="en-US" sz="2400" dirty="0" smtClean="0">
                <a:solidFill>
                  <a:schemeClr val="bg2">
                    <a:lumMod val="25000"/>
                  </a:schemeClr>
                </a:solidFill>
                <a:latin typeface="Verdana" pitchFamily="34" charset="0"/>
                <a:ea typeface="Verdana" pitchFamily="34" charset="0"/>
                <a:cs typeface="Verdana" pitchFamily="34" charset="0"/>
              </a:rPr>
              <a:t>I</a:t>
            </a:r>
            <a:r>
              <a:rPr lang="en-US" sz="2400" dirty="0" smtClean="0">
                <a:solidFill>
                  <a:schemeClr val="bg2">
                    <a:lumMod val="25000"/>
                  </a:schemeClr>
                </a:solidFill>
                <a:latin typeface="Times New Roman" pitchFamily="18" charset="0"/>
                <a:cs typeface="Times New Roman" pitchFamily="18" charset="0"/>
              </a:rPr>
              <a:t>ntellectual </a:t>
            </a:r>
            <a:r>
              <a:rPr lang="en-US" sz="2400" dirty="0">
                <a:solidFill>
                  <a:schemeClr val="bg2">
                    <a:lumMod val="25000"/>
                  </a:schemeClr>
                </a:solidFill>
                <a:latin typeface="Times New Roman" pitchFamily="18" charset="0"/>
                <a:cs typeface="Times New Roman" pitchFamily="18" charset="0"/>
              </a:rPr>
              <a:t>Property Right (IPR) is the </a:t>
            </a:r>
            <a:r>
              <a:rPr lang="en-US" sz="2400" dirty="0" smtClean="0">
                <a:solidFill>
                  <a:schemeClr val="bg2">
                    <a:lumMod val="25000"/>
                  </a:schemeClr>
                </a:solidFill>
                <a:latin typeface="Times New Roman" pitchFamily="18" charset="0"/>
                <a:cs typeface="Times New Roman" pitchFamily="18" charset="0"/>
              </a:rPr>
              <a:t>legally enforceable </a:t>
            </a:r>
          </a:p>
          <a:p>
            <a:pPr>
              <a:spcBef>
                <a:spcPts val="0"/>
              </a:spcBef>
              <a:buNone/>
            </a:pPr>
            <a:r>
              <a:rPr lang="en-US" sz="2400" dirty="0" smtClean="0">
                <a:solidFill>
                  <a:schemeClr val="bg2">
                    <a:lumMod val="25000"/>
                  </a:schemeClr>
                </a:solidFill>
                <a:latin typeface="Times New Roman" pitchFamily="18" charset="0"/>
                <a:cs typeface="Times New Roman" pitchFamily="18" charset="0"/>
              </a:rPr>
              <a:t>exclusive </a:t>
            </a:r>
            <a:r>
              <a:rPr lang="en-US" sz="2400" dirty="0">
                <a:solidFill>
                  <a:schemeClr val="bg2">
                    <a:lumMod val="25000"/>
                  </a:schemeClr>
                </a:solidFill>
                <a:latin typeface="Times New Roman" pitchFamily="18" charset="0"/>
                <a:cs typeface="Times New Roman" pitchFamily="18" charset="0"/>
              </a:rPr>
              <a:t>right granted to the owner </a:t>
            </a:r>
            <a:r>
              <a:rPr lang="en-US" sz="2400" dirty="0" smtClean="0">
                <a:solidFill>
                  <a:schemeClr val="bg2">
                    <a:lumMod val="25000"/>
                  </a:schemeClr>
                </a:solidFill>
                <a:latin typeface="Times New Roman" pitchFamily="18" charset="0"/>
                <a:cs typeface="Times New Roman" pitchFamily="18" charset="0"/>
              </a:rPr>
              <a:t>of the </a:t>
            </a:r>
            <a:r>
              <a:rPr lang="en-US" sz="2400" dirty="0">
                <a:solidFill>
                  <a:schemeClr val="bg2">
                    <a:lumMod val="25000"/>
                  </a:schemeClr>
                </a:solidFill>
                <a:latin typeface="Times New Roman" pitchFamily="18" charset="0"/>
                <a:cs typeface="Times New Roman" pitchFamily="18" charset="0"/>
              </a:rPr>
              <a:t>intellectual </a:t>
            </a:r>
            <a:endParaRPr lang="en-US" sz="2400" dirty="0" smtClean="0">
              <a:solidFill>
                <a:schemeClr val="bg2">
                  <a:lumMod val="25000"/>
                </a:schemeClr>
              </a:solidFill>
              <a:latin typeface="Times New Roman" pitchFamily="18" charset="0"/>
              <a:cs typeface="Times New Roman" pitchFamily="18" charset="0"/>
            </a:endParaRPr>
          </a:p>
          <a:p>
            <a:pPr>
              <a:spcBef>
                <a:spcPts val="0"/>
              </a:spcBef>
              <a:buNone/>
            </a:pPr>
            <a:r>
              <a:rPr lang="en-US" sz="2400" dirty="0" smtClean="0">
                <a:solidFill>
                  <a:schemeClr val="bg2">
                    <a:lumMod val="25000"/>
                  </a:schemeClr>
                </a:solidFill>
                <a:latin typeface="Times New Roman" pitchFamily="18" charset="0"/>
                <a:cs typeface="Times New Roman" pitchFamily="18" charset="0"/>
              </a:rPr>
              <a:t>property </a:t>
            </a:r>
            <a:r>
              <a:rPr lang="en-US" sz="2400" dirty="0">
                <a:solidFill>
                  <a:schemeClr val="bg2">
                    <a:lumMod val="25000"/>
                  </a:schemeClr>
                </a:solidFill>
                <a:latin typeface="Times New Roman" pitchFamily="18" charset="0"/>
                <a:cs typeface="Times New Roman" pitchFamily="18" charset="0"/>
              </a:rPr>
              <a:t>for a limited period </a:t>
            </a:r>
            <a:endParaRPr kumimoji="1" lang="en-US" sz="3200" dirty="0">
              <a:solidFill>
                <a:schemeClr val="bg2">
                  <a:lumMod val="25000"/>
                </a:schemeClr>
              </a:solidFill>
              <a:latin typeface="Times New Roman" pitchFamily="18" charset="0"/>
              <a:cs typeface="Times New Roman" pitchFamily="18" charset="0"/>
            </a:endParaRPr>
          </a:p>
        </p:txBody>
      </p:sp>
      <p:sp>
        <p:nvSpPr>
          <p:cNvPr id="8" name="Text Box 8"/>
          <p:cNvSpPr txBox="1">
            <a:spLocks noChangeArrowheads="1"/>
          </p:cNvSpPr>
          <p:nvPr/>
        </p:nvSpPr>
        <p:spPr bwMode="auto">
          <a:xfrm>
            <a:off x="1259632" y="4714279"/>
            <a:ext cx="7696200" cy="442913"/>
          </a:xfrm>
          <a:prstGeom prst="rect">
            <a:avLst/>
          </a:prstGeom>
          <a:noFill/>
          <a:ln w="9525">
            <a:noFill/>
            <a:miter lim="800000"/>
            <a:headEnd/>
            <a:tailEnd/>
          </a:ln>
          <a:effectLst/>
        </p:spPr>
        <p:txBody>
          <a:bodyPr>
            <a:spAutoFit/>
          </a:bodyPr>
          <a:lstStyle/>
          <a:p>
            <a:r>
              <a:rPr lang="en-US" sz="2300" b="1" dirty="0">
                <a:solidFill>
                  <a:schemeClr val="bg2">
                    <a:lumMod val="25000"/>
                  </a:schemeClr>
                </a:solidFill>
              </a:rPr>
              <a:t>IPR can be assigned or licensed for financial benefits.</a:t>
            </a:r>
          </a:p>
        </p:txBody>
      </p:sp>
      <p:sp>
        <p:nvSpPr>
          <p:cNvPr id="10" name="Slide Number Placeholder 9"/>
          <p:cNvSpPr>
            <a:spLocks noGrp="1"/>
          </p:cNvSpPr>
          <p:nvPr>
            <p:ph type="sldNum" sz="quarter" idx="12"/>
          </p:nvPr>
        </p:nvSpPr>
        <p:spPr/>
        <p:txBody>
          <a:bodyPr/>
          <a:lstStyle/>
          <a:p>
            <a:pPr>
              <a:defRPr/>
            </a:pPr>
            <a:fld id="{D7E06C30-71D3-457B-A8D9-545BE19DB6E8}" type="slidenum">
              <a:rPr lang="fr-FR" smtClean="0"/>
              <a:pPr>
                <a:defRPr/>
              </a:pPr>
              <a:t>2</a:t>
            </a:fld>
            <a:endParaRPr lang="fr-F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ChangeArrowheads="1"/>
          </p:cNvSpPr>
          <p:nvPr/>
        </p:nvSpPr>
        <p:spPr bwMode="auto">
          <a:xfrm>
            <a:off x="0" y="0"/>
            <a:ext cx="9144000" cy="6858000"/>
          </a:xfrm>
          <a:prstGeom prst="rect">
            <a:avLst/>
          </a:prstGeom>
          <a:solidFill>
            <a:srgbClr val="FFFFFF"/>
          </a:solidFill>
          <a:ln w="9525">
            <a:solidFill>
              <a:schemeClr val="tx1"/>
            </a:solidFill>
            <a:miter lim="800000"/>
            <a:headEnd/>
            <a:tailEnd/>
          </a:ln>
          <a:effectLst/>
        </p:spPr>
        <p:txBody>
          <a:bodyPr wrap="none" anchor="ctr"/>
          <a:lstStyle/>
          <a:p>
            <a:pPr algn="ctr"/>
            <a:endParaRPr lang="en-US" sz="2400">
              <a:latin typeface="Times New Roman" pitchFamily="18" charset="0"/>
              <a:cs typeface="Times New Roman" pitchFamily="18" charset="0"/>
            </a:endParaRPr>
          </a:p>
        </p:txBody>
      </p:sp>
      <p:sp>
        <p:nvSpPr>
          <p:cNvPr id="272387" name="Rectangle 3"/>
          <p:cNvSpPr>
            <a:spLocks noChangeArrowheads="1"/>
          </p:cNvSpPr>
          <p:nvPr/>
        </p:nvSpPr>
        <p:spPr bwMode="auto">
          <a:xfrm>
            <a:off x="533400" y="228600"/>
            <a:ext cx="8001000" cy="685800"/>
          </a:xfrm>
          <a:prstGeom prst="rect">
            <a:avLst/>
          </a:prstGeom>
          <a:solidFill>
            <a:schemeClr val="bg2">
              <a:lumMod val="75000"/>
            </a:schemeClr>
          </a:solidFill>
          <a:ln w="9525">
            <a:solidFill>
              <a:schemeClr val="tx1"/>
            </a:solidFill>
            <a:miter lim="800000"/>
            <a:headEnd/>
            <a:tailEnd/>
          </a:ln>
          <a:effectLst/>
        </p:spPr>
        <p:txBody>
          <a:bodyPr wrap="none" anchor="ctr"/>
          <a:lstStyle/>
          <a:p>
            <a:pPr algn="ctr"/>
            <a:r>
              <a:rPr lang="en-US" sz="3600" dirty="0">
                <a:effectLst>
                  <a:outerShdw blurRad="38100" dist="38100" dir="2700000" algn="tl">
                    <a:srgbClr val="000000">
                      <a:alpha val="43137"/>
                    </a:srgbClr>
                  </a:outerShdw>
                </a:effectLst>
                <a:latin typeface="Times New Roman" pitchFamily="18" charset="0"/>
                <a:cs typeface="Times New Roman" pitchFamily="18" charset="0"/>
              </a:rPr>
              <a:t>INTELLECTUAL PROPERTY RIGHTS</a:t>
            </a:r>
            <a:endParaRPr lang="en-AU" sz="36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72388" name="Line 4"/>
          <p:cNvSpPr>
            <a:spLocks noChangeShapeType="1"/>
          </p:cNvSpPr>
          <p:nvPr/>
        </p:nvSpPr>
        <p:spPr bwMode="auto">
          <a:xfrm>
            <a:off x="4648200" y="914400"/>
            <a:ext cx="0" cy="533400"/>
          </a:xfrm>
          <a:prstGeom prst="line">
            <a:avLst/>
          </a:prstGeom>
          <a:noFill/>
          <a:ln w="9525">
            <a:solidFill>
              <a:schemeClr val="tx1"/>
            </a:solidFill>
            <a:round/>
            <a:headEnd/>
            <a:tailEnd type="triangle" w="med" len="med"/>
          </a:ln>
          <a:effectLst/>
        </p:spPr>
        <p:txBody>
          <a:bodyPr/>
          <a:lstStyle/>
          <a:p>
            <a:endParaRPr lang="en-IN"/>
          </a:p>
        </p:txBody>
      </p:sp>
      <p:sp>
        <p:nvSpPr>
          <p:cNvPr id="272389" name="Line 5"/>
          <p:cNvSpPr>
            <a:spLocks noChangeShapeType="1"/>
          </p:cNvSpPr>
          <p:nvPr/>
        </p:nvSpPr>
        <p:spPr bwMode="auto">
          <a:xfrm>
            <a:off x="4648200" y="1447800"/>
            <a:ext cx="3048000" cy="0"/>
          </a:xfrm>
          <a:prstGeom prst="line">
            <a:avLst/>
          </a:prstGeom>
          <a:noFill/>
          <a:ln w="9525">
            <a:solidFill>
              <a:schemeClr val="tx1"/>
            </a:solidFill>
            <a:round/>
            <a:headEnd/>
            <a:tailEnd/>
          </a:ln>
          <a:effectLst/>
        </p:spPr>
        <p:txBody>
          <a:bodyPr/>
          <a:lstStyle/>
          <a:p>
            <a:endParaRPr lang="en-IN"/>
          </a:p>
        </p:txBody>
      </p:sp>
      <p:sp>
        <p:nvSpPr>
          <p:cNvPr id="272390" name="Line 6"/>
          <p:cNvSpPr>
            <a:spLocks noChangeShapeType="1"/>
          </p:cNvSpPr>
          <p:nvPr/>
        </p:nvSpPr>
        <p:spPr bwMode="auto">
          <a:xfrm flipH="1">
            <a:off x="1524000" y="1447800"/>
            <a:ext cx="3124200" cy="0"/>
          </a:xfrm>
          <a:prstGeom prst="line">
            <a:avLst/>
          </a:prstGeom>
          <a:noFill/>
          <a:ln w="9525">
            <a:solidFill>
              <a:schemeClr val="tx1"/>
            </a:solidFill>
            <a:round/>
            <a:headEnd/>
            <a:tailEnd/>
          </a:ln>
          <a:effectLst/>
        </p:spPr>
        <p:txBody>
          <a:bodyPr/>
          <a:lstStyle/>
          <a:p>
            <a:endParaRPr lang="en-IN"/>
          </a:p>
        </p:txBody>
      </p:sp>
      <p:sp>
        <p:nvSpPr>
          <p:cNvPr id="272391" name="Line 7"/>
          <p:cNvSpPr>
            <a:spLocks noChangeShapeType="1"/>
          </p:cNvSpPr>
          <p:nvPr/>
        </p:nvSpPr>
        <p:spPr bwMode="auto">
          <a:xfrm>
            <a:off x="1524000" y="1447800"/>
            <a:ext cx="0" cy="1981200"/>
          </a:xfrm>
          <a:prstGeom prst="line">
            <a:avLst/>
          </a:prstGeom>
          <a:noFill/>
          <a:ln w="9525">
            <a:solidFill>
              <a:schemeClr val="tx1"/>
            </a:solidFill>
            <a:round/>
            <a:headEnd/>
            <a:tailEnd type="triangle" w="med" len="med"/>
          </a:ln>
          <a:effectLst/>
        </p:spPr>
        <p:txBody>
          <a:bodyPr/>
          <a:lstStyle/>
          <a:p>
            <a:endParaRPr lang="en-IN"/>
          </a:p>
        </p:txBody>
      </p:sp>
      <p:sp>
        <p:nvSpPr>
          <p:cNvPr id="272392" name="Rectangle 8"/>
          <p:cNvSpPr>
            <a:spLocks noChangeArrowheads="1"/>
          </p:cNvSpPr>
          <p:nvPr/>
        </p:nvSpPr>
        <p:spPr bwMode="auto">
          <a:xfrm>
            <a:off x="457200" y="3429000"/>
            <a:ext cx="5181600" cy="533400"/>
          </a:xfrm>
          <a:prstGeom prst="rect">
            <a:avLst/>
          </a:prstGeom>
          <a:solidFill>
            <a:srgbClr val="00B0F0"/>
          </a:solidFill>
          <a:ln w="9525">
            <a:solidFill>
              <a:schemeClr val="tx1"/>
            </a:solidFill>
            <a:miter lim="800000"/>
            <a:headEnd/>
            <a:tailEnd/>
          </a:ln>
          <a:effectLst/>
        </p:spPr>
        <p:txBody>
          <a:bodyPr wrap="none" anchor="ctr"/>
          <a:lstStyle/>
          <a:p>
            <a:pPr algn="ctr"/>
            <a:r>
              <a:rPr lang="en-US" sz="2400" dirty="0">
                <a:latin typeface="Times New Roman" pitchFamily="18" charset="0"/>
                <a:cs typeface="Times New Roman" pitchFamily="18" charset="0"/>
              </a:rPr>
              <a:t>INDUSTRIAL PROPERTY RIGHTS</a:t>
            </a:r>
            <a:endParaRPr lang="en-AU" sz="2400" dirty="0">
              <a:latin typeface="Times New Roman" pitchFamily="18" charset="0"/>
              <a:cs typeface="Times New Roman" pitchFamily="18" charset="0"/>
            </a:endParaRPr>
          </a:p>
        </p:txBody>
      </p:sp>
      <p:sp>
        <p:nvSpPr>
          <p:cNvPr id="272393" name="Line 9"/>
          <p:cNvSpPr>
            <a:spLocks noChangeShapeType="1"/>
          </p:cNvSpPr>
          <p:nvPr/>
        </p:nvSpPr>
        <p:spPr bwMode="auto">
          <a:xfrm>
            <a:off x="7696200" y="1447800"/>
            <a:ext cx="0" cy="762000"/>
          </a:xfrm>
          <a:prstGeom prst="line">
            <a:avLst/>
          </a:prstGeom>
          <a:noFill/>
          <a:ln w="9525">
            <a:solidFill>
              <a:schemeClr val="tx1"/>
            </a:solidFill>
            <a:round/>
            <a:headEnd/>
            <a:tailEnd type="triangle" w="med" len="med"/>
          </a:ln>
          <a:effectLst/>
        </p:spPr>
        <p:txBody>
          <a:bodyPr/>
          <a:lstStyle/>
          <a:p>
            <a:endParaRPr lang="en-IN"/>
          </a:p>
        </p:txBody>
      </p:sp>
      <p:sp>
        <p:nvSpPr>
          <p:cNvPr id="272394" name="Rectangle 10"/>
          <p:cNvSpPr>
            <a:spLocks noChangeArrowheads="1"/>
          </p:cNvSpPr>
          <p:nvPr/>
        </p:nvSpPr>
        <p:spPr bwMode="auto">
          <a:xfrm>
            <a:off x="3505200" y="2209800"/>
            <a:ext cx="5334000" cy="533400"/>
          </a:xfrm>
          <a:prstGeom prst="rect">
            <a:avLst/>
          </a:prstGeom>
          <a:solidFill>
            <a:srgbClr val="F9AB6B"/>
          </a:solidFill>
          <a:ln w="9525">
            <a:solidFill>
              <a:schemeClr val="tx1"/>
            </a:solidFill>
            <a:miter lim="800000"/>
            <a:headEnd/>
            <a:tailEnd/>
          </a:ln>
          <a:effectLst/>
        </p:spPr>
        <p:txBody>
          <a:bodyPr wrap="none" anchor="ctr"/>
          <a:lstStyle/>
          <a:p>
            <a:pPr algn="ctr"/>
            <a:r>
              <a:rPr lang="en-US" sz="2400" dirty="0">
                <a:effectLst>
                  <a:outerShdw blurRad="38100" dist="38100" dir="2700000" algn="tl">
                    <a:srgbClr val="000000">
                      <a:alpha val="43137"/>
                    </a:srgbClr>
                  </a:outerShdw>
                </a:effectLst>
                <a:latin typeface="Times New Roman" pitchFamily="18" charset="0"/>
                <a:cs typeface="Times New Roman" pitchFamily="18" charset="0"/>
              </a:rPr>
              <a:t>COPYRIGHT</a:t>
            </a:r>
            <a:r>
              <a:rPr lang="en-US" sz="2400" dirty="0">
                <a:latin typeface="Times New Roman" pitchFamily="18" charset="0"/>
                <a:cs typeface="Times New Roman" pitchFamily="18" charset="0"/>
              </a:rPr>
              <a:t> AND RELATED RIGHTS</a:t>
            </a:r>
            <a:endParaRPr lang="en-AU" sz="2400" dirty="0">
              <a:latin typeface="Times New Roman" pitchFamily="18" charset="0"/>
              <a:cs typeface="Times New Roman" pitchFamily="18" charset="0"/>
            </a:endParaRPr>
          </a:p>
        </p:txBody>
      </p:sp>
      <p:sp>
        <p:nvSpPr>
          <p:cNvPr id="272395" name="Line 11"/>
          <p:cNvSpPr>
            <a:spLocks noChangeShapeType="1"/>
          </p:cNvSpPr>
          <p:nvPr/>
        </p:nvSpPr>
        <p:spPr bwMode="auto">
          <a:xfrm>
            <a:off x="3048000" y="3962400"/>
            <a:ext cx="0" cy="381000"/>
          </a:xfrm>
          <a:prstGeom prst="line">
            <a:avLst/>
          </a:prstGeom>
          <a:noFill/>
          <a:ln w="9525">
            <a:solidFill>
              <a:schemeClr val="tx1"/>
            </a:solidFill>
            <a:round/>
            <a:headEnd/>
            <a:tailEnd type="triangle" w="med" len="med"/>
          </a:ln>
          <a:effectLst/>
        </p:spPr>
        <p:txBody>
          <a:bodyPr/>
          <a:lstStyle/>
          <a:p>
            <a:endParaRPr lang="en-IN"/>
          </a:p>
        </p:txBody>
      </p:sp>
      <p:sp>
        <p:nvSpPr>
          <p:cNvPr id="272396" name="Line 12"/>
          <p:cNvSpPr>
            <a:spLocks noChangeShapeType="1"/>
          </p:cNvSpPr>
          <p:nvPr/>
        </p:nvSpPr>
        <p:spPr bwMode="auto">
          <a:xfrm flipH="1">
            <a:off x="609600" y="4343400"/>
            <a:ext cx="2438400" cy="0"/>
          </a:xfrm>
          <a:prstGeom prst="line">
            <a:avLst/>
          </a:prstGeom>
          <a:noFill/>
          <a:ln w="9525">
            <a:solidFill>
              <a:schemeClr val="tx1"/>
            </a:solidFill>
            <a:round/>
            <a:headEnd/>
            <a:tailEnd/>
          </a:ln>
          <a:effectLst/>
        </p:spPr>
        <p:txBody>
          <a:bodyPr/>
          <a:lstStyle/>
          <a:p>
            <a:endParaRPr lang="en-IN"/>
          </a:p>
        </p:txBody>
      </p:sp>
      <p:sp>
        <p:nvSpPr>
          <p:cNvPr id="272397" name="Line 13"/>
          <p:cNvSpPr>
            <a:spLocks noChangeShapeType="1"/>
          </p:cNvSpPr>
          <p:nvPr/>
        </p:nvSpPr>
        <p:spPr bwMode="auto">
          <a:xfrm>
            <a:off x="3048000" y="4343400"/>
            <a:ext cx="4800600" cy="0"/>
          </a:xfrm>
          <a:prstGeom prst="line">
            <a:avLst/>
          </a:prstGeom>
          <a:noFill/>
          <a:ln w="9525">
            <a:solidFill>
              <a:schemeClr val="tx1"/>
            </a:solidFill>
            <a:round/>
            <a:headEnd/>
            <a:tailEnd/>
          </a:ln>
          <a:effectLst/>
        </p:spPr>
        <p:txBody>
          <a:bodyPr/>
          <a:lstStyle/>
          <a:p>
            <a:endParaRPr lang="en-IN"/>
          </a:p>
        </p:txBody>
      </p:sp>
      <p:sp>
        <p:nvSpPr>
          <p:cNvPr id="272398" name="Line 14"/>
          <p:cNvSpPr>
            <a:spLocks noChangeShapeType="1"/>
          </p:cNvSpPr>
          <p:nvPr/>
        </p:nvSpPr>
        <p:spPr bwMode="auto">
          <a:xfrm>
            <a:off x="609600" y="4343400"/>
            <a:ext cx="0" cy="685800"/>
          </a:xfrm>
          <a:prstGeom prst="line">
            <a:avLst/>
          </a:prstGeom>
          <a:noFill/>
          <a:ln w="9525">
            <a:solidFill>
              <a:schemeClr val="tx1"/>
            </a:solidFill>
            <a:round/>
            <a:headEnd/>
            <a:tailEnd type="triangle" w="med" len="med"/>
          </a:ln>
          <a:effectLst/>
        </p:spPr>
        <p:txBody>
          <a:bodyPr/>
          <a:lstStyle/>
          <a:p>
            <a:endParaRPr lang="en-IN"/>
          </a:p>
        </p:txBody>
      </p:sp>
      <p:sp>
        <p:nvSpPr>
          <p:cNvPr id="272399" name="Rectangle 15"/>
          <p:cNvSpPr>
            <a:spLocks noChangeArrowheads="1"/>
          </p:cNvSpPr>
          <p:nvPr/>
        </p:nvSpPr>
        <p:spPr bwMode="auto">
          <a:xfrm>
            <a:off x="228600" y="5029200"/>
            <a:ext cx="1905000" cy="381000"/>
          </a:xfrm>
          <a:prstGeom prst="rect">
            <a:avLst/>
          </a:prstGeom>
          <a:solidFill>
            <a:schemeClr val="accent5">
              <a:lumMod val="60000"/>
              <a:lumOff val="40000"/>
            </a:schemeClr>
          </a:solidFill>
          <a:ln w="9525">
            <a:solidFill>
              <a:schemeClr val="tx1"/>
            </a:solidFill>
            <a:miter lim="800000"/>
            <a:headEnd/>
            <a:tailEnd/>
          </a:ln>
          <a:effectLst/>
        </p:spPr>
        <p:txBody>
          <a:bodyPr wrap="none" anchor="ctr"/>
          <a:lstStyle/>
          <a:p>
            <a:pPr algn="ctr"/>
            <a:r>
              <a:rPr lang="en-US" sz="2400" dirty="0">
                <a:effectLst>
                  <a:outerShdw blurRad="38100" dist="38100" dir="2700000" algn="tl">
                    <a:srgbClr val="000000">
                      <a:alpha val="43137"/>
                    </a:srgbClr>
                  </a:outerShdw>
                </a:effectLst>
                <a:latin typeface="Times New Roman" pitchFamily="18" charset="0"/>
                <a:cs typeface="Times New Roman" pitchFamily="18" charset="0"/>
              </a:rPr>
              <a:t>PATENT</a:t>
            </a:r>
            <a:endParaRPr lang="en-AU"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72400" name="Line 16"/>
          <p:cNvSpPr>
            <a:spLocks noChangeShapeType="1"/>
          </p:cNvSpPr>
          <p:nvPr/>
        </p:nvSpPr>
        <p:spPr bwMode="auto">
          <a:xfrm>
            <a:off x="3962400" y="4343400"/>
            <a:ext cx="0" cy="609600"/>
          </a:xfrm>
          <a:prstGeom prst="line">
            <a:avLst/>
          </a:prstGeom>
          <a:noFill/>
          <a:ln w="9525">
            <a:solidFill>
              <a:schemeClr val="tx1"/>
            </a:solidFill>
            <a:round/>
            <a:headEnd/>
            <a:tailEnd type="triangle" w="med" len="med"/>
          </a:ln>
          <a:effectLst/>
        </p:spPr>
        <p:txBody>
          <a:bodyPr/>
          <a:lstStyle/>
          <a:p>
            <a:endParaRPr lang="en-IN"/>
          </a:p>
        </p:txBody>
      </p:sp>
      <p:sp>
        <p:nvSpPr>
          <p:cNvPr id="272401" name="Rectangle 17"/>
          <p:cNvSpPr>
            <a:spLocks noChangeArrowheads="1"/>
          </p:cNvSpPr>
          <p:nvPr/>
        </p:nvSpPr>
        <p:spPr bwMode="auto">
          <a:xfrm>
            <a:off x="2438400" y="5029200"/>
            <a:ext cx="3124200" cy="381000"/>
          </a:xfrm>
          <a:prstGeom prst="rect">
            <a:avLst/>
          </a:prstGeom>
          <a:solidFill>
            <a:schemeClr val="accent5">
              <a:lumMod val="40000"/>
              <a:lumOff val="60000"/>
            </a:schemeClr>
          </a:solidFill>
          <a:ln w="9525">
            <a:solidFill>
              <a:schemeClr val="tx1"/>
            </a:solidFill>
            <a:miter lim="800000"/>
            <a:headEnd/>
            <a:tailEnd/>
          </a:ln>
          <a:effectLst/>
        </p:spPr>
        <p:txBody>
          <a:bodyPr wrap="none" anchor="ctr"/>
          <a:lstStyle/>
          <a:p>
            <a:pPr algn="ctr"/>
            <a:r>
              <a:rPr lang="en-US" sz="2400" dirty="0">
                <a:latin typeface="Times New Roman" pitchFamily="18" charset="0"/>
                <a:cs typeface="Times New Roman" pitchFamily="18" charset="0"/>
              </a:rPr>
              <a:t> RIGHTS ON DESIGNS </a:t>
            </a:r>
            <a:endParaRPr lang="en-AU" sz="2400" dirty="0">
              <a:latin typeface="Times New Roman" pitchFamily="18" charset="0"/>
              <a:cs typeface="Times New Roman" pitchFamily="18" charset="0"/>
            </a:endParaRPr>
          </a:p>
        </p:txBody>
      </p:sp>
      <p:sp>
        <p:nvSpPr>
          <p:cNvPr id="272402" name="Line 18"/>
          <p:cNvSpPr>
            <a:spLocks noChangeShapeType="1"/>
          </p:cNvSpPr>
          <p:nvPr/>
        </p:nvSpPr>
        <p:spPr bwMode="auto">
          <a:xfrm>
            <a:off x="7848600" y="4343400"/>
            <a:ext cx="0" cy="609600"/>
          </a:xfrm>
          <a:prstGeom prst="line">
            <a:avLst/>
          </a:prstGeom>
          <a:noFill/>
          <a:ln w="9525">
            <a:solidFill>
              <a:schemeClr val="tx1"/>
            </a:solidFill>
            <a:round/>
            <a:headEnd/>
            <a:tailEnd type="triangle" w="med" len="med"/>
          </a:ln>
          <a:effectLst/>
        </p:spPr>
        <p:txBody>
          <a:bodyPr/>
          <a:lstStyle/>
          <a:p>
            <a:endParaRPr lang="en-IN"/>
          </a:p>
        </p:txBody>
      </p:sp>
      <p:sp>
        <p:nvSpPr>
          <p:cNvPr id="272403" name="Rectangle 19"/>
          <p:cNvSpPr>
            <a:spLocks noChangeArrowheads="1"/>
          </p:cNvSpPr>
          <p:nvPr/>
        </p:nvSpPr>
        <p:spPr bwMode="auto">
          <a:xfrm>
            <a:off x="6324600" y="5029200"/>
            <a:ext cx="2362200" cy="381000"/>
          </a:xfrm>
          <a:prstGeom prst="rect">
            <a:avLst/>
          </a:prstGeom>
          <a:solidFill>
            <a:schemeClr val="accent5">
              <a:lumMod val="60000"/>
              <a:lumOff val="40000"/>
            </a:schemeClr>
          </a:solidFill>
          <a:ln w="9525">
            <a:solidFill>
              <a:schemeClr val="tx1"/>
            </a:solidFill>
            <a:miter lim="800000"/>
            <a:headEnd/>
            <a:tailEnd/>
          </a:ln>
          <a:effectLst/>
        </p:spPr>
        <p:txBody>
          <a:bodyPr wrap="none" anchor="ctr"/>
          <a:lstStyle/>
          <a:p>
            <a:pPr algn="ctr"/>
            <a:r>
              <a:rPr lang="en-US" sz="2400" dirty="0">
                <a:effectLst>
                  <a:outerShdw blurRad="38100" dist="38100" dir="2700000" algn="tl">
                    <a:srgbClr val="000000">
                      <a:alpha val="43137"/>
                    </a:srgbClr>
                  </a:outerShdw>
                </a:effectLst>
                <a:latin typeface="Times New Roman" pitchFamily="18" charset="0"/>
                <a:cs typeface="Times New Roman" pitchFamily="18" charset="0"/>
              </a:rPr>
              <a:t>TRADEMARK</a:t>
            </a:r>
            <a:endParaRPr lang="en-AU"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72404" name="Line 20"/>
          <p:cNvSpPr>
            <a:spLocks noChangeShapeType="1"/>
          </p:cNvSpPr>
          <p:nvPr/>
        </p:nvSpPr>
        <p:spPr bwMode="auto">
          <a:xfrm>
            <a:off x="2286000" y="4343400"/>
            <a:ext cx="0" cy="1524000"/>
          </a:xfrm>
          <a:prstGeom prst="line">
            <a:avLst/>
          </a:prstGeom>
          <a:noFill/>
          <a:ln w="9525">
            <a:solidFill>
              <a:schemeClr val="tx1"/>
            </a:solidFill>
            <a:round/>
            <a:headEnd/>
            <a:tailEnd type="triangle" w="med" len="med"/>
          </a:ln>
          <a:effectLst/>
        </p:spPr>
        <p:txBody>
          <a:bodyPr/>
          <a:lstStyle/>
          <a:p>
            <a:endParaRPr lang="en-IN"/>
          </a:p>
        </p:txBody>
      </p:sp>
      <p:sp>
        <p:nvSpPr>
          <p:cNvPr id="272405" name="Line 21"/>
          <p:cNvSpPr>
            <a:spLocks noChangeShapeType="1"/>
          </p:cNvSpPr>
          <p:nvPr/>
        </p:nvSpPr>
        <p:spPr bwMode="auto">
          <a:xfrm>
            <a:off x="5867400" y="4343400"/>
            <a:ext cx="0" cy="1524000"/>
          </a:xfrm>
          <a:prstGeom prst="line">
            <a:avLst/>
          </a:prstGeom>
          <a:noFill/>
          <a:ln w="9525">
            <a:solidFill>
              <a:schemeClr val="tx1"/>
            </a:solidFill>
            <a:round/>
            <a:headEnd/>
            <a:tailEnd type="triangle" w="med" len="med"/>
          </a:ln>
          <a:effectLst/>
        </p:spPr>
        <p:txBody>
          <a:bodyPr/>
          <a:lstStyle/>
          <a:p>
            <a:endParaRPr lang="en-IN"/>
          </a:p>
        </p:txBody>
      </p:sp>
      <p:sp>
        <p:nvSpPr>
          <p:cNvPr id="272406" name="Rectangle 22"/>
          <p:cNvSpPr>
            <a:spLocks noChangeArrowheads="1"/>
          </p:cNvSpPr>
          <p:nvPr/>
        </p:nvSpPr>
        <p:spPr bwMode="auto">
          <a:xfrm>
            <a:off x="228600" y="5867400"/>
            <a:ext cx="4038600" cy="609600"/>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pPr algn="ctr"/>
            <a:r>
              <a:rPr lang="en-US" sz="2400" dirty="0">
                <a:solidFill>
                  <a:srgbClr val="7030A0"/>
                </a:solidFill>
                <a:latin typeface="Times New Roman" pitchFamily="18" charset="0"/>
                <a:cs typeface="Times New Roman" pitchFamily="18" charset="0"/>
              </a:rPr>
              <a:t>PLANT BREEDER’S RIGHTS</a:t>
            </a:r>
            <a:endParaRPr lang="en-AU" sz="2400" dirty="0">
              <a:solidFill>
                <a:srgbClr val="7030A0"/>
              </a:solidFill>
              <a:latin typeface="Times New Roman" pitchFamily="18" charset="0"/>
              <a:cs typeface="Times New Roman" pitchFamily="18" charset="0"/>
            </a:endParaRPr>
          </a:p>
        </p:txBody>
      </p:sp>
      <p:sp>
        <p:nvSpPr>
          <p:cNvPr id="272407" name="Rectangle 23"/>
          <p:cNvSpPr>
            <a:spLocks noChangeArrowheads="1"/>
          </p:cNvSpPr>
          <p:nvPr/>
        </p:nvSpPr>
        <p:spPr bwMode="auto">
          <a:xfrm>
            <a:off x="4343400" y="5867400"/>
            <a:ext cx="4572000" cy="609600"/>
          </a:xfrm>
          <a:prstGeom prst="rect">
            <a:avLst/>
          </a:prstGeom>
          <a:solidFill>
            <a:schemeClr val="accent4">
              <a:lumMod val="20000"/>
              <a:lumOff val="80000"/>
            </a:schemeClr>
          </a:solidFill>
          <a:ln w="9525">
            <a:solidFill>
              <a:schemeClr val="tx1"/>
            </a:solidFill>
            <a:miter lim="800000"/>
            <a:headEnd/>
            <a:tailEnd/>
          </a:ln>
          <a:effectLst/>
        </p:spPr>
        <p:txBody>
          <a:bodyPr wrap="none" anchor="ctr"/>
          <a:lstStyle/>
          <a:p>
            <a:pPr algn="ctr"/>
            <a:r>
              <a:rPr lang="en-US" sz="2400" dirty="0">
                <a:solidFill>
                  <a:srgbClr val="7030A0"/>
                </a:solidFill>
                <a:latin typeface="Times New Roman" pitchFamily="18" charset="0"/>
                <a:cs typeface="Times New Roman" pitchFamily="18" charset="0"/>
              </a:rPr>
              <a:t>GEOGRAPHICAL INDICATIONS</a:t>
            </a:r>
            <a:endParaRPr lang="en-AU" sz="2400" dirty="0">
              <a:solidFill>
                <a:srgbClr val="7030A0"/>
              </a:solidFill>
              <a:latin typeface="Times New Roman" pitchFamily="18" charset="0"/>
              <a:cs typeface="Times New Roman" pitchFamily="18" charset="0"/>
            </a:endParaRPr>
          </a:p>
        </p:txBody>
      </p:sp>
      <p:sp>
        <p:nvSpPr>
          <p:cNvPr id="25" name="Slide Number Placeholder 24"/>
          <p:cNvSpPr>
            <a:spLocks noGrp="1"/>
          </p:cNvSpPr>
          <p:nvPr>
            <p:ph type="sldNum" sz="quarter" idx="12"/>
          </p:nvPr>
        </p:nvSpPr>
        <p:spPr/>
        <p:txBody>
          <a:bodyPr/>
          <a:lstStyle/>
          <a:p>
            <a:pPr>
              <a:defRPr/>
            </a:pPr>
            <a:fld id="{79AB3C7F-1399-425B-A461-69AF9B44F9E9}" type="slidenum">
              <a:rPr lang="fr-FR" smtClean="0"/>
              <a:pPr>
                <a:defRPr/>
              </a:pPr>
              <a:t>3</a:t>
            </a:fld>
            <a:endParaRPr lang="fr-F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72386"/>
                                        </p:tgtEl>
                                        <p:attrNameLst>
                                          <p:attrName>style.visibility</p:attrName>
                                        </p:attrNameLst>
                                      </p:cBhvr>
                                      <p:to>
                                        <p:strVal val="visible"/>
                                      </p:to>
                                    </p:set>
                                    <p:animEffect transition="in" filter="checkerboard(across)">
                                      <p:cBhvr>
                                        <p:cTn id="7" dur="500"/>
                                        <p:tgtEl>
                                          <p:spTgt spid="272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187624" y="404664"/>
            <a:ext cx="6995120"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scene3d>
              <a:camera prst="orthographicFront"/>
              <a:lightRig rig="glow" dir="tl">
                <a:rot lat="0" lon="0" rev="5400000"/>
              </a:lightRig>
            </a:scene3d>
            <a:sp3d contourW="12700">
              <a:bevelT w="25400" h="25400"/>
              <a:contourClr>
                <a:schemeClr val="accent6">
                  <a:shade val="73000"/>
                </a:schemeClr>
              </a:contourClr>
            </a:sp3d>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400" b="1" i="0" strike="noStrike" kern="1200" normalizeH="0" baseline="0" noProof="0" dirty="0" smtClean="0">
                <a:ln w="11430"/>
                <a:solidFill>
                  <a:schemeClr val="bg2">
                    <a:lumMod val="25000"/>
                  </a:schemeClr>
                </a:solidFill>
                <a:effectLst>
                  <a:outerShdw blurRad="80000" dist="40000" dir="5040000" algn="tl">
                    <a:srgbClr val="000000">
                      <a:alpha val="30000"/>
                    </a:srgbClr>
                  </a:outerShdw>
                </a:effectLst>
                <a:uLnTx/>
                <a:uFillTx/>
                <a:latin typeface="+mj-lt"/>
                <a:ea typeface="+mj-ea"/>
                <a:cs typeface="+mj-cs"/>
              </a:rPr>
              <a:t>Intellectual Property</a:t>
            </a:r>
            <a:r>
              <a:rPr kumimoji="0" lang="en-US" sz="4400" b="1" i="0" strike="noStrike" kern="1200" normalizeH="0" noProof="0" dirty="0" smtClean="0">
                <a:ln w="11430"/>
                <a:solidFill>
                  <a:schemeClr val="bg2">
                    <a:lumMod val="25000"/>
                  </a:schemeClr>
                </a:solidFill>
                <a:effectLst>
                  <a:outerShdw blurRad="80000" dist="40000" dir="5040000" algn="tl">
                    <a:srgbClr val="000000">
                      <a:alpha val="30000"/>
                    </a:srgbClr>
                  </a:outerShdw>
                </a:effectLst>
                <a:uLnTx/>
                <a:uFillTx/>
                <a:latin typeface="+mj-lt"/>
                <a:ea typeface="+mj-ea"/>
                <a:cs typeface="+mj-cs"/>
              </a:rPr>
              <a:t> Rights</a:t>
            </a:r>
            <a:endParaRPr kumimoji="0" lang="en-US" sz="4400" b="1" i="0" strike="noStrike" kern="1200" normalizeH="0" baseline="0" noProof="0" dirty="0" smtClean="0">
              <a:ln w="11430"/>
              <a:solidFill>
                <a:schemeClr val="bg2">
                  <a:lumMod val="25000"/>
                </a:schemeClr>
              </a:solidFill>
              <a:effectLst>
                <a:outerShdw blurRad="80000" dist="40000" dir="5040000" algn="tl">
                  <a:srgbClr val="000000">
                    <a:alpha val="30000"/>
                  </a:srgbClr>
                </a:outerShdw>
              </a:effectLst>
              <a:uLnTx/>
              <a:uFillTx/>
              <a:latin typeface="+mj-lt"/>
              <a:ea typeface="+mj-ea"/>
              <a:cs typeface="+mj-cs"/>
            </a:endParaRPr>
          </a:p>
        </p:txBody>
      </p:sp>
      <p:sp>
        <p:nvSpPr>
          <p:cNvPr id="10" name="Rectangle 3"/>
          <p:cNvSpPr txBox="1">
            <a:spLocks noChangeArrowheads="1"/>
          </p:cNvSpPr>
          <p:nvPr/>
        </p:nvSpPr>
        <p:spPr bwMode="auto">
          <a:xfrm>
            <a:off x="467544" y="1700808"/>
            <a:ext cx="82296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2400" dirty="0" smtClean="0"/>
              <a:t>Four main types of IPR:</a:t>
            </a:r>
          </a:p>
          <a:p>
            <a:pPr>
              <a:defRPr/>
            </a:pPr>
            <a:endParaRPr lang="en-US" sz="2400" dirty="0" smtClean="0"/>
          </a:p>
          <a:p>
            <a:pPr lvl="1">
              <a:buFont typeface="Arial" pitchFamily="34" charset="0"/>
              <a:buChar char="•"/>
              <a:defRPr/>
            </a:pPr>
            <a:r>
              <a:rPr lang="en-US" sz="2400" dirty="0" smtClean="0"/>
              <a:t>   Patents</a:t>
            </a:r>
          </a:p>
          <a:p>
            <a:pPr lvl="1">
              <a:buFont typeface="Arial" pitchFamily="34" charset="0"/>
              <a:buChar char="•"/>
              <a:defRPr/>
            </a:pPr>
            <a:r>
              <a:rPr lang="en-US" sz="2400" dirty="0" smtClean="0"/>
              <a:t>   Trade marks</a:t>
            </a:r>
          </a:p>
          <a:p>
            <a:pPr lvl="1">
              <a:buFont typeface="Arial" pitchFamily="34" charset="0"/>
              <a:buChar char="•"/>
              <a:defRPr/>
            </a:pPr>
            <a:r>
              <a:rPr lang="en-US" sz="2400" dirty="0" smtClean="0"/>
              <a:t>   Design Registration</a:t>
            </a:r>
          </a:p>
          <a:p>
            <a:pPr lvl="1">
              <a:buFont typeface="Arial" pitchFamily="34" charset="0"/>
              <a:buChar char="•"/>
              <a:defRPr/>
            </a:pPr>
            <a:r>
              <a:rPr lang="en-US" sz="2400" dirty="0" smtClean="0"/>
              <a:t>   Copyright</a:t>
            </a:r>
            <a:endParaRPr lang="en-US" sz="2400" dirty="0"/>
          </a:p>
        </p:txBody>
      </p:sp>
      <p:sp>
        <p:nvSpPr>
          <p:cNvPr id="5" name="Slide Number Placeholder 4"/>
          <p:cNvSpPr>
            <a:spLocks noGrp="1"/>
          </p:cNvSpPr>
          <p:nvPr>
            <p:ph type="sldNum" sz="quarter" idx="12"/>
          </p:nvPr>
        </p:nvSpPr>
        <p:spPr/>
        <p:txBody>
          <a:bodyPr/>
          <a:lstStyle/>
          <a:p>
            <a:pPr>
              <a:defRPr/>
            </a:pPr>
            <a:fld id="{D7E06C30-71D3-457B-A8D9-545BE19DB6E8}" type="slidenum">
              <a:rPr lang="fr-FR" smtClean="0"/>
              <a:pPr>
                <a:defRPr/>
              </a:pPr>
              <a:t>4</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down)">
                                      <p:cBhvr>
                                        <p:cTn id="7" dur="500"/>
                                        <p:tgtEl>
                                          <p:spTgt spid="9"/>
                                        </p:tgtEl>
                                      </p:cBhvr>
                                    </p:animEffect>
                                  </p:childTnLst>
                                </p:cTn>
                              </p:par>
                              <p:par>
                                <p:cTn id="8" presetID="5" presetClass="entr" presetSubtype="5"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835696" y="332656"/>
            <a:ext cx="584299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400" b="1" i="0" strike="noStrike" kern="1200" normalizeH="0" baseline="0" noProof="0" dirty="0" smtClean="0">
                <a:ln w="19050">
                  <a:solidFill>
                    <a:schemeClr val="tx2">
                      <a:tint val="1000"/>
                    </a:schemeClr>
                  </a:solidFill>
                  <a:prstDash val="solid"/>
                </a:ln>
                <a:solidFill>
                  <a:srgbClr val="C00000"/>
                </a:solidFill>
                <a:effectLst>
                  <a:outerShdw blurRad="50000" dist="50800" dir="7500000" algn="tl">
                    <a:srgbClr val="000000">
                      <a:shade val="5000"/>
                      <a:alpha val="35000"/>
                    </a:srgbClr>
                  </a:outerShdw>
                </a:effectLst>
                <a:uLnTx/>
                <a:uFillTx/>
                <a:latin typeface="+mj-lt"/>
                <a:ea typeface="+mj-ea"/>
                <a:cs typeface="+mj-cs"/>
              </a:rPr>
              <a:t>Patent</a:t>
            </a:r>
          </a:p>
        </p:txBody>
      </p:sp>
      <p:sp>
        <p:nvSpPr>
          <p:cNvPr id="10" name="Rectangle 3"/>
          <p:cNvSpPr txBox="1">
            <a:spLocks noChangeArrowheads="1"/>
          </p:cNvSpPr>
          <p:nvPr/>
        </p:nvSpPr>
        <p:spPr bwMode="auto">
          <a:xfrm>
            <a:off x="323528" y="1340768"/>
            <a:ext cx="8373616" cy="55172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r>
              <a:rPr lang="en-US" sz="2400" dirty="0" smtClean="0"/>
              <a:t>The word “Patent”  comes from the Latin word “</a:t>
            </a:r>
            <a:r>
              <a:rPr lang="en-US" sz="2400" dirty="0" err="1" smtClean="0"/>
              <a:t>litterae</a:t>
            </a:r>
            <a:r>
              <a:rPr lang="en-US" sz="2400" dirty="0" smtClean="0"/>
              <a:t> </a:t>
            </a:r>
            <a:r>
              <a:rPr lang="en-US" sz="2400" dirty="0" err="1" smtClean="0"/>
              <a:t>patentes</a:t>
            </a:r>
            <a:r>
              <a:rPr lang="en-US" sz="2400" dirty="0" smtClean="0"/>
              <a:t>”,  meaning an open letter.</a:t>
            </a:r>
            <a:endParaRPr lang="en-US" sz="2400" dirty="0" smtClean="0">
              <a:latin typeface="Arial Black" pitchFamily="34" charset="0"/>
            </a:endParaRPr>
          </a:p>
          <a:p>
            <a:pPr algn="just" defTabSz="915988">
              <a:spcBef>
                <a:spcPct val="50000"/>
              </a:spcBef>
              <a:buNone/>
            </a:pPr>
            <a:r>
              <a:rPr lang="en-US" sz="2400" dirty="0" smtClean="0"/>
              <a:t>A Patent is a statutory Instrument of monopoly granted as a reward  :</a:t>
            </a:r>
          </a:p>
          <a:p>
            <a:pPr algn="just" defTabSz="915988">
              <a:spcBef>
                <a:spcPct val="50000"/>
              </a:spcBef>
            </a:pPr>
            <a:r>
              <a:rPr lang="en-US" sz="2400" dirty="0" smtClean="0"/>
              <a:t>     -  For An Invention</a:t>
            </a:r>
          </a:p>
          <a:p>
            <a:pPr algn="just" defTabSz="915988">
              <a:spcBef>
                <a:spcPct val="50000"/>
              </a:spcBef>
            </a:pPr>
            <a:r>
              <a:rPr lang="en-US" sz="2400" dirty="0" smtClean="0"/>
              <a:t>     -  By The Government</a:t>
            </a:r>
          </a:p>
          <a:p>
            <a:pPr algn="just" defTabSz="915988">
              <a:spcBef>
                <a:spcPct val="50000"/>
              </a:spcBef>
            </a:pPr>
            <a:r>
              <a:rPr lang="en-US" sz="2400" dirty="0" smtClean="0"/>
              <a:t>     -  To The Inventor</a:t>
            </a:r>
          </a:p>
          <a:p>
            <a:pPr algn="just" defTabSz="915988">
              <a:spcBef>
                <a:spcPct val="50000"/>
              </a:spcBef>
            </a:pPr>
            <a:r>
              <a:rPr lang="en-US" sz="2400" dirty="0" smtClean="0"/>
              <a:t>     -  For A limited Period.</a:t>
            </a:r>
          </a:p>
          <a:p>
            <a:pPr algn="just" defTabSz="915988">
              <a:spcBef>
                <a:spcPct val="50000"/>
              </a:spcBef>
            </a:pPr>
            <a:endParaRPr lang="en-US" sz="2400" dirty="0" smtClean="0"/>
          </a:p>
          <a:p>
            <a:pPr algn="just" defTabSz="915988">
              <a:spcBef>
                <a:spcPct val="50000"/>
              </a:spcBef>
            </a:pPr>
            <a:r>
              <a:rPr lang="en-US" sz="2400" dirty="0" smtClean="0"/>
              <a:t>In return for which the inventor has to disclose to the Public, his invention in its entirety.</a:t>
            </a:r>
          </a:p>
          <a:p>
            <a:pPr algn="just" defTabSz="915988">
              <a:spcBef>
                <a:spcPct val="50000"/>
              </a:spcBef>
            </a:pPr>
            <a:endParaRPr lang="en-US" sz="2400" dirty="0" smtClean="0"/>
          </a:p>
        </p:txBody>
      </p:sp>
      <p:sp>
        <p:nvSpPr>
          <p:cNvPr id="5" name="Slide Number Placeholder 4"/>
          <p:cNvSpPr>
            <a:spLocks noGrp="1"/>
          </p:cNvSpPr>
          <p:nvPr>
            <p:ph type="sldNum" sz="quarter" idx="12"/>
          </p:nvPr>
        </p:nvSpPr>
        <p:spPr/>
        <p:txBody>
          <a:bodyPr/>
          <a:lstStyle/>
          <a:p>
            <a:pPr>
              <a:defRPr/>
            </a:pPr>
            <a:fld id="{D7E06C30-71D3-457B-A8D9-545BE19DB6E8}" type="slidenum">
              <a:rPr lang="fr-FR" smtClean="0"/>
              <a:pPr>
                <a:defRPr/>
              </a:pPr>
              <a:t>5</a:t>
            </a:fld>
            <a:endParaRPr lang="fr-F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835696" y="332656"/>
            <a:ext cx="584299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a:defRPr/>
            </a:pPr>
            <a:r>
              <a:rPr lang="en-US" sz="4400" b="1" dirty="0" smtClean="0">
                <a:ln w="19050">
                  <a:solidFill>
                    <a:schemeClr val="tx2">
                      <a:tint val="1000"/>
                    </a:schemeClr>
                  </a:solidFill>
                  <a:prstDash val="solid"/>
                </a:ln>
                <a:solidFill>
                  <a:srgbClr val="C00000"/>
                </a:solidFill>
                <a:effectLst>
                  <a:outerShdw blurRad="50000" dist="50800" dir="7500000" algn="tl">
                    <a:srgbClr val="000000">
                      <a:shade val="5000"/>
                      <a:alpha val="35000"/>
                    </a:srgbClr>
                  </a:outerShdw>
                </a:effectLst>
              </a:rPr>
              <a:t>Patent</a:t>
            </a:r>
          </a:p>
        </p:txBody>
      </p:sp>
      <p:sp>
        <p:nvSpPr>
          <p:cNvPr id="10" name="Rectangle 3"/>
          <p:cNvSpPr txBox="1">
            <a:spLocks noChangeArrowheads="1"/>
          </p:cNvSpPr>
          <p:nvPr/>
        </p:nvSpPr>
        <p:spPr bwMode="auto">
          <a:xfrm>
            <a:off x="467544" y="1700808"/>
            <a:ext cx="8229600" cy="47525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80000"/>
              </a:lnSpc>
              <a:spcBef>
                <a:spcPct val="20000"/>
              </a:spcBef>
              <a:spcAft>
                <a:spcPct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Protection for new product, process, apparatus and uses </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Char char="•"/>
              <a:tabLst/>
              <a:defRPr/>
            </a:pPr>
            <a:r>
              <a:rPr lang="en-US" sz="2400" dirty="0" smtClean="0">
                <a:latin typeface="+mn-lt"/>
              </a:rPr>
              <a:t>P</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rovides  patentee right to prevent anyone making, using, selling or importing the invention for 20 years.</a:t>
            </a:r>
          </a:p>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Pharmaceuticals and plant products—patent extensions for up to 5 years = 25 years of patent life for original drugs</a:t>
            </a:r>
          </a:p>
          <a:p>
            <a:pPr marL="342900" marR="0" lvl="0" indent="-342900" algn="l" defTabSz="914400" rtl="0" eaLnBrk="1" fontAlgn="base" latinLnBrk="0" hangingPunct="1">
              <a:lnSpc>
                <a:spcPct val="80000"/>
              </a:lnSpc>
              <a:spcBef>
                <a:spcPct val="20000"/>
              </a:spcBef>
              <a:spcAft>
                <a:spcPct val="0"/>
              </a:spcAft>
              <a:buClrTx/>
              <a:buSzTx/>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lnSpc>
                <a:spcPct val="80000"/>
              </a:lnSpc>
              <a:spcBef>
                <a:spcPct val="20000"/>
              </a:spcBef>
              <a:buFont typeface="Arial" pitchFamily="34" charset="0"/>
              <a:buChar char="•"/>
              <a:defRPr/>
            </a:pPr>
            <a:r>
              <a:rPr lang="en-IN" sz="2400" dirty="0" smtClean="0">
                <a:latin typeface="+mn-lt"/>
              </a:rPr>
              <a:t>In many countries, scientific theories, mathematical methods, plant or animal varieties, discoveries of natural substances, commercial methods, or methods for medical treatment (as opposed to medical products) are not considered to be patentable subject matter.</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a:defRPr/>
            </a:pPr>
            <a:fld id="{D7E06C30-71D3-457B-A8D9-545BE19DB6E8}" type="slidenum">
              <a:rPr lang="fr-FR" smtClean="0"/>
              <a:pPr>
                <a:defRPr/>
              </a:pPr>
              <a:t>6</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41313" y="152400"/>
            <a:ext cx="8802687" cy="679450"/>
          </a:xfrm>
          <a:prstGeom prst="rect">
            <a:avLst/>
          </a:prstGeom>
          <a:noFill/>
          <a:ln w="9525">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STAGES - FILING TO  GRANT OF PATENT</a:t>
            </a:r>
            <a:endParaRPr kumimoji="0" lang="en-US" sz="3600" b="0" i="0" u="none" strike="noStrike" kern="1200" cap="none" spc="0" normalizeH="0" baseline="30000" noProof="0" dirty="0" smtClean="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6" name="Rectangle 19"/>
          <p:cNvSpPr>
            <a:spLocks noChangeArrowheads="1"/>
          </p:cNvSpPr>
          <p:nvPr/>
        </p:nvSpPr>
        <p:spPr bwMode="auto">
          <a:xfrm>
            <a:off x="778768" y="1124744"/>
            <a:ext cx="3505200" cy="457200"/>
          </a:xfrm>
          <a:prstGeom prst="rect">
            <a:avLst/>
          </a:prstGeom>
          <a:noFill/>
          <a:ln w="9525">
            <a:solidFill>
              <a:schemeClr val="tx1"/>
            </a:solidFill>
            <a:miter lim="800000"/>
            <a:headEnd/>
            <a:tailEnd/>
          </a:ln>
        </p:spPr>
        <p:txBody>
          <a:bodyPr wrap="none" anchor="ctr"/>
          <a:lstStyle/>
          <a:p>
            <a:pPr algn="ctr"/>
            <a:r>
              <a:rPr lang="en-US" sz="1600" b="1" dirty="0">
                <a:latin typeface="Times New Roman" pitchFamily="18" charset="0"/>
              </a:rPr>
              <a:t>FILING OF APPLICATION</a:t>
            </a:r>
          </a:p>
          <a:p>
            <a:pPr algn="ctr"/>
            <a:r>
              <a:rPr lang="en-US" sz="1600" b="1" dirty="0">
                <a:latin typeface="Times New Roman" pitchFamily="18" charset="0"/>
              </a:rPr>
              <a:t>PROVNL. / COMPLETE</a:t>
            </a:r>
          </a:p>
        </p:txBody>
      </p:sp>
      <p:sp>
        <p:nvSpPr>
          <p:cNvPr id="7" name="Rectangle 3"/>
          <p:cNvSpPr>
            <a:spLocks noChangeArrowheads="1"/>
          </p:cNvSpPr>
          <p:nvPr/>
        </p:nvSpPr>
        <p:spPr bwMode="auto">
          <a:xfrm>
            <a:off x="778768" y="1844824"/>
            <a:ext cx="3505200" cy="457200"/>
          </a:xfrm>
          <a:prstGeom prst="rect">
            <a:avLst/>
          </a:prstGeom>
          <a:noFill/>
          <a:ln w="9525">
            <a:solidFill>
              <a:schemeClr val="tx1"/>
            </a:solidFill>
            <a:miter lim="800000"/>
            <a:headEnd/>
            <a:tailEnd/>
          </a:ln>
        </p:spPr>
        <p:txBody>
          <a:bodyPr wrap="none" anchor="ctr"/>
          <a:lstStyle/>
          <a:p>
            <a:pPr algn="ctr"/>
            <a:r>
              <a:rPr lang="en-US" sz="1600" b="1" dirty="0">
                <a:latin typeface="Times New Roman" pitchFamily="18" charset="0"/>
              </a:rPr>
              <a:t>PUBLICATION OF APPLICATION</a:t>
            </a:r>
          </a:p>
        </p:txBody>
      </p:sp>
      <p:sp>
        <p:nvSpPr>
          <p:cNvPr id="8" name="Text Box 17"/>
          <p:cNvSpPr txBox="1">
            <a:spLocks noChangeArrowheads="1"/>
          </p:cNvSpPr>
          <p:nvPr/>
        </p:nvSpPr>
        <p:spPr bwMode="auto">
          <a:xfrm>
            <a:off x="4284663" y="1219200"/>
            <a:ext cx="3244606" cy="307777"/>
          </a:xfrm>
          <a:prstGeom prst="rect">
            <a:avLst/>
          </a:prstGeom>
          <a:noFill/>
          <a:ln w="9525">
            <a:noFill/>
            <a:miter lim="800000"/>
            <a:headEnd/>
            <a:tailEnd/>
          </a:ln>
        </p:spPr>
        <p:txBody>
          <a:bodyPr wrap="none">
            <a:spAutoFit/>
          </a:bodyPr>
          <a:lstStyle/>
          <a:p>
            <a:pPr>
              <a:buFontTx/>
              <a:buChar char="•"/>
            </a:pPr>
            <a:r>
              <a:rPr lang="en-US" sz="1400" b="1" dirty="0" smtClean="0">
                <a:solidFill>
                  <a:srgbClr val="C00000"/>
                </a:solidFill>
                <a:latin typeface="Times New Roman" pitchFamily="18" charset="0"/>
              </a:rPr>
              <a:t>. </a:t>
            </a:r>
            <a:r>
              <a:rPr lang="en-US" sz="1400" b="1" dirty="0">
                <a:solidFill>
                  <a:srgbClr val="C00000"/>
                </a:solidFill>
                <a:latin typeface="Times New Roman" pitchFamily="18" charset="0"/>
              </a:rPr>
              <a:t>TO BE FILED WITHIN 12MONTHS</a:t>
            </a:r>
          </a:p>
        </p:txBody>
      </p:sp>
      <p:sp>
        <p:nvSpPr>
          <p:cNvPr id="9" name="Line 10"/>
          <p:cNvSpPr>
            <a:spLocks noChangeShapeType="1"/>
          </p:cNvSpPr>
          <p:nvPr/>
        </p:nvSpPr>
        <p:spPr bwMode="auto">
          <a:xfrm>
            <a:off x="2483768" y="1600200"/>
            <a:ext cx="0" cy="209550"/>
          </a:xfrm>
          <a:prstGeom prst="line">
            <a:avLst/>
          </a:prstGeom>
          <a:noFill/>
          <a:ln w="9525">
            <a:solidFill>
              <a:schemeClr val="tx1"/>
            </a:solidFill>
            <a:miter lim="800000"/>
            <a:headEnd/>
            <a:tailEnd type="triangle" w="med" len="med"/>
          </a:ln>
        </p:spPr>
        <p:txBody>
          <a:bodyPr wrap="none"/>
          <a:lstStyle/>
          <a:p>
            <a:endParaRPr lang="en-US"/>
          </a:p>
        </p:txBody>
      </p:sp>
      <p:sp>
        <p:nvSpPr>
          <p:cNvPr id="10" name="Line 10"/>
          <p:cNvSpPr>
            <a:spLocks noChangeShapeType="1"/>
          </p:cNvSpPr>
          <p:nvPr/>
        </p:nvSpPr>
        <p:spPr bwMode="auto">
          <a:xfrm>
            <a:off x="2483768" y="2348880"/>
            <a:ext cx="0" cy="209550"/>
          </a:xfrm>
          <a:prstGeom prst="line">
            <a:avLst/>
          </a:prstGeom>
          <a:noFill/>
          <a:ln w="9525">
            <a:solidFill>
              <a:schemeClr val="tx1"/>
            </a:solidFill>
            <a:miter lim="800000"/>
            <a:headEnd/>
            <a:tailEnd type="triangle" w="med" len="med"/>
          </a:ln>
        </p:spPr>
        <p:txBody>
          <a:bodyPr wrap="none"/>
          <a:lstStyle/>
          <a:p>
            <a:endParaRPr lang="en-US"/>
          </a:p>
        </p:txBody>
      </p:sp>
      <p:sp>
        <p:nvSpPr>
          <p:cNvPr id="11" name="Text Box 14"/>
          <p:cNvSpPr txBox="1">
            <a:spLocks noChangeArrowheads="1"/>
          </p:cNvSpPr>
          <p:nvPr/>
        </p:nvSpPr>
        <p:spPr bwMode="auto">
          <a:xfrm>
            <a:off x="4495800" y="1981200"/>
            <a:ext cx="2560188" cy="276999"/>
          </a:xfrm>
          <a:prstGeom prst="rect">
            <a:avLst/>
          </a:prstGeom>
          <a:noFill/>
          <a:ln w="9525">
            <a:noFill/>
            <a:miter lim="800000"/>
            <a:headEnd/>
            <a:tailEnd/>
          </a:ln>
        </p:spPr>
        <p:txBody>
          <a:bodyPr wrap="none">
            <a:spAutoFit/>
          </a:bodyPr>
          <a:lstStyle/>
          <a:p>
            <a:pPr>
              <a:buFontTx/>
              <a:buChar char="•"/>
            </a:pPr>
            <a:r>
              <a:rPr lang="en-US" sz="1200" b="1" dirty="0" smtClean="0">
                <a:solidFill>
                  <a:srgbClr val="C00000"/>
                </a:solidFill>
                <a:latin typeface="Times New Roman" pitchFamily="18" charset="0"/>
              </a:rPr>
              <a:t> </a:t>
            </a:r>
            <a:r>
              <a:rPr lang="en-US" sz="1200" b="1" dirty="0">
                <a:solidFill>
                  <a:srgbClr val="C00000"/>
                </a:solidFill>
                <a:latin typeface="Times New Roman" pitchFamily="18" charset="0"/>
              </a:rPr>
              <a:t>AFTER 18 MONTHS FROM </a:t>
            </a:r>
            <a:r>
              <a:rPr lang="en-US" sz="1200" b="1" dirty="0" smtClean="0">
                <a:solidFill>
                  <a:srgbClr val="C00000"/>
                </a:solidFill>
                <a:latin typeface="Times New Roman" pitchFamily="18" charset="0"/>
              </a:rPr>
              <a:t> F.D</a:t>
            </a:r>
            <a:r>
              <a:rPr lang="en-US" sz="1200" b="1" dirty="0">
                <a:solidFill>
                  <a:srgbClr val="C00000"/>
                </a:solidFill>
                <a:latin typeface="Times New Roman" pitchFamily="18" charset="0"/>
              </a:rPr>
              <a:t>.</a:t>
            </a:r>
          </a:p>
        </p:txBody>
      </p:sp>
      <p:sp>
        <p:nvSpPr>
          <p:cNvPr id="12" name="Rectangle 4"/>
          <p:cNvSpPr>
            <a:spLocks noChangeArrowheads="1"/>
          </p:cNvSpPr>
          <p:nvPr/>
        </p:nvSpPr>
        <p:spPr bwMode="auto">
          <a:xfrm>
            <a:off x="778768" y="2636912"/>
            <a:ext cx="3505200" cy="457200"/>
          </a:xfrm>
          <a:prstGeom prst="rect">
            <a:avLst/>
          </a:prstGeom>
          <a:noFill/>
          <a:ln w="9525">
            <a:solidFill>
              <a:schemeClr val="tx1"/>
            </a:solidFill>
            <a:miter lim="800000"/>
            <a:headEnd/>
            <a:tailEnd/>
          </a:ln>
        </p:spPr>
        <p:txBody>
          <a:bodyPr wrap="none" anchor="ctr"/>
          <a:lstStyle/>
          <a:p>
            <a:pPr algn="ctr"/>
            <a:r>
              <a:rPr lang="en-US" sz="1600" b="1" dirty="0">
                <a:latin typeface="Times New Roman" pitchFamily="18" charset="0"/>
              </a:rPr>
              <a:t>REQUEST FOR EXAMINATION</a:t>
            </a:r>
          </a:p>
        </p:txBody>
      </p:sp>
      <p:sp>
        <p:nvSpPr>
          <p:cNvPr id="13" name="Rectangle 25"/>
          <p:cNvSpPr>
            <a:spLocks noChangeArrowheads="1"/>
          </p:cNvSpPr>
          <p:nvPr/>
        </p:nvSpPr>
        <p:spPr bwMode="auto">
          <a:xfrm>
            <a:off x="778768" y="3356992"/>
            <a:ext cx="3505200" cy="457200"/>
          </a:xfrm>
          <a:prstGeom prst="rect">
            <a:avLst/>
          </a:prstGeom>
          <a:noFill/>
          <a:ln w="9525">
            <a:solidFill>
              <a:schemeClr val="tx1"/>
            </a:solidFill>
            <a:miter lim="800000"/>
            <a:headEnd/>
            <a:tailEnd/>
          </a:ln>
        </p:spPr>
        <p:txBody>
          <a:bodyPr wrap="none" anchor="ctr"/>
          <a:lstStyle/>
          <a:p>
            <a:pPr algn="ctr"/>
            <a:r>
              <a:rPr lang="en-US" sz="1600" b="1" dirty="0">
                <a:latin typeface="Times New Roman" pitchFamily="18" charset="0"/>
              </a:rPr>
              <a:t>EXAMINATION-ISSUE OF FER</a:t>
            </a:r>
          </a:p>
        </p:txBody>
      </p:sp>
      <p:sp>
        <p:nvSpPr>
          <p:cNvPr id="14" name="Line 10"/>
          <p:cNvSpPr>
            <a:spLocks noChangeShapeType="1"/>
          </p:cNvSpPr>
          <p:nvPr/>
        </p:nvSpPr>
        <p:spPr bwMode="auto">
          <a:xfrm>
            <a:off x="2483768" y="3140968"/>
            <a:ext cx="0" cy="209550"/>
          </a:xfrm>
          <a:prstGeom prst="line">
            <a:avLst/>
          </a:prstGeom>
          <a:noFill/>
          <a:ln w="9525">
            <a:solidFill>
              <a:schemeClr val="tx1"/>
            </a:solidFill>
            <a:miter lim="800000"/>
            <a:headEnd/>
            <a:tailEnd type="triangle" w="med" len="med"/>
          </a:ln>
        </p:spPr>
        <p:txBody>
          <a:bodyPr wrap="none"/>
          <a:lstStyle/>
          <a:p>
            <a:endParaRPr lang="en-US"/>
          </a:p>
        </p:txBody>
      </p:sp>
      <p:sp>
        <p:nvSpPr>
          <p:cNvPr id="17" name="Line 26"/>
          <p:cNvSpPr>
            <a:spLocks noChangeShapeType="1"/>
          </p:cNvSpPr>
          <p:nvPr/>
        </p:nvSpPr>
        <p:spPr bwMode="auto">
          <a:xfrm>
            <a:off x="4355976" y="3573016"/>
            <a:ext cx="762000" cy="0"/>
          </a:xfrm>
          <a:prstGeom prst="line">
            <a:avLst/>
          </a:prstGeom>
          <a:noFill/>
          <a:ln w="9525">
            <a:solidFill>
              <a:schemeClr val="tx1"/>
            </a:solidFill>
            <a:round/>
            <a:headEnd type="triangle" w="med" len="med"/>
            <a:tailEnd/>
          </a:ln>
        </p:spPr>
        <p:txBody>
          <a:bodyPr/>
          <a:lstStyle/>
          <a:p>
            <a:endParaRPr lang="en-US"/>
          </a:p>
        </p:txBody>
      </p:sp>
      <p:sp>
        <p:nvSpPr>
          <p:cNvPr id="18" name="Rectangle 6"/>
          <p:cNvSpPr>
            <a:spLocks noChangeArrowheads="1"/>
          </p:cNvSpPr>
          <p:nvPr/>
        </p:nvSpPr>
        <p:spPr bwMode="auto">
          <a:xfrm>
            <a:off x="5292080" y="3356992"/>
            <a:ext cx="3124200" cy="457200"/>
          </a:xfrm>
          <a:prstGeom prst="rect">
            <a:avLst/>
          </a:prstGeom>
          <a:noFill/>
          <a:ln w="9525">
            <a:solidFill>
              <a:schemeClr val="tx1"/>
            </a:solidFill>
            <a:miter lim="800000"/>
            <a:headEnd/>
            <a:tailEnd/>
          </a:ln>
        </p:spPr>
        <p:txBody>
          <a:bodyPr wrap="none" anchor="ctr"/>
          <a:lstStyle/>
          <a:p>
            <a:pPr algn="ctr"/>
            <a:r>
              <a:rPr lang="en-US" sz="1600" b="1" dirty="0">
                <a:latin typeface="Times New Roman" pitchFamily="18" charset="0"/>
              </a:rPr>
              <a:t>3rd Party Representation</a:t>
            </a:r>
          </a:p>
        </p:txBody>
      </p:sp>
      <p:sp>
        <p:nvSpPr>
          <p:cNvPr id="19" name="Line 10"/>
          <p:cNvSpPr>
            <a:spLocks noChangeShapeType="1"/>
          </p:cNvSpPr>
          <p:nvPr/>
        </p:nvSpPr>
        <p:spPr bwMode="auto">
          <a:xfrm>
            <a:off x="2483768" y="3861048"/>
            <a:ext cx="0" cy="209550"/>
          </a:xfrm>
          <a:prstGeom prst="line">
            <a:avLst/>
          </a:prstGeom>
          <a:noFill/>
          <a:ln w="9525">
            <a:solidFill>
              <a:schemeClr val="tx1"/>
            </a:solidFill>
            <a:miter lim="800000"/>
            <a:headEnd/>
            <a:tailEnd type="triangle" w="med" len="med"/>
          </a:ln>
        </p:spPr>
        <p:txBody>
          <a:bodyPr wrap="none"/>
          <a:lstStyle/>
          <a:p>
            <a:endParaRPr lang="en-US"/>
          </a:p>
        </p:txBody>
      </p:sp>
      <p:sp>
        <p:nvSpPr>
          <p:cNvPr id="20" name="Rectangle 5"/>
          <p:cNvSpPr>
            <a:spLocks noChangeArrowheads="1"/>
          </p:cNvSpPr>
          <p:nvPr/>
        </p:nvSpPr>
        <p:spPr bwMode="auto">
          <a:xfrm>
            <a:off x="778768" y="4221088"/>
            <a:ext cx="3505200" cy="457200"/>
          </a:xfrm>
          <a:prstGeom prst="rect">
            <a:avLst/>
          </a:prstGeom>
          <a:noFill/>
          <a:ln w="9525">
            <a:solidFill>
              <a:schemeClr val="tx1"/>
            </a:solidFill>
            <a:miter lim="800000"/>
            <a:headEnd/>
            <a:tailEnd/>
          </a:ln>
        </p:spPr>
        <p:txBody>
          <a:bodyPr wrap="none" anchor="ctr"/>
          <a:lstStyle/>
          <a:p>
            <a:pPr algn="ctr"/>
            <a:r>
              <a:rPr lang="en-US" sz="2000" b="1" dirty="0">
                <a:effectLst>
                  <a:outerShdw blurRad="38100" dist="38100" dir="2700000" algn="tl">
                    <a:srgbClr val="000000">
                      <a:alpha val="43137"/>
                    </a:srgbClr>
                  </a:outerShdw>
                </a:effectLst>
                <a:latin typeface="Times New Roman" pitchFamily="18" charset="0"/>
              </a:rPr>
              <a:t>GRANT OF PATENT</a:t>
            </a:r>
          </a:p>
        </p:txBody>
      </p:sp>
      <p:sp>
        <p:nvSpPr>
          <p:cNvPr id="21" name="Text Box 16"/>
          <p:cNvSpPr txBox="1">
            <a:spLocks noChangeArrowheads="1"/>
          </p:cNvSpPr>
          <p:nvPr/>
        </p:nvSpPr>
        <p:spPr bwMode="auto">
          <a:xfrm>
            <a:off x="4765104" y="3933056"/>
            <a:ext cx="4343400" cy="457200"/>
          </a:xfrm>
          <a:prstGeom prst="rect">
            <a:avLst/>
          </a:prstGeom>
          <a:noFill/>
          <a:ln w="9525">
            <a:noFill/>
            <a:miter lim="800000"/>
            <a:headEnd/>
            <a:tailEnd/>
          </a:ln>
        </p:spPr>
        <p:txBody>
          <a:bodyPr>
            <a:spAutoFit/>
          </a:bodyPr>
          <a:lstStyle/>
          <a:p>
            <a:pPr>
              <a:buFontTx/>
              <a:buChar char="•"/>
            </a:pPr>
            <a:r>
              <a:rPr lang="en-US" sz="1200" b="1" dirty="0">
                <a:solidFill>
                  <a:srgbClr val="C00000"/>
                </a:solidFill>
                <a:latin typeface="Times New Roman" pitchFamily="18" charset="0"/>
              </a:rPr>
              <a:t> ALL OBJECTIONS TO BE COMPLIED    WITHIN 12 MONTHS</a:t>
            </a:r>
          </a:p>
        </p:txBody>
      </p:sp>
      <p:sp>
        <p:nvSpPr>
          <p:cNvPr id="22" name="Line 28"/>
          <p:cNvSpPr>
            <a:spLocks noChangeShapeType="1"/>
          </p:cNvSpPr>
          <p:nvPr/>
        </p:nvSpPr>
        <p:spPr bwMode="auto">
          <a:xfrm flipV="1">
            <a:off x="2578224" y="4038600"/>
            <a:ext cx="2209800" cy="0"/>
          </a:xfrm>
          <a:prstGeom prst="line">
            <a:avLst/>
          </a:prstGeom>
          <a:noFill/>
          <a:ln w="9525">
            <a:solidFill>
              <a:schemeClr val="tx1"/>
            </a:solidFill>
            <a:round/>
            <a:headEnd type="triangle" w="med" len="med"/>
            <a:tailEnd/>
          </a:ln>
        </p:spPr>
        <p:txBody>
          <a:bodyPr/>
          <a:lstStyle/>
          <a:p>
            <a:endParaRPr lang="en-US"/>
          </a:p>
        </p:txBody>
      </p:sp>
      <p:sp>
        <p:nvSpPr>
          <p:cNvPr id="23" name="Line 9"/>
          <p:cNvSpPr>
            <a:spLocks noChangeShapeType="1"/>
          </p:cNvSpPr>
          <p:nvPr/>
        </p:nvSpPr>
        <p:spPr bwMode="auto">
          <a:xfrm>
            <a:off x="2555776" y="4725144"/>
            <a:ext cx="0" cy="576064"/>
          </a:xfrm>
          <a:prstGeom prst="line">
            <a:avLst/>
          </a:prstGeom>
          <a:noFill/>
          <a:ln w="9525">
            <a:solidFill>
              <a:schemeClr val="tx1"/>
            </a:solidFill>
            <a:miter lim="800000"/>
            <a:headEnd/>
            <a:tailEnd/>
          </a:ln>
        </p:spPr>
        <p:txBody>
          <a:bodyPr wrap="none"/>
          <a:lstStyle/>
          <a:p>
            <a:endParaRPr lang="en-US"/>
          </a:p>
        </p:txBody>
      </p:sp>
      <p:sp>
        <p:nvSpPr>
          <p:cNvPr id="24" name="Rectangle 8"/>
          <p:cNvSpPr>
            <a:spLocks noChangeArrowheads="1"/>
          </p:cNvSpPr>
          <p:nvPr/>
        </p:nvSpPr>
        <p:spPr bwMode="auto">
          <a:xfrm>
            <a:off x="5411688" y="4653136"/>
            <a:ext cx="1752600" cy="457200"/>
          </a:xfrm>
          <a:prstGeom prst="rect">
            <a:avLst/>
          </a:prstGeom>
          <a:noFill/>
          <a:ln w="9525">
            <a:solidFill>
              <a:schemeClr val="tx1"/>
            </a:solidFill>
            <a:miter lim="800000"/>
            <a:headEnd/>
            <a:tailEnd/>
          </a:ln>
        </p:spPr>
        <p:txBody>
          <a:bodyPr wrap="none" anchor="ctr"/>
          <a:lstStyle/>
          <a:p>
            <a:pPr algn="ctr"/>
            <a:r>
              <a:rPr lang="en-US" sz="1600" b="1" dirty="0">
                <a:latin typeface="Times New Roman" pitchFamily="18" charset="0"/>
              </a:rPr>
              <a:t>OPPOSITION</a:t>
            </a:r>
          </a:p>
        </p:txBody>
      </p:sp>
      <p:sp>
        <p:nvSpPr>
          <p:cNvPr id="25" name="Line 20"/>
          <p:cNvSpPr>
            <a:spLocks noChangeShapeType="1"/>
          </p:cNvSpPr>
          <p:nvPr/>
        </p:nvSpPr>
        <p:spPr bwMode="auto">
          <a:xfrm>
            <a:off x="2641848" y="4941168"/>
            <a:ext cx="2362200" cy="0"/>
          </a:xfrm>
          <a:prstGeom prst="line">
            <a:avLst/>
          </a:prstGeom>
          <a:noFill/>
          <a:ln w="9525">
            <a:solidFill>
              <a:schemeClr val="tx1"/>
            </a:solidFill>
            <a:round/>
            <a:headEnd type="triangle" w="med" len="med"/>
            <a:tailEnd/>
          </a:ln>
        </p:spPr>
        <p:txBody>
          <a:bodyPr/>
          <a:lstStyle/>
          <a:p>
            <a:endParaRPr lang="en-US"/>
          </a:p>
        </p:txBody>
      </p:sp>
      <p:sp>
        <p:nvSpPr>
          <p:cNvPr id="27" name="Text Box 18"/>
          <p:cNvSpPr txBox="1">
            <a:spLocks noChangeArrowheads="1"/>
          </p:cNvSpPr>
          <p:nvPr/>
        </p:nvSpPr>
        <p:spPr bwMode="auto">
          <a:xfrm>
            <a:off x="2929061" y="5013176"/>
            <a:ext cx="1858963" cy="274638"/>
          </a:xfrm>
          <a:prstGeom prst="rect">
            <a:avLst/>
          </a:prstGeom>
          <a:noFill/>
          <a:ln w="9525">
            <a:noFill/>
            <a:miter lim="800000"/>
            <a:headEnd/>
            <a:tailEnd/>
          </a:ln>
        </p:spPr>
        <p:txBody>
          <a:bodyPr wrap="none">
            <a:spAutoFit/>
          </a:bodyPr>
          <a:lstStyle/>
          <a:p>
            <a:pPr>
              <a:buFontTx/>
              <a:buChar char="•"/>
            </a:pPr>
            <a:r>
              <a:rPr lang="en-US" sz="1200" b="1" dirty="0">
                <a:solidFill>
                  <a:srgbClr val="C00000"/>
                </a:solidFill>
                <a:latin typeface="Times New Roman" pitchFamily="18" charset="0"/>
              </a:rPr>
              <a:t> WITHIN  12  MONTHS</a:t>
            </a:r>
          </a:p>
        </p:txBody>
      </p:sp>
      <p:sp>
        <p:nvSpPr>
          <p:cNvPr id="28" name="Text Box 22"/>
          <p:cNvSpPr txBox="1">
            <a:spLocks noChangeArrowheads="1"/>
          </p:cNvSpPr>
          <p:nvPr/>
        </p:nvSpPr>
        <p:spPr bwMode="auto">
          <a:xfrm>
            <a:off x="1823864" y="5301208"/>
            <a:ext cx="1740024" cy="515938"/>
          </a:xfrm>
          <a:prstGeom prst="rect">
            <a:avLst/>
          </a:prstGeom>
          <a:noFill/>
          <a:ln w="9525">
            <a:solidFill>
              <a:schemeClr val="tx1"/>
            </a:solidFill>
            <a:miter lim="800000"/>
            <a:headEnd/>
            <a:tailEnd/>
          </a:ln>
        </p:spPr>
        <p:txBody>
          <a:bodyPr wrap="square">
            <a:spAutoFit/>
          </a:bodyPr>
          <a:lstStyle/>
          <a:p>
            <a:pPr algn="ctr">
              <a:lnSpc>
                <a:spcPct val="60000"/>
              </a:lnSpc>
              <a:spcBef>
                <a:spcPct val="50000"/>
              </a:spcBef>
              <a:buSzPct val="90000"/>
            </a:pPr>
            <a:r>
              <a:rPr lang="en-US" sz="1600" b="1" dirty="0">
                <a:latin typeface="Tahoma" pitchFamily="34" charset="0"/>
              </a:rPr>
              <a:t>Decision of </a:t>
            </a:r>
          </a:p>
          <a:p>
            <a:pPr algn="ctr">
              <a:lnSpc>
                <a:spcPct val="60000"/>
              </a:lnSpc>
              <a:spcBef>
                <a:spcPct val="50000"/>
              </a:spcBef>
              <a:buSzPct val="90000"/>
            </a:pPr>
            <a:r>
              <a:rPr lang="en-US" sz="1600" b="1" dirty="0">
                <a:latin typeface="Tahoma" pitchFamily="34" charset="0"/>
              </a:rPr>
              <a:t>Controller</a:t>
            </a:r>
          </a:p>
        </p:txBody>
      </p:sp>
      <p:sp>
        <p:nvSpPr>
          <p:cNvPr id="29" name="Text Box 29"/>
          <p:cNvSpPr txBox="1">
            <a:spLocks noChangeArrowheads="1"/>
          </p:cNvSpPr>
          <p:nvPr/>
        </p:nvSpPr>
        <p:spPr bwMode="auto">
          <a:xfrm>
            <a:off x="179512" y="5949280"/>
            <a:ext cx="1080120" cy="346075"/>
          </a:xfrm>
          <a:prstGeom prst="rect">
            <a:avLst/>
          </a:prstGeom>
          <a:noFill/>
          <a:ln w="9525">
            <a:solidFill>
              <a:schemeClr val="tx1"/>
            </a:solidFill>
            <a:miter lim="800000"/>
            <a:headEnd/>
            <a:tailEnd/>
          </a:ln>
        </p:spPr>
        <p:txBody>
          <a:bodyPr wrap="square">
            <a:spAutoFit/>
          </a:bodyPr>
          <a:lstStyle/>
          <a:p>
            <a:pPr algn="ctr">
              <a:spcBef>
                <a:spcPct val="50000"/>
              </a:spcBef>
              <a:buSzPct val="90000"/>
            </a:pPr>
            <a:r>
              <a:rPr lang="en-US" sz="1600" b="1" dirty="0">
                <a:latin typeface="Tahoma" pitchFamily="34" charset="0"/>
              </a:rPr>
              <a:t>Appeal</a:t>
            </a:r>
          </a:p>
        </p:txBody>
      </p:sp>
      <p:sp>
        <p:nvSpPr>
          <p:cNvPr id="30" name="Rectangle 31"/>
          <p:cNvSpPr>
            <a:spLocks noChangeArrowheads="1"/>
          </p:cNvSpPr>
          <p:nvPr/>
        </p:nvSpPr>
        <p:spPr bwMode="auto">
          <a:xfrm>
            <a:off x="1403648" y="6309320"/>
            <a:ext cx="3289176" cy="457200"/>
          </a:xfrm>
          <a:prstGeom prst="rect">
            <a:avLst/>
          </a:prstGeom>
          <a:noFill/>
          <a:ln w="9525">
            <a:solidFill>
              <a:schemeClr val="tx1"/>
            </a:solidFill>
            <a:miter lim="800000"/>
            <a:headEnd/>
            <a:tailEnd/>
          </a:ln>
          <a:effectLst/>
        </p:spPr>
        <p:txBody>
          <a:bodyPr wrap="none" anchor="ctr"/>
          <a:lstStyle/>
          <a:p>
            <a:pPr algn="ctr">
              <a:defRPr/>
            </a:pPr>
            <a:r>
              <a:rPr lang="en-AU" sz="2800" b="1" dirty="0">
                <a:solidFill>
                  <a:srgbClr val="B03D1E"/>
                </a:solidFill>
                <a:effectLst>
                  <a:outerShdw blurRad="38100" dist="38100" dir="2700000" algn="tl">
                    <a:srgbClr val="C0C0C0"/>
                  </a:outerShdw>
                </a:effectLst>
                <a:latin typeface="Times New Roman" pitchFamily="18" charset="0"/>
                <a:cs typeface="Times New Roman" pitchFamily="18" charset="0"/>
              </a:rPr>
              <a:t>Appellate </a:t>
            </a:r>
            <a:r>
              <a:rPr lang="en-US" sz="2800" b="1" dirty="0">
                <a:solidFill>
                  <a:srgbClr val="B03D1E"/>
                </a:solidFill>
                <a:effectLst>
                  <a:outerShdw blurRad="38100" dist="38100" dir="2700000" algn="tl">
                    <a:srgbClr val="C0C0C0"/>
                  </a:outerShdw>
                </a:effectLst>
                <a:latin typeface="Times New Roman" pitchFamily="18" charset="0"/>
              </a:rPr>
              <a:t> Board</a:t>
            </a:r>
          </a:p>
        </p:txBody>
      </p:sp>
      <p:sp>
        <p:nvSpPr>
          <p:cNvPr id="31" name="Rectangle 7"/>
          <p:cNvSpPr>
            <a:spLocks noChangeArrowheads="1"/>
          </p:cNvSpPr>
          <p:nvPr/>
        </p:nvSpPr>
        <p:spPr bwMode="auto">
          <a:xfrm>
            <a:off x="5796136" y="6284168"/>
            <a:ext cx="2880320" cy="457200"/>
          </a:xfrm>
          <a:prstGeom prst="rect">
            <a:avLst/>
          </a:prstGeom>
          <a:noFill/>
          <a:ln w="9525">
            <a:solidFill>
              <a:schemeClr val="tx1"/>
            </a:solidFill>
            <a:miter lim="800000"/>
            <a:headEnd/>
            <a:tailEnd/>
          </a:ln>
        </p:spPr>
        <p:txBody>
          <a:bodyPr wrap="none" anchor="ctr"/>
          <a:lstStyle/>
          <a:p>
            <a:pPr algn="ctr"/>
            <a:r>
              <a:rPr lang="en-US" sz="2000" b="1">
                <a:latin typeface="Times New Roman" pitchFamily="18" charset="0"/>
              </a:rPr>
              <a:t>Revocation/Amendment</a:t>
            </a:r>
          </a:p>
        </p:txBody>
      </p:sp>
      <p:sp>
        <p:nvSpPr>
          <p:cNvPr id="32" name="Line 27"/>
          <p:cNvSpPr>
            <a:spLocks noChangeShapeType="1"/>
          </p:cNvSpPr>
          <p:nvPr/>
        </p:nvSpPr>
        <p:spPr bwMode="auto">
          <a:xfrm flipH="1">
            <a:off x="1259632" y="6093296"/>
            <a:ext cx="838200" cy="0"/>
          </a:xfrm>
          <a:prstGeom prst="line">
            <a:avLst/>
          </a:prstGeom>
          <a:noFill/>
          <a:ln w="12700">
            <a:solidFill>
              <a:schemeClr val="tx1"/>
            </a:solidFill>
            <a:round/>
            <a:headEnd type="triangle" w="lg" len="lg"/>
            <a:tailEnd type="none" w="lg" len="lg"/>
          </a:ln>
        </p:spPr>
        <p:txBody>
          <a:bodyPr wrap="none"/>
          <a:lstStyle/>
          <a:p>
            <a:endParaRPr lang="en-US"/>
          </a:p>
        </p:txBody>
      </p:sp>
      <p:sp>
        <p:nvSpPr>
          <p:cNvPr id="33" name="Line 24"/>
          <p:cNvSpPr>
            <a:spLocks noChangeShapeType="1"/>
          </p:cNvSpPr>
          <p:nvPr/>
        </p:nvSpPr>
        <p:spPr bwMode="auto">
          <a:xfrm flipH="1">
            <a:off x="2555776" y="5877272"/>
            <a:ext cx="0" cy="432048"/>
          </a:xfrm>
          <a:prstGeom prst="line">
            <a:avLst/>
          </a:prstGeom>
          <a:noFill/>
          <a:ln w="9525">
            <a:solidFill>
              <a:schemeClr val="tx1"/>
            </a:solidFill>
            <a:round/>
            <a:headEnd/>
            <a:tailEnd type="triangle" w="med" len="med"/>
          </a:ln>
        </p:spPr>
        <p:txBody>
          <a:bodyPr/>
          <a:lstStyle/>
          <a:p>
            <a:endParaRPr lang="en-US"/>
          </a:p>
        </p:txBody>
      </p:sp>
      <p:sp>
        <p:nvSpPr>
          <p:cNvPr id="35" name="Line 27"/>
          <p:cNvSpPr>
            <a:spLocks noChangeShapeType="1"/>
          </p:cNvSpPr>
          <p:nvPr/>
        </p:nvSpPr>
        <p:spPr bwMode="auto">
          <a:xfrm flipH="1">
            <a:off x="4788024" y="6525344"/>
            <a:ext cx="838200" cy="0"/>
          </a:xfrm>
          <a:prstGeom prst="line">
            <a:avLst/>
          </a:prstGeom>
          <a:noFill/>
          <a:ln w="12700">
            <a:solidFill>
              <a:schemeClr val="tx1"/>
            </a:solidFill>
            <a:round/>
            <a:headEnd type="triangle" w="lg" len="lg"/>
            <a:tailEnd type="none" w="lg" len="lg"/>
          </a:ln>
        </p:spPr>
        <p:txBody>
          <a:bodyPr wrap="none"/>
          <a:lstStyle/>
          <a:p>
            <a:endParaRPr lang="en-US"/>
          </a:p>
        </p:txBody>
      </p:sp>
      <p:sp>
        <p:nvSpPr>
          <p:cNvPr id="36" name="Slide Number Placeholder 35"/>
          <p:cNvSpPr>
            <a:spLocks noGrp="1"/>
          </p:cNvSpPr>
          <p:nvPr>
            <p:ph type="sldNum" sz="quarter" idx="12"/>
          </p:nvPr>
        </p:nvSpPr>
        <p:spPr/>
        <p:txBody>
          <a:bodyPr/>
          <a:lstStyle/>
          <a:p>
            <a:pPr>
              <a:defRPr/>
            </a:pPr>
            <a:fld id="{D7E06C30-71D3-457B-A8D9-545BE19DB6E8}" type="slidenum">
              <a:rPr lang="fr-FR" smtClean="0"/>
              <a:pPr>
                <a:defRPr/>
              </a:pPr>
              <a:t>7</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linds(horizontal)">
                                      <p:cBhvr>
                                        <p:cTn id="28" dur="500"/>
                                        <p:tgtEl>
                                          <p:spTgt spid="1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linds(horizontal)">
                                      <p:cBhvr>
                                        <p:cTn id="31" dur="500"/>
                                        <p:tgtEl>
                                          <p:spTgt spid="1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linds(horizontal)">
                                      <p:cBhvr>
                                        <p:cTn id="34" dur="500"/>
                                        <p:tgtEl>
                                          <p:spTgt spid="14"/>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blinds(horizontal)">
                                      <p:cBhvr>
                                        <p:cTn id="40" dur="500"/>
                                        <p:tgtEl>
                                          <p:spTgt spid="18"/>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linds(horizontal)">
                                      <p:cBhvr>
                                        <p:cTn id="43" dur="500"/>
                                        <p:tgtEl>
                                          <p:spTgt spid="19"/>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blinds(horizontal)">
                                      <p:cBhvr>
                                        <p:cTn id="46" dur="500"/>
                                        <p:tgtEl>
                                          <p:spTgt spid="20"/>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blinds(horizontal)">
                                      <p:cBhvr>
                                        <p:cTn id="49" dur="500"/>
                                        <p:tgtEl>
                                          <p:spTgt spid="21"/>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blinds(horizontal)">
                                      <p:cBhvr>
                                        <p:cTn id="52" dur="500"/>
                                        <p:tgtEl>
                                          <p:spTgt spid="22"/>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linds(horizontal)">
                                      <p:cBhvr>
                                        <p:cTn id="55" dur="500"/>
                                        <p:tgtEl>
                                          <p:spTgt spid="23"/>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blinds(horizontal)">
                                      <p:cBhvr>
                                        <p:cTn id="58" dur="500"/>
                                        <p:tgtEl>
                                          <p:spTgt spid="24"/>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blinds(horizontal)">
                                      <p:cBhvr>
                                        <p:cTn id="61" dur="500"/>
                                        <p:tgtEl>
                                          <p:spTgt spid="25"/>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blinds(horizontal)">
                                      <p:cBhvr>
                                        <p:cTn id="64" dur="500"/>
                                        <p:tgtEl>
                                          <p:spTgt spid="27"/>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blinds(horizontal)">
                                      <p:cBhvr>
                                        <p:cTn id="67" dur="500"/>
                                        <p:tgtEl>
                                          <p:spTgt spid="28"/>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blinds(horizontal)">
                                      <p:cBhvr>
                                        <p:cTn id="70" dur="500"/>
                                        <p:tgtEl>
                                          <p:spTgt spid="29"/>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blinds(horizontal)">
                                      <p:cBhvr>
                                        <p:cTn id="73" dur="500"/>
                                        <p:tgtEl>
                                          <p:spTgt spid="30"/>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blinds(horizontal)">
                                      <p:cBhvr>
                                        <p:cTn id="76" dur="500"/>
                                        <p:tgtEl>
                                          <p:spTgt spid="31"/>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blinds(horizontal)">
                                      <p:cBhvr>
                                        <p:cTn id="79" dur="500"/>
                                        <p:tgtEl>
                                          <p:spTgt spid="32"/>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blinds(horizontal)">
                                      <p:cBhvr>
                                        <p:cTn id="82" dur="500"/>
                                        <p:tgtEl>
                                          <p:spTgt spid="33"/>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blinds(horizontal)">
                                      <p:cBhvr>
                                        <p:cTn id="8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p:bldP spid="9" grpId="0" animBg="1"/>
      <p:bldP spid="10" grpId="0" animBg="1"/>
      <p:bldP spid="11" grpId="0"/>
      <p:bldP spid="12" grpId="0" animBg="1"/>
      <p:bldP spid="13" grpId="0" animBg="1"/>
      <p:bldP spid="14" grpId="0" animBg="1"/>
      <p:bldP spid="17" grpId="0" animBg="1"/>
      <p:bldP spid="18" grpId="0" animBg="1"/>
      <p:bldP spid="19" grpId="0" animBg="1"/>
      <p:bldP spid="20" grpId="0" animBg="1"/>
      <p:bldP spid="21" grpId="0"/>
      <p:bldP spid="22" grpId="0" animBg="1"/>
      <p:bldP spid="23" grpId="0" animBg="1"/>
      <p:bldP spid="24" grpId="0" animBg="1"/>
      <p:bldP spid="25" grpId="0" animBg="1"/>
      <p:bldP spid="27" grpId="0"/>
      <p:bldP spid="28" grpId="0" animBg="1"/>
      <p:bldP spid="29" grpId="0" animBg="1"/>
      <p:bldP spid="30" grpId="0" animBg="1"/>
      <p:bldP spid="31" grpId="0" animBg="1"/>
      <p:bldP spid="32" grpId="0" animBg="1"/>
      <p:bldP spid="33" grpId="0" animBg="1"/>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57200" y="292100"/>
            <a:ext cx="8229600" cy="13843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defRPr/>
            </a:pPr>
            <a:endParaRPr kumimoji="0" lang="en-US" sz="2800" b="0" i="0" u="none" strike="noStrike" kern="1200" cap="none" spc="0" normalizeH="0" baseline="0" noProof="0" dirty="0" smtClean="0">
              <a:ln>
                <a:noFill/>
              </a:ln>
              <a:solidFill>
                <a:srgbClr val="C00000"/>
              </a:solidFill>
              <a:effectLst/>
              <a:uLnTx/>
              <a:uFillTx/>
              <a:latin typeface="+mj-lt"/>
              <a:ea typeface="+mj-ea"/>
              <a:cs typeface="+mj-cs"/>
            </a:endParaRPr>
          </a:p>
        </p:txBody>
      </p:sp>
      <p:pic>
        <p:nvPicPr>
          <p:cNvPr id="2054" name="Picture 6"/>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pPr>
              <a:defRPr/>
            </a:pPr>
            <a:fld id="{14DEDCAF-836C-4C56-8066-90DEE0DCB67C}" type="slidenum">
              <a:rPr lang="fr-FR" smtClean="0"/>
              <a:pPr>
                <a:defRPr/>
              </a:pPr>
              <a:t>8</a:t>
            </a:fld>
            <a:endParaRPr lang="fr-F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57200" y="292100"/>
            <a:ext cx="8229600" cy="13843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defRPr/>
            </a:pPr>
            <a:endParaRPr kumimoji="0" lang="en-US" sz="2800" b="0" i="0" u="none" strike="noStrike" kern="1200" cap="none" spc="0" normalizeH="0" baseline="0" noProof="0" dirty="0" smtClean="0">
              <a:ln>
                <a:noFill/>
              </a:ln>
              <a:solidFill>
                <a:srgbClr val="C00000"/>
              </a:solidFill>
              <a:effectLst/>
              <a:uLnTx/>
              <a:uFillTx/>
              <a:latin typeface="+mj-lt"/>
              <a:ea typeface="+mj-ea"/>
              <a:cs typeface="+mj-cs"/>
            </a:endParaRPr>
          </a:p>
        </p:txBody>
      </p:sp>
      <p:grpSp>
        <p:nvGrpSpPr>
          <p:cNvPr id="2" name="Group 2"/>
          <p:cNvGrpSpPr>
            <a:grpSpLocks/>
          </p:cNvGrpSpPr>
          <p:nvPr/>
        </p:nvGrpSpPr>
        <p:grpSpPr bwMode="auto">
          <a:xfrm>
            <a:off x="762000" y="762000"/>
            <a:ext cx="7391400" cy="2819400"/>
            <a:chOff x="432" y="96"/>
            <a:chExt cx="4896" cy="2496"/>
          </a:xfrm>
        </p:grpSpPr>
        <p:sp>
          <p:nvSpPr>
            <p:cNvPr id="7" name="Rectangle 3"/>
            <p:cNvSpPr>
              <a:spLocks noChangeArrowheads="1"/>
            </p:cNvSpPr>
            <p:nvPr/>
          </p:nvSpPr>
          <p:spPr bwMode="auto">
            <a:xfrm>
              <a:off x="672" y="96"/>
              <a:ext cx="4560" cy="480"/>
            </a:xfrm>
            <a:prstGeom prst="rect">
              <a:avLst/>
            </a:prstGeom>
            <a:solidFill>
              <a:schemeClr val="accent1"/>
            </a:solidFill>
            <a:ln w="9525">
              <a:solidFill>
                <a:schemeClr val="tx1"/>
              </a:solidFill>
              <a:miter lim="800000"/>
              <a:headEnd/>
              <a:tailEnd/>
            </a:ln>
            <a:effectLst/>
          </p:spPr>
          <p:txBody>
            <a:bodyPr wrap="none" anchor="ctr"/>
            <a:lstStyle/>
            <a:p>
              <a:pPr algn="ctr"/>
              <a:r>
                <a:rPr lang="en-US" sz="3600" b="1" dirty="0">
                  <a:solidFill>
                    <a:srgbClr val="981676"/>
                  </a:solidFill>
                  <a:latin typeface="Times New Roman" pitchFamily="18" charset="0"/>
                  <a:cs typeface="Times New Roman" pitchFamily="18" charset="0"/>
                </a:rPr>
                <a:t>TERM OF THE PATENT</a:t>
              </a:r>
            </a:p>
          </p:txBody>
        </p:sp>
        <p:sp>
          <p:nvSpPr>
            <p:cNvPr id="9" name="Rectangle 4"/>
            <p:cNvSpPr>
              <a:spLocks noChangeArrowheads="1"/>
            </p:cNvSpPr>
            <p:nvPr/>
          </p:nvSpPr>
          <p:spPr bwMode="auto">
            <a:xfrm>
              <a:off x="432" y="912"/>
              <a:ext cx="4896" cy="1680"/>
            </a:xfrm>
            <a:prstGeom prst="rect">
              <a:avLst/>
            </a:prstGeom>
            <a:noFill/>
            <a:ln w="9525">
              <a:noFill/>
              <a:miter lim="800000"/>
              <a:headEnd/>
              <a:tailEnd/>
            </a:ln>
            <a:effectLst/>
          </p:spPr>
          <p:txBody>
            <a:bodyPr wrap="none" anchor="ctr"/>
            <a:lstStyle/>
            <a:p>
              <a:pPr algn="ctr"/>
              <a:r>
                <a:rPr lang="en-US" sz="2800" b="1" dirty="0">
                  <a:latin typeface="Times New Roman" pitchFamily="18" charset="0"/>
                  <a:cs typeface="Times New Roman" pitchFamily="18" charset="0"/>
                </a:rPr>
                <a:t>  </a:t>
              </a:r>
              <a:r>
                <a:rPr lang="en-US" sz="3200" b="1" u="sng" dirty="0">
                  <a:solidFill>
                    <a:srgbClr val="D40000"/>
                  </a:solidFill>
                  <a:latin typeface="Times New Roman" pitchFamily="18" charset="0"/>
                  <a:cs typeface="Times New Roman" pitchFamily="18" charset="0"/>
                </a:rPr>
                <a:t>20 Years</a:t>
              </a:r>
              <a:r>
                <a:rPr lang="en-US" sz="2800" b="1" dirty="0">
                  <a:latin typeface="Times New Roman" pitchFamily="18" charset="0"/>
                  <a:cs typeface="Times New Roman" pitchFamily="18" charset="0"/>
                </a:rPr>
                <a:t> </a:t>
              </a:r>
            </a:p>
            <a:p>
              <a:pPr algn="ctr"/>
              <a:r>
                <a:rPr lang="en-US" sz="2400" b="1" dirty="0">
                  <a:latin typeface="Times New Roman" pitchFamily="18" charset="0"/>
                  <a:cs typeface="Times New Roman" pitchFamily="18" charset="0"/>
                </a:rPr>
                <a:t>   From  </a:t>
              </a:r>
              <a:r>
                <a:rPr lang="en-US" sz="2800" b="1" dirty="0">
                  <a:latin typeface="Times New Roman" pitchFamily="18" charset="0"/>
                  <a:cs typeface="Times New Roman" pitchFamily="18" charset="0"/>
                </a:rPr>
                <a:t> </a:t>
              </a:r>
            </a:p>
            <a:p>
              <a:pPr algn="ctr"/>
              <a:r>
                <a:rPr lang="en-US" sz="2800" b="1" u="sng" dirty="0">
                  <a:solidFill>
                    <a:srgbClr val="CC3300"/>
                  </a:solidFill>
                  <a:latin typeface="Times New Roman" pitchFamily="18" charset="0"/>
                  <a:cs typeface="Times New Roman" pitchFamily="18" charset="0"/>
                </a:rPr>
                <a:t>Date of Filing of Patent Application</a:t>
              </a:r>
            </a:p>
            <a:p>
              <a:pPr algn="ctr"/>
              <a:r>
                <a:rPr lang="en-US" sz="2800" b="1" dirty="0">
                  <a:solidFill>
                    <a:srgbClr val="CC0099"/>
                  </a:solidFill>
                  <a:latin typeface="Times New Roman" pitchFamily="18" charset="0"/>
                  <a:cs typeface="Times New Roman" pitchFamily="18" charset="0"/>
                </a:rPr>
                <a:t>(Section 53)</a:t>
              </a:r>
            </a:p>
          </p:txBody>
        </p:sp>
      </p:grpSp>
      <p:grpSp>
        <p:nvGrpSpPr>
          <p:cNvPr id="3" name="Group 5"/>
          <p:cNvGrpSpPr>
            <a:grpSpLocks/>
          </p:cNvGrpSpPr>
          <p:nvPr/>
        </p:nvGrpSpPr>
        <p:grpSpPr bwMode="auto">
          <a:xfrm>
            <a:off x="990600" y="3886200"/>
            <a:ext cx="7239000" cy="2286000"/>
            <a:chOff x="600" y="2784"/>
            <a:chExt cx="4560" cy="1344"/>
          </a:xfrm>
        </p:grpSpPr>
        <p:sp>
          <p:nvSpPr>
            <p:cNvPr id="12" name="Rectangle 6"/>
            <p:cNvSpPr>
              <a:spLocks noChangeArrowheads="1"/>
            </p:cNvSpPr>
            <p:nvPr/>
          </p:nvSpPr>
          <p:spPr bwMode="auto">
            <a:xfrm>
              <a:off x="624" y="3360"/>
              <a:ext cx="4512" cy="768"/>
            </a:xfrm>
            <a:prstGeom prst="rect">
              <a:avLst/>
            </a:prstGeom>
            <a:noFill/>
            <a:ln w="9525">
              <a:noFill/>
              <a:miter lim="800000"/>
              <a:headEnd/>
              <a:tailEnd/>
            </a:ln>
            <a:effectLst/>
          </p:spPr>
          <p:txBody>
            <a:bodyPr wrap="none" anchor="ctr"/>
            <a:lstStyle/>
            <a:p>
              <a:pPr algn="ctr"/>
              <a:r>
                <a:rPr lang="en-US" sz="2800" b="1">
                  <a:latin typeface="Times New Roman" pitchFamily="18" charset="0"/>
                  <a:cs typeface="Times New Roman" pitchFamily="18" charset="0"/>
                </a:rPr>
                <a:t>The Date of the Patent Is the</a:t>
              </a:r>
            </a:p>
            <a:p>
              <a:pPr algn="ctr"/>
              <a:r>
                <a:rPr lang="en-US" sz="2800" b="1">
                  <a:latin typeface="Times New Roman" pitchFamily="18" charset="0"/>
                  <a:cs typeface="Times New Roman" pitchFamily="18" charset="0"/>
                </a:rPr>
                <a:t> </a:t>
              </a:r>
              <a:r>
                <a:rPr lang="en-US" sz="2800" b="1" u="sng">
                  <a:latin typeface="Times New Roman" pitchFamily="18" charset="0"/>
                  <a:cs typeface="Times New Roman" pitchFamily="18" charset="0"/>
                </a:rPr>
                <a:t>Date of Filing</a:t>
              </a:r>
              <a:r>
                <a:rPr lang="en-US" sz="2800" b="1">
                  <a:latin typeface="Times New Roman" pitchFamily="18" charset="0"/>
                  <a:cs typeface="Times New Roman" pitchFamily="18" charset="0"/>
                </a:rPr>
                <a:t> Of the Application.</a:t>
              </a:r>
            </a:p>
            <a:p>
              <a:pPr algn="ctr"/>
              <a:r>
                <a:rPr lang="en-US" sz="2800" b="1">
                  <a:latin typeface="Times New Roman" pitchFamily="18" charset="0"/>
                  <a:cs typeface="Times New Roman" pitchFamily="18" charset="0"/>
                </a:rPr>
                <a:t>(section 45)</a:t>
              </a:r>
            </a:p>
            <a:p>
              <a:pPr algn="ctr"/>
              <a:r>
                <a:rPr lang="en-US" sz="2800" b="1">
                  <a:solidFill>
                    <a:srgbClr val="0000FF"/>
                  </a:solidFill>
                  <a:latin typeface="Times New Roman" pitchFamily="18" charset="0"/>
                  <a:cs typeface="Times New Roman" pitchFamily="18" charset="0"/>
                </a:rPr>
                <a:t>							</a:t>
              </a:r>
            </a:p>
          </p:txBody>
        </p:sp>
        <p:sp>
          <p:nvSpPr>
            <p:cNvPr id="13" name="Rectangle 7"/>
            <p:cNvSpPr>
              <a:spLocks noChangeArrowheads="1"/>
            </p:cNvSpPr>
            <p:nvPr/>
          </p:nvSpPr>
          <p:spPr bwMode="auto">
            <a:xfrm>
              <a:off x="600" y="2784"/>
              <a:ext cx="4560" cy="480"/>
            </a:xfrm>
            <a:prstGeom prst="rect">
              <a:avLst/>
            </a:prstGeom>
            <a:solidFill>
              <a:schemeClr val="accent1"/>
            </a:solidFill>
            <a:ln w="9525">
              <a:solidFill>
                <a:schemeClr val="tx1"/>
              </a:solidFill>
              <a:miter lim="800000"/>
              <a:headEnd/>
              <a:tailEnd/>
            </a:ln>
            <a:effectLst/>
          </p:spPr>
          <p:txBody>
            <a:bodyPr wrap="none" anchor="ctr"/>
            <a:lstStyle/>
            <a:p>
              <a:pPr algn="ctr"/>
              <a:r>
                <a:rPr lang="en-US" sz="3600" b="1" dirty="0">
                  <a:solidFill>
                    <a:srgbClr val="981676"/>
                  </a:solidFill>
                  <a:latin typeface="Times New Roman" pitchFamily="18" charset="0"/>
                  <a:cs typeface="Times New Roman" pitchFamily="18" charset="0"/>
                </a:rPr>
                <a:t>DATE OF PATENT</a:t>
              </a:r>
            </a:p>
          </p:txBody>
        </p:sp>
      </p:grpSp>
      <p:sp>
        <p:nvSpPr>
          <p:cNvPr id="11" name="Slide Number Placeholder 10"/>
          <p:cNvSpPr>
            <a:spLocks noGrp="1"/>
          </p:cNvSpPr>
          <p:nvPr>
            <p:ph type="sldNum" sz="quarter" idx="12"/>
          </p:nvPr>
        </p:nvSpPr>
        <p:spPr/>
        <p:txBody>
          <a:bodyPr/>
          <a:lstStyle/>
          <a:p>
            <a:pPr>
              <a:defRPr/>
            </a:pPr>
            <a:fld id="{14DEDCAF-836C-4C56-8066-90DEE0DCB67C}" type="slidenum">
              <a:rPr lang="fr-FR" smtClean="0"/>
              <a:pPr>
                <a:defRPr/>
              </a:pPr>
              <a:t>9</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randombar(vertic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57200" y="292100"/>
            <a:ext cx="8229600" cy="13843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defRPr/>
            </a:pPr>
            <a:endParaRPr kumimoji="0" lang="en-US" sz="2800" b="0" i="0" u="none" strike="noStrike" kern="1200" cap="none" spc="0" normalizeH="0" baseline="0" noProof="0" dirty="0" smtClean="0">
              <a:ln>
                <a:noFill/>
              </a:ln>
              <a:solidFill>
                <a:srgbClr val="C00000"/>
              </a:solidFill>
              <a:effectLst/>
              <a:uLnTx/>
              <a:uFillTx/>
              <a:latin typeface="+mj-lt"/>
              <a:ea typeface="+mj-ea"/>
              <a:cs typeface="+mj-cs"/>
            </a:endParaRPr>
          </a:p>
        </p:txBody>
      </p:sp>
      <p:sp>
        <p:nvSpPr>
          <p:cNvPr id="14" name="Rectangle 2"/>
          <p:cNvSpPr txBox="1">
            <a:spLocks noChangeArrowheads="1"/>
          </p:cNvSpPr>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i="0" u="none" strike="noStrike" kern="1200" cap="none" spc="0" normalizeH="0" baseline="0" noProof="0" dirty="0" smtClean="0">
                <a:ln>
                  <a:noFill/>
                </a:ln>
                <a:solidFill>
                  <a:srgbClr val="4C0000"/>
                </a:solidFill>
                <a:effectLst/>
                <a:uLnTx/>
                <a:uFillTx/>
                <a:ea typeface="+mj-ea"/>
                <a:cs typeface="Arial" pitchFamily="34" charset="0"/>
              </a:rPr>
              <a:t>RENEWAL FEES</a:t>
            </a:r>
            <a:endParaRPr kumimoji="0" lang="en-US" sz="3200" i="0" u="none" strike="noStrike" kern="1200" cap="none" spc="0" normalizeH="0" baseline="0" noProof="0" dirty="0">
              <a:ln>
                <a:noFill/>
              </a:ln>
              <a:solidFill>
                <a:srgbClr val="4C0000"/>
              </a:solidFill>
              <a:effectLst/>
              <a:uLnTx/>
              <a:uFillTx/>
              <a:ea typeface="+mj-ea"/>
              <a:cs typeface="Arial" pitchFamily="34" charset="0"/>
            </a:endParaRPr>
          </a:p>
        </p:txBody>
      </p:sp>
      <p:sp>
        <p:nvSpPr>
          <p:cNvPr id="15" name="Rectangle 3"/>
          <p:cNvSpPr txBox="1">
            <a:spLocks noChangeArrowheads="1"/>
          </p:cNvSpPr>
          <p:nvPr/>
        </p:nvSpPr>
        <p:spPr bwMode="auto">
          <a:xfrm>
            <a:off x="533400" y="2514600"/>
            <a:ext cx="8229600" cy="2544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57200" marR="0" lvl="1" indent="0" algn="ctr"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tint val="75000"/>
                  </a:schemeClr>
                </a:solidFill>
                <a:effectLst/>
                <a:uLnTx/>
                <a:uFillTx/>
                <a:latin typeface="+mn-lt"/>
                <a:ea typeface="+mn-ea"/>
                <a:cs typeface="+mn-cs"/>
              </a:rPr>
              <a:t>	</a:t>
            </a:r>
            <a:r>
              <a:rPr kumimoji="0" lang="en-US" sz="2400" b="0" i="0" u="none" strike="noStrike" kern="1200" cap="none" spc="0" normalizeH="0" baseline="0" noProof="0" dirty="0" smtClean="0">
                <a:ln>
                  <a:noFill/>
                </a:ln>
                <a:solidFill>
                  <a:srgbClr val="0000FF"/>
                </a:solidFill>
                <a:effectLst/>
                <a:uLnTx/>
                <a:uFillTx/>
                <a:latin typeface="+mn-lt"/>
                <a:ea typeface="+mn-ea"/>
                <a:cs typeface="+mn-cs"/>
              </a:rPr>
              <a:t>			</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INDV	        NON INDV</a:t>
            </a:r>
          </a:p>
          <a:p>
            <a:pPr marL="0" marR="0" lvl="0" indent="0" algn="ctr"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smtClean="0">
                <a:ln>
                  <a:noFill/>
                </a:ln>
                <a:solidFill>
                  <a:srgbClr val="4C0000"/>
                </a:solidFill>
                <a:effectLst/>
                <a:uLnTx/>
                <a:uFillTx/>
                <a:latin typeface="+mn-lt"/>
                <a:ea typeface="+mn-ea"/>
                <a:cs typeface="+mn-cs"/>
              </a:rPr>
              <a:t>3</a:t>
            </a:r>
            <a:r>
              <a:rPr kumimoji="0" lang="en-US" sz="2400" b="0" i="0" u="none" strike="noStrike" kern="1200" cap="none" spc="0" normalizeH="0" baseline="30000" noProof="0" dirty="0" smtClean="0">
                <a:ln>
                  <a:noFill/>
                </a:ln>
                <a:solidFill>
                  <a:srgbClr val="4C0000"/>
                </a:solidFill>
                <a:effectLst/>
                <a:uLnTx/>
                <a:uFillTx/>
                <a:latin typeface="+mn-lt"/>
                <a:ea typeface="+mn-ea"/>
                <a:cs typeface="+mn-cs"/>
              </a:rPr>
              <a:t>RD</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TO 6</a:t>
            </a:r>
            <a:r>
              <a:rPr kumimoji="0" lang="en-US" sz="2400" b="0" i="0" u="none" strike="noStrike" kern="1200" cap="none" spc="0" normalizeH="0" baseline="30000" noProof="0" dirty="0" smtClean="0">
                <a:ln>
                  <a:noFill/>
                </a:ln>
                <a:solidFill>
                  <a:srgbClr val="4C0000"/>
                </a:solidFill>
                <a:effectLst/>
                <a:uLnTx/>
                <a:uFillTx/>
                <a:latin typeface="+mn-lt"/>
                <a:ea typeface="+mn-ea"/>
                <a:cs typeface="+mn-cs"/>
              </a:rPr>
              <a:t>TH</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YEAR/YEAR @	Rs.500/-    	Rs.2000/-</a:t>
            </a:r>
          </a:p>
          <a:p>
            <a:pPr marL="0" marR="0" lvl="0" indent="0" algn="ctr"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smtClean="0">
                <a:ln>
                  <a:noFill/>
                </a:ln>
                <a:solidFill>
                  <a:srgbClr val="4C0000"/>
                </a:solidFill>
                <a:effectLst/>
                <a:uLnTx/>
                <a:uFillTx/>
                <a:latin typeface="+mn-lt"/>
                <a:ea typeface="+mn-ea"/>
                <a:cs typeface="+mn-cs"/>
              </a:rPr>
              <a:t>7</a:t>
            </a:r>
            <a:r>
              <a:rPr kumimoji="0" lang="en-US" sz="2400" b="0" i="0" u="none" strike="noStrike" kern="1200" cap="none" spc="0" normalizeH="0" baseline="30000" noProof="0" dirty="0" smtClean="0">
                <a:ln>
                  <a:noFill/>
                </a:ln>
                <a:solidFill>
                  <a:srgbClr val="4C0000"/>
                </a:solidFill>
                <a:effectLst/>
                <a:uLnTx/>
                <a:uFillTx/>
                <a:latin typeface="+mn-lt"/>
                <a:ea typeface="+mn-ea"/>
                <a:cs typeface="+mn-cs"/>
              </a:rPr>
              <a:t>TH</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TO 10</a:t>
            </a:r>
            <a:r>
              <a:rPr kumimoji="0" lang="en-US" sz="2400" b="0" i="0" u="none" strike="noStrike" kern="1200" cap="none" spc="0" normalizeH="0" baseline="30000" noProof="0" dirty="0" smtClean="0">
                <a:ln>
                  <a:noFill/>
                </a:ln>
                <a:solidFill>
                  <a:srgbClr val="4C0000"/>
                </a:solidFill>
                <a:effectLst/>
                <a:uLnTx/>
                <a:uFillTx/>
                <a:latin typeface="+mn-lt"/>
                <a:ea typeface="+mn-ea"/>
                <a:cs typeface="+mn-cs"/>
              </a:rPr>
              <a:t>TH</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YEAR/YEAR@	Rs.1500/- 	Rs.6000/-</a:t>
            </a:r>
          </a:p>
          <a:p>
            <a:pPr marL="0" marR="0" lvl="0" indent="0" algn="ctr"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smtClean="0">
                <a:ln>
                  <a:noFill/>
                </a:ln>
                <a:solidFill>
                  <a:srgbClr val="4C0000"/>
                </a:solidFill>
                <a:effectLst/>
                <a:uLnTx/>
                <a:uFillTx/>
                <a:latin typeface="+mn-lt"/>
                <a:ea typeface="+mn-ea"/>
                <a:cs typeface="+mn-cs"/>
              </a:rPr>
              <a:t>11</a:t>
            </a:r>
            <a:r>
              <a:rPr kumimoji="0" lang="en-US" sz="2400" b="0" i="0" u="none" strike="noStrike" kern="1200" cap="none" spc="0" normalizeH="0" baseline="30000" noProof="0" dirty="0" smtClean="0">
                <a:ln>
                  <a:noFill/>
                </a:ln>
                <a:solidFill>
                  <a:srgbClr val="4C0000"/>
                </a:solidFill>
                <a:effectLst/>
                <a:uLnTx/>
                <a:uFillTx/>
                <a:latin typeface="+mn-lt"/>
                <a:ea typeface="+mn-ea"/>
                <a:cs typeface="+mn-cs"/>
              </a:rPr>
              <a:t>TH</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TO 15</a:t>
            </a:r>
            <a:r>
              <a:rPr kumimoji="0" lang="en-US" sz="2400" b="0" i="0" u="none" strike="noStrike" kern="1200" cap="none" spc="0" normalizeH="0" baseline="30000" noProof="0" dirty="0" smtClean="0">
                <a:ln>
                  <a:noFill/>
                </a:ln>
                <a:solidFill>
                  <a:srgbClr val="4C0000"/>
                </a:solidFill>
                <a:effectLst/>
                <a:uLnTx/>
                <a:uFillTx/>
                <a:latin typeface="+mn-lt"/>
                <a:ea typeface="+mn-ea"/>
                <a:cs typeface="+mn-cs"/>
              </a:rPr>
              <a:t>TH</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YEAR/YEAR@	Rs.3000/- 	Rs.12000/-</a:t>
            </a:r>
          </a:p>
          <a:p>
            <a:pPr marL="0" marR="0" lvl="0" indent="0" algn="ctr"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smtClean="0">
                <a:ln>
                  <a:noFill/>
                </a:ln>
                <a:solidFill>
                  <a:srgbClr val="4C0000"/>
                </a:solidFill>
                <a:effectLst/>
                <a:uLnTx/>
                <a:uFillTx/>
                <a:latin typeface="+mn-lt"/>
                <a:ea typeface="+mn-ea"/>
                <a:cs typeface="+mn-cs"/>
              </a:rPr>
              <a:t>16</a:t>
            </a:r>
            <a:r>
              <a:rPr kumimoji="0" lang="en-US" sz="2400" b="0" i="0" u="none" strike="noStrike" kern="1200" cap="none" spc="0" normalizeH="0" baseline="30000" noProof="0" dirty="0" smtClean="0">
                <a:ln>
                  <a:noFill/>
                </a:ln>
                <a:solidFill>
                  <a:srgbClr val="4C0000"/>
                </a:solidFill>
                <a:effectLst/>
                <a:uLnTx/>
                <a:uFillTx/>
                <a:latin typeface="+mn-lt"/>
                <a:ea typeface="+mn-ea"/>
                <a:cs typeface="+mn-cs"/>
              </a:rPr>
              <a:t>TH</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TO 20</a:t>
            </a:r>
            <a:r>
              <a:rPr kumimoji="0" lang="en-US" sz="2400" b="0" i="0" u="none" strike="noStrike" kern="1200" cap="none" spc="0" normalizeH="0" baseline="30000" noProof="0" dirty="0" smtClean="0">
                <a:ln>
                  <a:noFill/>
                </a:ln>
                <a:solidFill>
                  <a:srgbClr val="4C0000"/>
                </a:solidFill>
                <a:effectLst/>
                <a:uLnTx/>
                <a:uFillTx/>
                <a:latin typeface="+mn-lt"/>
                <a:ea typeface="+mn-ea"/>
                <a:cs typeface="+mn-cs"/>
              </a:rPr>
              <a:t>TH</a:t>
            </a:r>
            <a:r>
              <a:rPr kumimoji="0" lang="en-US" sz="2400" b="0" i="0" u="none" strike="noStrike" kern="1200" cap="none" spc="0" normalizeH="0" baseline="0" noProof="0" dirty="0" smtClean="0">
                <a:ln>
                  <a:noFill/>
                </a:ln>
                <a:solidFill>
                  <a:srgbClr val="4C0000"/>
                </a:solidFill>
                <a:effectLst/>
                <a:uLnTx/>
                <a:uFillTx/>
                <a:latin typeface="+mn-lt"/>
                <a:ea typeface="+mn-ea"/>
                <a:cs typeface="+mn-cs"/>
              </a:rPr>
              <a:t> YEAR/YEAR@	Rs.5000/- 	Rs20000/-</a:t>
            </a:r>
          </a:p>
          <a:p>
            <a:pPr marL="0" marR="0" lvl="0" indent="0" algn="ctr"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sz="2000" b="0" i="0" u="none" strike="noStrike" kern="1200" cap="none" spc="0" normalizeH="0" baseline="0" noProof="0" dirty="0" smtClean="0">
              <a:ln>
                <a:noFill/>
              </a:ln>
              <a:solidFill>
                <a:srgbClr val="4C0000"/>
              </a:solidFill>
              <a:effectLst/>
              <a:uLnTx/>
              <a:uFillTx/>
              <a:latin typeface="Arial Black" pitchFamily="34" charset="0"/>
              <a:ea typeface="+mn-ea"/>
              <a:cs typeface="+mn-cs"/>
            </a:endParaRPr>
          </a:p>
          <a:p>
            <a:pPr marL="0" marR="0" lvl="0" indent="0" algn="ctr" defTabSz="914400" rtl="0" eaLnBrk="1" fontAlgn="base" latinLnBrk="0" hangingPunct="1">
              <a:lnSpc>
                <a:spcPct val="80000"/>
              </a:lnSpc>
              <a:spcBef>
                <a:spcPct val="20000"/>
              </a:spcBef>
              <a:spcAft>
                <a:spcPct val="0"/>
              </a:spcAft>
              <a:buClrTx/>
              <a:buSzTx/>
              <a:buFontTx/>
              <a:buNone/>
              <a:tabLst/>
              <a:defRPr/>
            </a:pPr>
            <a:r>
              <a:rPr kumimoji="0" lang="en-US" sz="3600" b="0" i="0" u="none" strike="noStrike" kern="1200" cap="none" spc="0" normalizeH="0" baseline="0" noProof="0" dirty="0" smtClean="0">
                <a:ln>
                  <a:noFill/>
                </a:ln>
                <a:solidFill>
                  <a:srgbClr val="4C0000"/>
                </a:solidFill>
                <a:effectLst/>
                <a:uLnTx/>
                <a:uFillTx/>
                <a:latin typeface="Arial Black" pitchFamily="34" charset="0"/>
                <a:ea typeface="+mn-ea"/>
                <a:cs typeface="+mn-cs"/>
              </a:rPr>
              <a:t>	</a:t>
            </a:r>
            <a:r>
              <a:rPr kumimoji="0" lang="en-US" sz="3600" b="0" i="0" u="none" strike="noStrike" kern="1200" cap="none" spc="0" normalizeH="0" baseline="0" noProof="0" dirty="0" smtClean="0">
                <a:ln>
                  <a:noFill/>
                </a:ln>
                <a:solidFill>
                  <a:srgbClr val="4C0000"/>
                </a:solidFill>
                <a:effectLst/>
                <a:uLnTx/>
                <a:uFillTx/>
                <a:latin typeface="+mn-lt"/>
                <a:ea typeface="+mn-ea"/>
                <a:cs typeface="+mn-cs"/>
              </a:rPr>
              <a:t>		</a:t>
            </a:r>
            <a:endParaRPr kumimoji="0" lang="en-US" sz="3600" b="0" i="0" u="none" strike="noStrike" kern="1200" cap="none" spc="0" normalizeH="0" baseline="0" noProof="0" dirty="0">
              <a:ln>
                <a:noFill/>
              </a:ln>
              <a:solidFill>
                <a:srgbClr val="4C0000"/>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defRPr/>
            </a:pPr>
            <a:fld id="{14DEDCAF-836C-4C56-8066-90DEE0DCB67C}" type="slidenum">
              <a:rPr lang="fr-FR" smtClean="0"/>
              <a:pPr>
                <a:defRPr/>
              </a:pPr>
              <a:t>10</a:t>
            </a:fld>
            <a:endParaRPr lang="fr-F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ox(in)">
                                      <p:cBhvr>
                                        <p:cTn id="10" dur="500"/>
                                        <p:tgtEl>
                                          <p:spTgt spid="14"/>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ox(in)">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763688" y="0"/>
            <a:ext cx="584299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800" b="1" i="0" strike="noStrike" kern="1200" cap="all" normalizeH="0" baseline="0" noProof="0" dirty="0" smtClean="0">
                <a:ln w="9000" cmpd="sng">
                  <a:solidFill>
                    <a:schemeClr val="accent4">
                      <a:shade val="50000"/>
                      <a:satMod val="120000"/>
                    </a:schemeClr>
                  </a:solidFill>
                  <a:prstDash val="solid"/>
                </a:ln>
                <a:solidFill>
                  <a:srgbClr val="C00000"/>
                </a:solidFill>
                <a:effectLst>
                  <a:reflection blurRad="12700" stA="28000" endPos="45000" dist="1000" dir="5400000" sy="-100000" algn="bl" rotWithShape="0"/>
                </a:effectLst>
                <a:uLnTx/>
                <a:uFillTx/>
                <a:latin typeface="+mj-lt"/>
                <a:ea typeface="+mj-ea"/>
                <a:cs typeface="+mj-cs"/>
              </a:rPr>
              <a:t>Copyright</a:t>
            </a:r>
          </a:p>
        </p:txBody>
      </p:sp>
      <p:sp>
        <p:nvSpPr>
          <p:cNvPr id="10" name="Rectangle 3"/>
          <p:cNvSpPr txBox="1">
            <a:spLocks noChangeArrowheads="1"/>
          </p:cNvSpPr>
          <p:nvPr/>
        </p:nvSpPr>
        <p:spPr bwMode="auto">
          <a:xfrm>
            <a:off x="467544" y="1340768"/>
            <a:ext cx="8676456" cy="55172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a:lnSpc>
                <a:spcPct val="80000"/>
              </a:lnSpc>
              <a:spcBef>
                <a:spcPct val="20000"/>
              </a:spcBef>
              <a:buFont typeface="Arial" pitchFamily="34" charset="0"/>
              <a:buChar char="•"/>
              <a:defRPr/>
            </a:pPr>
            <a:r>
              <a:rPr lang="en-IN" sz="2400" dirty="0" smtClean="0">
                <a:latin typeface="+mn-lt"/>
              </a:rPr>
              <a:t>Aims at providing protection to authors (writers, artists, music composers, etc.) on their creations</a:t>
            </a:r>
          </a:p>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buFont typeface="Wingdings" pitchFamily="2" charset="2"/>
              <a:buChar char="ü"/>
              <a:defRPr/>
            </a:pPr>
            <a:r>
              <a:rPr lang="en-IN" sz="2400" dirty="0" smtClean="0">
                <a:latin typeface="+mn-lt"/>
              </a:rPr>
              <a:t>literary works  (novels, poems and plays)</a:t>
            </a:r>
          </a:p>
          <a:p>
            <a:pPr marL="342900" lvl="0" indent="-342900">
              <a:lnSpc>
                <a:spcPct val="80000"/>
              </a:lnSpc>
              <a:spcBef>
                <a:spcPct val="20000"/>
              </a:spcBef>
              <a:buFont typeface="Wingdings" pitchFamily="2" charset="2"/>
              <a:buChar char="ü"/>
              <a:defRPr/>
            </a:pPr>
            <a:r>
              <a:rPr lang="en-IN" sz="2400" dirty="0" smtClean="0">
                <a:latin typeface="+mn-lt"/>
              </a:rPr>
              <a:t>Reference works  such as encyclopaedias and dictionaries </a:t>
            </a:r>
          </a:p>
          <a:p>
            <a:pPr marL="342900" lvl="0" indent="-342900">
              <a:lnSpc>
                <a:spcPct val="80000"/>
              </a:lnSpc>
              <a:spcBef>
                <a:spcPct val="20000"/>
              </a:spcBef>
              <a:buFont typeface="Wingdings" pitchFamily="2" charset="2"/>
              <a:buChar char="ü"/>
              <a:defRPr/>
            </a:pPr>
            <a:r>
              <a:rPr lang="en-IN" sz="2400" dirty="0" smtClean="0">
                <a:latin typeface="+mn-lt"/>
              </a:rPr>
              <a:t>Databases; newspaper articles</a:t>
            </a:r>
          </a:p>
          <a:p>
            <a:pPr marL="342900" lvl="0" indent="-342900">
              <a:lnSpc>
                <a:spcPct val="80000"/>
              </a:lnSpc>
              <a:spcBef>
                <a:spcPct val="20000"/>
              </a:spcBef>
              <a:buFont typeface="Wingdings" pitchFamily="2" charset="2"/>
              <a:buChar char="ü"/>
              <a:defRPr/>
            </a:pPr>
            <a:r>
              <a:rPr lang="en-IN" sz="2400" dirty="0" smtClean="0">
                <a:latin typeface="+mn-lt"/>
              </a:rPr>
              <a:t>Films and TV programs</a:t>
            </a:r>
          </a:p>
          <a:p>
            <a:pPr marL="342900" lvl="0" indent="-342900">
              <a:lnSpc>
                <a:spcPct val="80000"/>
              </a:lnSpc>
              <a:spcBef>
                <a:spcPct val="20000"/>
              </a:spcBef>
              <a:buFont typeface="Wingdings" pitchFamily="2" charset="2"/>
              <a:buChar char="ü"/>
              <a:defRPr/>
            </a:pPr>
            <a:r>
              <a:rPr lang="en-IN" sz="2400" dirty="0" smtClean="0">
                <a:latin typeface="+mn-lt"/>
              </a:rPr>
              <a:t>Musical compositions</a:t>
            </a:r>
          </a:p>
          <a:p>
            <a:pPr marL="342900" lvl="0" indent="-342900">
              <a:lnSpc>
                <a:spcPct val="80000"/>
              </a:lnSpc>
              <a:spcBef>
                <a:spcPct val="20000"/>
              </a:spcBef>
              <a:buFont typeface="Wingdings" pitchFamily="2" charset="2"/>
              <a:buChar char="ü"/>
              <a:defRPr/>
            </a:pPr>
            <a:r>
              <a:rPr lang="en-IN" sz="2400" dirty="0" smtClean="0">
                <a:latin typeface="+mn-lt"/>
              </a:rPr>
              <a:t>Choreography</a:t>
            </a:r>
          </a:p>
          <a:p>
            <a:pPr marL="342900" lvl="0" indent="-342900">
              <a:lnSpc>
                <a:spcPct val="80000"/>
              </a:lnSpc>
              <a:spcBef>
                <a:spcPct val="20000"/>
              </a:spcBef>
              <a:buFont typeface="Wingdings" pitchFamily="2" charset="2"/>
              <a:buChar char="ü"/>
              <a:defRPr/>
            </a:pPr>
            <a:r>
              <a:rPr lang="en-IN" sz="2400" dirty="0" smtClean="0">
                <a:latin typeface="+mn-lt"/>
              </a:rPr>
              <a:t>Artistic works (paintings, drawings, photographs and sculptures)</a:t>
            </a:r>
          </a:p>
          <a:p>
            <a:pPr marL="342900" lvl="0" indent="-342900">
              <a:lnSpc>
                <a:spcPct val="80000"/>
              </a:lnSpc>
              <a:spcBef>
                <a:spcPct val="20000"/>
              </a:spcBef>
              <a:buFont typeface="Wingdings" pitchFamily="2" charset="2"/>
              <a:buChar char="ü"/>
              <a:defRPr/>
            </a:pPr>
            <a:r>
              <a:rPr lang="en-IN" sz="2400" dirty="0" smtClean="0">
                <a:latin typeface="+mn-lt"/>
              </a:rPr>
              <a:t>Architecture</a:t>
            </a:r>
          </a:p>
          <a:p>
            <a:pPr marL="342900" lvl="0" indent="-342900">
              <a:lnSpc>
                <a:spcPct val="80000"/>
              </a:lnSpc>
              <a:spcBef>
                <a:spcPct val="20000"/>
              </a:spcBef>
              <a:buFont typeface="Wingdings" pitchFamily="2" charset="2"/>
              <a:buChar char="ü"/>
              <a:defRPr/>
            </a:pPr>
            <a:r>
              <a:rPr lang="en-IN" sz="2400" dirty="0" smtClean="0">
                <a:latin typeface="+mn-lt"/>
              </a:rPr>
              <a:t>Advertisements, maps and technical drawings</a:t>
            </a:r>
          </a:p>
          <a:p>
            <a:pPr marL="342900" lvl="0" indent="-342900">
              <a:lnSpc>
                <a:spcPct val="80000"/>
              </a:lnSpc>
              <a:spcBef>
                <a:spcPct val="20000"/>
              </a:spcBef>
              <a:buFont typeface="Wingdings" pitchFamily="2" charset="2"/>
              <a:buChar char="ü"/>
              <a:defRPr/>
            </a:pPr>
            <a:r>
              <a:rPr lang="en-IN" sz="2400" dirty="0" smtClean="0">
                <a:latin typeface="+mn-lt"/>
              </a:rPr>
              <a:t>Copyright also protects computer programs.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4" name="Picture 11" descr="copyright"/>
          <p:cNvPicPr>
            <a:picLocks noGrp="1" noChangeAspect="1" noChangeArrowheads="1"/>
          </p:cNvPicPr>
          <p:nvPr>
            <p:ph sz="half" idx="4294967295"/>
          </p:nvPr>
        </p:nvPicPr>
        <p:blipFill>
          <a:blip r:embed="rId4" cstate="print"/>
          <a:srcRect/>
          <a:stretch>
            <a:fillRect/>
          </a:stretch>
        </p:blipFill>
        <p:spPr>
          <a:xfrm>
            <a:off x="7715250" y="0"/>
            <a:ext cx="1428750" cy="1428750"/>
          </a:xfrm>
          <a:prstGeom prst="rect">
            <a:avLst/>
          </a:prstGeom>
        </p:spPr>
      </p:pic>
      <p:sp>
        <p:nvSpPr>
          <p:cNvPr id="6" name="Slide Number Placeholder 5"/>
          <p:cNvSpPr>
            <a:spLocks noGrp="1"/>
          </p:cNvSpPr>
          <p:nvPr>
            <p:ph type="sldNum" sz="quarter" idx="12"/>
          </p:nvPr>
        </p:nvSpPr>
        <p:spPr/>
        <p:txBody>
          <a:bodyPr/>
          <a:lstStyle/>
          <a:p>
            <a:pPr>
              <a:defRPr/>
            </a:pPr>
            <a:fld id="{D7E06C30-71D3-457B-A8D9-545BE19DB6E8}" type="slidenum">
              <a:rPr lang="fr-FR" smtClean="0"/>
              <a:pPr>
                <a:defRPr/>
              </a:pPr>
              <a:t>11</a:t>
            </a:fld>
            <a:endParaRPr lang="fr-FR"/>
          </a:p>
        </p:txBody>
      </p:sp>
    </p:spTree>
  </p:cSld>
  <p:clrMapOvr>
    <a:masterClrMapping/>
  </p:clrMapOvr>
  <p:transition>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763688" y="0"/>
            <a:ext cx="584299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a:defRPr/>
            </a:pPr>
            <a:r>
              <a:rPr lang="en-US" sz="4400" b="1" cap="all" dirty="0" smtClean="0">
                <a:ln w="9000" cmpd="sng">
                  <a:solidFill>
                    <a:schemeClr val="accent4">
                      <a:shade val="50000"/>
                      <a:satMod val="120000"/>
                    </a:schemeClr>
                  </a:solidFill>
                  <a:prstDash val="solid"/>
                </a:ln>
                <a:solidFill>
                  <a:srgbClr val="C00000"/>
                </a:solidFill>
                <a:effectLst>
                  <a:reflection blurRad="12700" stA="28000" endPos="45000" dist="1000" dir="5400000" sy="-100000" algn="bl" rotWithShape="0"/>
                </a:effectLst>
              </a:rPr>
              <a:t>Copyright</a:t>
            </a:r>
          </a:p>
        </p:txBody>
      </p:sp>
      <p:sp>
        <p:nvSpPr>
          <p:cNvPr id="10" name="Rectangle 3"/>
          <p:cNvSpPr txBox="1">
            <a:spLocks noChangeArrowheads="1"/>
          </p:cNvSpPr>
          <p:nvPr/>
        </p:nvSpPr>
        <p:spPr bwMode="auto">
          <a:xfrm>
            <a:off x="467544" y="908720"/>
            <a:ext cx="8676456" cy="55172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a:spcBef>
                <a:spcPct val="20000"/>
              </a:spcBef>
              <a:buFont typeface="Arial" pitchFamily="34" charset="0"/>
              <a:buChar char="•"/>
              <a:defRPr/>
            </a:pPr>
            <a:r>
              <a:rPr lang="en-IN" sz="2400" dirty="0" smtClean="0">
                <a:latin typeface="+mn-lt"/>
              </a:rPr>
              <a:t>Copyright protection is obtained automatically without any need for registration or other formalities.</a:t>
            </a:r>
          </a:p>
          <a:p>
            <a:pPr marL="342900" lvl="0" indent="-342900">
              <a:spcBef>
                <a:spcPct val="20000"/>
              </a:spcBef>
              <a:buFont typeface="Arial" pitchFamily="34" charset="0"/>
              <a:buChar char="•"/>
              <a:defRPr/>
            </a:pPr>
            <a:r>
              <a:rPr lang="en-IN" sz="2400" dirty="0" smtClean="0">
                <a:latin typeface="+mn-lt"/>
              </a:rPr>
              <a:t> A work enjoys protection by copyright as soon as it is created.</a:t>
            </a:r>
          </a:p>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buFont typeface="Arial" pitchFamily="34" charset="0"/>
              <a:buChar char="•"/>
              <a:defRPr/>
            </a:pPr>
            <a:r>
              <a:rPr lang="en-IN" sz="2400" dirty="0" smtClean="0">
                <a:latin typeface="+mn-lt"/>
              </a:rPr>
              <a:t>countries provide for a national system of optional registration and deposit of works</a:t>
            </a:r>
          </a:p>
          <a:p>
            <a:pPr marL="342900" lvl="0" indent="-342900">
              <a:lnSpc>
                <a:spcPct val="80000"/>
              </a:lnSpc>
              <a:spcBef>
                <a:spcPct val="20000"/>
              </a:spcBef>
              <a:buFont typeface="Arial" pitchFamily="34" charset="0"/>
              <a:buChar char="•"/>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lnSpc>
                <a:spcPct val="80000"/>
              </a:lnSpc>
              <a:spcBef>
                <a:spcPct val="20000"/>
              </a:spcBef>
              <a:buFont typeface="Arial" pitchFamily="34" charset="0"/>
              <a:buChar char="•"/>
              <a:defRPr/>
            </a:pPr>
            <a:r>
              <a:rPr lang="en-IN" sz="2400" dirty="0" smtClean="0">
                <a:latin typeface="+mn-lt"/>
              </a:rPr>
              <a:t> Types of rights under copyright</a:t>
            </a:r>
          </a:p>
          <a:p>
            <a:pPr marL="342900" lvl="0" indent="-342900">
              <a:lnSpc>
                <a:spcPct val="80000"/>
              </a:lnSpc>
              <a:spcBef>
                <a:spcPct val="20000"/>
              </a:spcBef>
              <a:defRPr/>
            </a:pPr>
            <a:r>
              <a:rPr lang="en-IN" sz="2400" dirty="0" smtClean="0">
                <a:latin typeface="+mn-lt"/>
              </a:rPr>
              <a:t>	  (a) </a:t>
            </a:r>
            <a:r>
              <a:rPr lang="en-IN" sz="2400" b="1" dirty="0" smtClean="0">
                <a:latin typeface="+mn-lt"/>
              </a:rPr>
              <a:t>Economic rights</a:t>
            </a:r>
            <a:r>
              <a:rPr lang="en-IN" sz="2400" dirty="0" smtClean="0">
                <a:latin typeface="+mn-lt"/>
              </a:rPr>
              <a:t>, which allow the owner to derive financial  </a:t>
            </a:r>
          </a:p>
          <a:p>
            <a:pPr marL="342900" lvl="0" indent="-342900">
              <a:lnSpc>
                <a:spcPct val="80000"/>
              </a:lnSpc>
              <a:spcBef>
                <a:spcPct val="20000"/>
              </a:spcBef>
              <a:defRPr/>
            </a:pPr>
            <a:r>
              <a:rPr lang="en-IN" sz="2400" dirty="0" smtClean="0">
                <a:latin typeface="+mn-lt"/>
              </a:rPr>
              <a:t>              reward from the use and exploitation of the work   </a:t>
            </a:r>
          </a:p>
          <a:p>
            <a:pPr marL="342900" lvl="0" indent="-342900">
              <a:lnSpc>
                <a:spcPct val="80000"/>
              </a:lnSpc>
              <a:spcBef>
                <a:spcPct val="20000"/>
              </a:spcBef>
              <a:defRPr/>
            </a:pPr>
            <a:r>
              <a:rPr lang="en-IN" sz="2400" dirty="0" smtClean="0">
                <a:latin typeface="+mn-lt"/>
              </a:rPr>
              <a:t>              (reproduction,  distribution, public performance, translation </a:t>
            </a:r>
          </a:p>
          <a:p>
            <a:pPr marL="342900" lvl="0" indent="-342900">
              <a:lnSpc>
                <a:spcPct val="80000"/>
              </a:lnSpc>
              <a:spcBef>
                <a:spcPct val="20000"/>
              </a:spcBef>
              <a:defRPr/>
            </a:pPr>
            <a:r>
              <a:rPr lang="en-IN" sz="2400" dirty="0" smtClean="0">
                <a:latin typeface="+mn-lt"/>
              </a:rPr>
              <a:t>              &amp; adaption)</a:t>
            </a:r>
          </a:p>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defRPr/>
            </a:pPr>
            <a:r>
              <a:rPr lang="en-IN" sz="2400" dirty="0" smtClean="0">
                <a:latin typeface="+mn-lt"/>
              </a:rPr>
              <a:t>	  (b) </a:t>
            </a:r>
            <a:r>
              <a:rPr lang="en-IN" sz="2400" b="1" dirty="0" smtClean="0">
                <a:latin typeface="+mn-lt"/>
              </a:rPr>
              <a:t>Moral rights</a:t>
            </a:r>
            <a:r>
              <a:rPr lang="en-IN" sz="2400" dirty="0" smtClean="0">
                <a:latin typeface="+mn-lt"/>
              </a:rPr>
              <a:t>, which highlight the personal link existing   </a:t>
            </a:r>
          </a:p>
          <a:p>
            <a:pPr marL="342900" lvl="0" indent="-342900">
              <a:lnSpc>
                <a:spcPct val="80000"/>
              </a:lnSpc>
              <a:spcBef>
                <a:spcPct val="20000"/>
              </a:spcBef>
              <a:defRPr/>
            </a:pPr>
            <a:r>
              <a:rPr lang="en-IN" sz="2400" dirty="0" smtClean="0">
                <a:latin typeface="+mn-lt"/>
              </a:rPr>
              <a:t>             between the author and the work (right to have authorship,  </a:t>
            </a:r>
          </a:p>
          <a:p>
            <a:pPr marL="342900" lvl="0" indent="-342900">
              <a:lnSpc>
                <a:spcPct val="80000"/>
              </a:lnSpc>
              <a:spcBef>
                <a:spcPct val="20000"/>
              </a:spcBef>
              <a:defRPr/>
            </a:pPr>
            <a:r>
              <a:rPr lang="en-IN" sz="2400" dirty="0" smtClean="0">
                <a:latin typeface="+mn-lt"/>
              </a:rPr>
              <a:t>             integrity)</a:t>
            </a:r>
          </a:p>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4" name="Picture 11" descr="copyright"/>
          <p:cNvPicPr>
            <a:picLocks noGrp="1" noChangeAspect="1" noChangeArrowheads="1"/>
          </p:cNvPicPr>
          <p:nvPr>
            <p:ph sz="half" idx="4294967295"/>
          </p:nvPr>
        </p:nvPicPr>
        <p:blipFill>
          <a:blip r:embed="rId4" cstate="print"/>
          <a:srcRect/>
          <a:stretch>
            <a:fillRect/>
          </a:stretch>
        </p:blipFill>
        <p:spPr>
          <a:xfrm>
            <a:off x="2051720" y="0"/>
            <a:ext cx="908720" cy="908720"/>
          </a:xfrm>
          <a:prstGeom prst="rect">
            <a:avLst/>
          </a:prstGeom>
        </p:spPr>
      </p:pic>
      <p:sp>
        <p:nvSpPr>
          <p:cNvPr id="6" name="Slide Number Placeholder 5"/>
          <p:cNvSpPr>
            <a:spLocks noGrp="1"/>
          </p:cNvSpPr>
          <p:nvPr>
            <p:ph type="sldNum" sz="quarter" idx="12"/>
          </p:nvPr>
        </p:nvSpPr>
        <p:spPr/>
        <p:txBody>
          <a:bodyPr/>
          <a:lstStyle/>
          <a:p>
            <a:pPr>
              <a:defRPr/>
            </a:pPr>
            <a:fld id="{D7E06C30-71D3-457B-A8D9-545BE19DB6E8}" type="slidenum">
              <a:rPr lang="fr-FR" smtClean="0"/>
              <a:pPr>
                <a:defRPr/>
              </a:pPr>
              <a:t>12</a:t>
            </a:fld>
            <a:endParaRPr lang="fr-FR"/>
          </a:p>
        </p:txBody>
      </p:sp>
    </p:spTree>
  </p:cSld>
  <p:clrMapOvr>
    <a:masterClrMapping/>
  </p:clrMapOvr>
  <p:transition>
    <p:wedg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763688" y="0"/>
            <a:ext cx="584299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a:defRPr/>
            </a:pPr>
            <a:r>
              <a:rPr lang="en-US" sz="4400" b="1" cap="all" dirty="0" smtClean="0">
                <a:ln w="9000" cmpd="sng">
                  <a:solidFill>
                    <a:schemeClr val="accent4">
                      <a:shade val="50000"/>
                      <a:satMod val="120000"/>
                    </a:schemeClr>
                  </a:solidFill>
                  <a:prstDash val="solid"/>
                </a:ln>
                <a:solidFill>
                  <a:srgbClr val="C00000"/>
                </a:solidFill>
                <a:effectLst>
                  <a:reflection blurRad="12700" stA="28000" endPos="45000" dist="1000" dir="5400000" sy="-100000" algn="bl" rotWithShape="0"/>
                </a:effectLst>
              </a:rPr>
              <a:t>Copyright</a:t>
            </a:r>
          </a:p>
        </p:txBody>
      </p:sp>
      <p:sp>
        <p:nvSpPr>
          <p:cNvPr id="10" name="Rectangle 3"/>
          <p:cNvSpPr txBox="1">
            <a:spLocks noChangeArrowheads="1"/>
          </p:cNvSpPr>
          <p:nvPr/>
        </p:nvSpPr>
        <p:spPr bwMode="auto">
          <a:xfrm>
            <a:off x="467544" y="1340768"/>
            <a:ext cx="8676456" cy="55172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buFont typeface="Arial" pitchFamily="34" charset="0"/>
              <a:buChar char="•"/>
              <a:defRPr/>
            </a:pPr>
            <a:r>
              <a:rPr lang="en-IN" sz="2400" dirty="0" smtClean="0">
                <a:latin typeface="+mn-lt"/>
              </a:rPr>
              <a:t>Copyright has a time limit: it usually lasts for the life of the author and 50 years after his death(in India it is  60 years)</a:t>
            </a:r>
          </a:p>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buFont typeface="Arial" pitchFamily="34" charset="0"/>
              <a:buChar char="•"/>
              <a:defRPr/>
            </a:pPr>
            <a:r>
              <a:rPr lang="en-US" sz="2400" dirty="0" smtClean="0">
                <a:latin typeface="+mn-lt"/>
              </a:rPr>
              <a:t>Publication of excerpts needs acknowledgment.  Material cannot be posted on a Web site without permission from copyright holder</a:t>
            </a:r>
            <a:endParaRPr lang="en-IN" sz="2400" dirty="0" smtClean="0">
              <a:latin typeface="+mn-lt"/>
            </a:endParaRPr>
          </a:p>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buFont typeface="Arial" pitchFamily="34" charset="0"/>
              <a:buChar char="•"/>
              <a:defRPr/>
            </a:pPr>
            <a:r>
              <a:rPr lang="en-IN" sz="2400" dirty="0" smtClean="0">
                <a:latin typeface="+mn-lt"/>
              </a:rPr>
              <a:t>Copyright is subject to limitations and exceptions - social, educational and other public policy considerations</a:t>
            </a:r>
          </a:p>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buFont typeface="Arial" pitchFamily="34" charset="0"/>
              <a:buChar char="•"/>
              <a:defRPr/>
            </a:pPr>
            <a:r>
              <a:rPr lang="en-IN" sz="2400" dirty="0" smtClean="0">
                <a:latin typeface="+mn-lt"/>
              </a:rPr>
              <a:t>International treaties, as well as national laws, allow to freely use limited portions of a work for certain purposes like:</a:t>
            </a:r>
          </a:p>
          <a:p>
            <a:pPr marL="342900" lvl="0" indent="-342900">
              <a:lnSpc>
                <a:spcPct val="80000"/>
              </a:lnSpc>
              <a:spcBef>
                <a:spcPct val="20000"/>
              </a:spcBef>
              <a:defRPr/>
            </a:pPr>
            <a:r>
              <a:rPr lang="en-IN" sz="2400" dirty="0" smtClean="0">
                <a:latin typeface="+mn-lt"/>
              </a:rPr>
              <a:t>		- news reporting</a:t>
            </a:r>
          </a:p>
          <a:p>
            <a:pPr marL="342900" lvl="0" indent="-342900">
              <a:lnSpc>
                <a:spcPct val="80000"/>
              </a:lnSpc>
              <a:spcBef>
                <a:spcPct val="20000"/>
              </a:spcBef>
              <a:defRPr/>
            </a:pPr>
            <a:r>
              <a:rPr lang="en-IN" sz="2400" dirty="0" smtClean="0">
                <a:latin typeface="+mn-lt"/>
              </a:rPr>
              <a:t>		- making quotations in a way compatible with fair practices</a:t>
            </a:r>
          </a:p>
          <a:p>
            <a:pPr marL="342900" lvl="0" indent="-342900">
              <a:lnSpc>
                <a:spcPct val="80000"/>
              </a:lnSpc>
              <a:spcBef>
                <a:spcPct val="20000"/>
              </a:spcBef>
              <a:defRPr/>
            </a:pPr>
            <a:r>
              <a:rPr lang="en-IN" sz="2400" dirty="0" smtClean="0">
                <a:latin typeface="+mn-lt"/>
              </a:rPr>
              <a:t>		- illustration for teaching.</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4" name="Picture 11" descr="copyright"/>
          <p:cNvPicPr>
            <a:picLocks noGrp="1" noChangeAspect="1" noChangeArrowheads="1"/>
          </p:cNvPicPr>
          <p:nvPr>
            <p:ph sz="half" idx="4294967295"/>
          </p:nvPr>
        </p:nvPicPr>
        <p:blipFill>
          <a:blip r:embed="rId4" cstate="print"/>
          <a:srcRect/>
          <a:stretch>
            <a:fillRect/>
          </a:stretch>
        </p:blipFill>
        <p:spPr>
          <a:xfrm>
            <a:off x="6588224" y="0"/>
            <a:ext cx="1428750" cy="1428750"/>
          </a:xfrm>
          <a:prstGeom prst="rect">
            <a:avLst/>
          </a:prstGeom>
        </p:spPr>
      </p:pic>
      <p:sp>
        <p:nvSpPr>
          <p:cNvPr id="6" name="Slide Number Placeholder 5"/>
          <p:cNvSpPr>
            <a:spLocks noGrp="1"/>
          </p:cNvSpPr>
          <p:nvPr>
            <p:ph type="sldNum" sz="quarter" idx="12"/>
          </p:nvPr>
        </p:nvSpPr>
        <p:spPr/>
        <p:txBody>
          <a:bodyPr/>
          <a:lstStyle/>
          <a:p>
            <a:pPr>
              <a:defRPr/>
            </a:pPr>
            <a:fld id="{D7E06C30-71D3-457B-A8D9-545BE19DB6E8}" type="slidenum">
              <a:rPr lang="fr-FR" smtClean="0"/>
              <a:pPr>
                <a:defRPr/>
              </a:pPr>
              <a:t>13</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in)">
                                      <p:cBhvr>
                                        <p:cTn id="7" dur="2000"/>
                                        <p:tgtEl>
                                          <p:spTgt spid="9"/>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amond(in)">
                                      <p:cBhvr>
                                        <p:cTn id="10" dur="2000"/>
                                        <p:tgtEl>
                                          <p:spTgt spid="10"/>
                                        </p:tgtEl>
                                      </p:cBhvr>
                                    </p:animEffect>
                                  </p:childTnLst>
                                </p:cTn>
                              </p:par>
                              <p:par>
                                <p:cTn id="11" presetID="8" presetClass="entr" presetSubtype="16"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amond(in)">
                                      <p:cBhvr>
                                        <p:cTn id="13" dur="2000"/>
                                        <p:tgtEl>
                                          <p:spTgt spid="4"/>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amond(in)">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 name="Rectangle 3"/>
          <p:cNvSpPr>
            <a:spLocks noGrp="1" noChangeArrowheads="1"/>
          </p:cNvSpPr>
          <p:nvPr>
            <p:ph type="ctrTitle"/>
          </p:nvPr>
        </p:nvSpPr>
        <p:spPr>
          <a:xfrm>
            <a:off x="685800" y="2130425"/>
            <a:ext cx="8062664" cy="3602831"/>
          </a:xfrm>
        </p:spPr>
        <p:txBody>
          <a:bodyPr/>
          <a:lstStyle/>
          <a:p>
            <a:pPr algn="l" eaLnBrk="1" hangingPunct="1">
              <a:lnSpc>
                <a:spcPct val="80000"/>
              </a:lnSpc>
              <a:buClr>
                <a:srgbClr val="C00000"/>
              </a:buClr>
              <a:buFont typeface="Wingdings" pitchFamily="2" charset="2"/>
              <a:buChar char="Ø"/>
              <a:defRPr/>
            </a:pPr>
            <a:r>
              <a:rPr lang="en-US" sz="2100" b="1" dirty="0" smtClean="0">
                <a:latin typeface="+mn-lt"/>
              </a:rPr>
              <a:t>  </a:t>
            </a:r>
            <a:r>
              <a:rPr lang="en-US" sz="2400" dirty="0" smtClean="0">
                <a:latin typeface="+mn-lt"/>
              </a:rPr>
              <a:t>A symbol (logo, words, shapes, jingles) to provide a product or service with  recognizable identity to distinguish from competing products.</a:t>
            </a:r>
          </a:p>
          <a:p>
            <a:pPr algn="l" eaLnBrk="1" hangingPunct="1">
              <a:lnSpc>
                <a:spcPct val="80000"/>
              </a:lnSpc>
              <a:buFontTx/>
              <a:buNone/>
              <a:defRPr/>
            </a:pPr>
            <a:endParaRPr lang="en-US" sz="2400" dirty="0" smtClean="0">
              <a:latin typeface="+mn-lt"/>
            </a:endParaRPr>
          </a:p>
          <a:p>
            <a:pPr algn="l" eaLnBrk="1" hangingPunct="1">
              <a:lnSpc>
                <a:spcPct val="80000"/>
              </a:lnSpc>
              <a:buClr>
                <a:srgbClr val="C00000"/>
              </a:buClr>
              <a:buFont typeface="Wingdings" pitchFamily="2" charset="2"/>
              <a:buChar char="Ø"/>
              <a:defRPr/>
            </a:pPr>
            <a:r>
              <a:rPr lang="en-US" sz="2400" dirty="0" smtClean="0">
                <a:latin typeface="+mn-lt"/>
              </a:rPr>
              <a:t>  TM protects distinctive components which make up marketing identity of brand including pharmaceuticals.</a:t>
            </a:r>
          </a:p>
          <a:p>
            <a:pPr algn="l" eaLnBrk="1" hangingPunct="1">
              <a:lnSpc>
                <a:spcPct val="80000"/>
              </a:lnSpc>
              <a:buFontTx/>
              <a:buNone/>
              <a:defRPr/>
            </a:pPr>
            <a:endParaRPr lang="en-US" sz="2400" dirty="0" smtClean="0">
              <a:latin typeface="+mn-lt"/>
            </a:endParaRPr>
          </a:p>
          <a:p>
            <a:pPr algn="l" eaLnBrk="1" hangingPunct="1">
              <a:lnSpc>
                <a:spcPct val="80000"/>
              </a:lnSpc>
              <a:buFontTx/>
              <a:buNone/>
              <a:defRPr/>
            </a:pPr>
            <a:endParaRPr lang="en-US" sz="2400" dirty="0" smtClean="0">
              <a:latin typeface="+mn-lt"/>
            </a:endParaRPr>
          </a:p>
          <a:p>
            <a:pPr algn="l" eaLnBrk="1" hangingPunct="1">
              <a:lnSpc>
                <a:spcPct val="80000"/>
              </a:lnSpc>
              <a:buClr>
                <a:srgbClr val="C00000"/>
              </a:buClr>
              <a:buFont typeface="Wingdings" pitchFamily="2" charset="2"/>
              <a:buChar char="Ø"/>
              <a:defRPr/>
            </a:pPr>
            <a:r>
              <a:rPr lang="en-US" sz="2400" dirty="0" smtClean="0">
                <a:latin typeface="+mn-lt"/>
              </a:rPr>
              <a:t>If registered nationally or internationally—use of symbol  </a:t>
            </a:r>
            <a:r>
              <a:rPr lang="en-US" sz="4000" dirty="0" smtClean="0">
                <a:latin typeface="+mn-lt"/>
              </a:rPr>
              <a:t>®</a:t>
            </a:r>
            <a:r>
              <a:rPr lang="en-US" sz="2400" dirty="0" smtClean="0">
                <a:latin typeface="+mn-lt"/>
              </a:rPr>
              <a:t>.   Unregistered trademark followed by letters – </a:t>
            </a:r>
            <a:r>
              <a:rPr lang="en-US" sz="2400" baseline="30000" dirty="0" smtClean="0">
                <a:latin typeface="+mn-lt"/>
              </a:rPr>
              <a:t>TM</a:t>
            </a:r>
          </a:p>
          <a:p>
            <a:pPr algn="l" eaLnBrk="1" hangingPunct="1">
              <a:lnSpc>
                <a:spcPct val="80000"/>
              </a:lnSpc>
              <a:defRPr/>
            </a:pPr>
            <a:endParaRPr lang="en-US" sz="2100" baseline="30000" dirty="0" smtClean="0">
              <a:latin typeface="+mn-lt"/>
            </a:endParaRPr>
          </a:p>
        </p:txBody>
      </p:sp>
      <p:sp>
        <p:nvSpPr>
          <p:cNvPr id="4" name="Rectangle 2"/>
          <p:cNvSpPr txBox="1">
            <a:spLocks noChangeArrowheads="1"/>
          </p:cNvSpPr>
          <p:nvPr/>
        </p:nvSpPr>
        <p:spPr bwMode="auto">
          <a:xfrm>
            <a:off x="1043608" y="404664"/>
            <a:ext cx="6851104" cy="13843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1" i="0" u="none" strike="noStrike" kern="1200" normalizeH="0" baseline="0" noProof="0" dirty="0" smtClean="0">
                <a:ln w="1905">
                  <a:solidFill>
                    <a:schemeClr val="bg2">
                      <a:lumMod val="10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glow rad="63500">
                    <a:schemeClr val="accent2">
                      <a:satMod val="175000"/>
                      <a:alpha val="40000"/>
                    </a:schemeClr>
                  </a:glow>
                  <a:innerShdw blurRad="69850" dist="43180" dir="5400000">
                    <a:srgbClr val="000000">
                      <a:alpha val="65000"/>
                    </a:srgbClr>
                  </a:innerShdw>
                </a:effectLst>
                <a:uLnTx/>
                <a:uFillTx/>
                <a:latin typeface="+mj-lt"/>
                <a:ea typeface="+mj-ea"/>
                <a:cs typeface="+mj-cs"/>
              </a:rPr>
              <a:t>Trademarks</a:t>
            </a:r>
          </a:p>
        </p:txBody>
      </p:sp>
      <p:sp>
        <p:nvSpPr>
          <p:cNvPr id="6" name="Slide Number Placeholder 5"/>
          <p:cNvSpPr>
            <a:spLocks noGrp="1"/>
          </p:cNvSpPr>
          <p:nvPr>
            <p:ph type="sldNum" sz="quarter" idx="12"/>
          </p:nvPr>
        </p:nvSpPr>
        <p:spPr/>
        <p:txBody>
          <a:bodyPr/>
          <a:lstStyle/>
          <a:p>
            <a:pPr>
              <a:defRPr/>
            </a:pPr>
            <a:fld id="{14DEDCAF-836C-4C56-8066-90DEE0DCB67C}" type="slidenum">
              <a:rPr lang="fr-FR" smtClean="0"/>
              <a:pPr>
                <a:defRPr/>
              </a:pPr>
              <a:t>14</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835696" y="332656"/>
            <a:ext cx="584299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a:defRPr/>
            </a:pPr>
            <a:r>
              <a:rPr lang="en-US" sz="4400" b="1" dirty="0" smtClean="0">
                <a:ln w="1905">
                  <a:solidFill>
                    <a:schemeClr val="bg2">
                      <a:lumMod val="10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glow rad="63500">
                    <a:schemeClr val="accent2">
                      <a:satMod val="175000"/>
                      <a:alpha val="40000"/>
                    </a:schemeClr>
                  </a:glow>
                  <a:innerShdw blurRad="69850" dist="43180" dir="5400000">
                    <a:srgbClr val="000000">
                      <a:alpha val="65000"/>
                    </a:srgbClr>
                  </a:innerShdw>
                </a:effectLst>
              </a:rPr>
              <a:t>Trademarks</a:t>
            </a:r>
          </a:p>
        </p:txBody>
      </p:sp>
      <p:sp>
        <p:nvSpPr>
          <p:cNvPr id="10" name="Rectangle 3"/>
          <p:cNvSpPr txBox="1">
            <a:spLocks noChangeArrowheads="1"/>
          </p:cNvSpPr>
          <p:nvPr/>
        </p:nvSpPr>
        <p:spPr bwMode="auto">
          <a:xfrm>
            <a:off x="179512" y="1700808"/>
            <a:ext cx="8964488"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a:lnSpc>
                <a:spcPct val="80000"/>
              </a:lnSpc>
              <a:spcBef>
                <a:spcPct val="20000"/>
              </a:spcBef>
              <a:buFont typeface="Arial" pitchFamily="34" charset="0"/>
              <a:buChar char="•"/>
              <a:defRPr/>
            </a:pPr>
            <a:r>
              <a:rPr lang="en-IN" sz="2400" dirty="0" smtClean="0">
                <a:latin typeface="+mn-lt"/>
              </a:rPr>
              <a:t>Trademarks may perform different functions:</a:t>
            </a:r>
          </a:p>
          <a:p>
            <a:pPr marL="342900" lvl="0" indent="-342900">
              <a:lnSpc>
                <a:spcPct val="80000"/>
              </a:lnSpc>
              <a:spcBef>
                <a:spcPct val="20000"/>
              </a:spcBef>
              <a:defRPr/>
            </a:pPr>
            <a:endParaRPr lang="en-IN" sz="2400" dirty="0" smtClean="0">
              <a:latin typeface="+mn-lt"/>
            </a:endParaRPr>
          </a:p>
          <a:p>
            <a:pPr marL="342900" lvl="0" indent="-342900">
              <a:lnSpc>
                <a:spcPct val="80000"/>
              </a:lnSpc>
              <a:spcBef>
                <a:spcPct val="20000"/>
              </a:spcBef>
              <a:defRPr/>
            </a:pPr>
            <a:r>
              <a:rPr lang="en-IN" sz="2400" dirty="0" smtClean="0">
                <a:latin typeface="+mn-lt"/>
              </a:rPr>
              <a:t>	- help consumers identify and distinguish products or services </a:t>
            </a:r>
          </a:p>
          <a:p>
            <a:pPr marL="342900" lvl="0" indent="-342900">
              <a:lnSpc>
                <a:spcPct val="80000"/>
              </a:lnSpc>
              <a:spcBef>
                <a:spcPct val="20000"/>
              </a:spcBef>
              <a:defRPr/>
            </a:pPr>
            <a:r>
              <a:rPr lang="en-IN" sz="2400" dirty="0" smtClean="0">
                <a:latin typeface="+mn-lt"/>
              </a:rPr>
              <a:t>	- enable companies to differentiate between their products</a:t>
            </a:r>
          </a:p>
          <a:p>
            <a:pPr marL="342900" lvl="0" indent="-342900">
              <a:lnSpc>
                <a:spcPct val="80000"/>
              </a:lnSpc>
              <a:spcBef>
                <a:spcPct val="20000"/>
              </a:spcBef>
              <a:defRPr/>
            </a:pPr>
            <a:r>
              <a:rPr lang="en-IN" sz="2400" dirty="0" smtClean="0">
                <a:latin typeface="+mn-lt"/>
              </a:rPr>
              <a:t>	- are a marketing tool and the basis for building a brand image  </a:t>
            </a:r>
          </a:p>
          <a:p>
            <a:pPr marL="342900" lvl="0" indent="-342900">
              <a:lnSpc>
                <a:spcPct val="80000"/>
              </a:lnSpc>
              <a:spcBef>
                <a:spcPct val="20000"/>
              </a:spcBef>
              <a:defRPr/>
            </a:pPr>
            <a:r>
              <a:rPr lang="en-IN" sz="2400" dirty="0" smtClean="0">
                <a:latin typeface="+mn-lt"/>
              </a:rPr>
              <a:t>        &amp; reputation</a:t>
            </a:r>
          </a:p>
          <a:p>
            <a:pPr marL="342900" lvl="0" indent="-342900">
              <a:lnSpc>
                <a:spcPct val="80000"/>
              </a:lnSpc>
              <a:spcBef>
                <a:spcPct val="20000"/>
              </a:spcBef>
              <a:defRPr/>
            </a:pPr>
            <a:r>
              <a:rPr lang="en-IN" sz="2400" dirty="0" smtClean="0">
                <a:latin typeface="+mn-lt"/>
              </a:rPr>
              <a:t>	 - may be licensed and provide a direct source of revenue through  </a:t>
            </a:r>
          </a:p>
          <a:p>
            <a:pPr marL="342900" lvl="0" indent="-342900">
              <a:lnSpc>
                <a:spcPct val="80000"/>
              </a:lnSpc>
              <a:spcBef>
                <a:spcPct val="20000"/>
              </a:spcBef>
              <a:defRPr/>
            </a:pPr>
            <a:r>
              <a:rPr lang="en-IN" sz="2400" dirty="0" smtClean="0">
                <a:latin typeface="+mn-lt"/>
              </a:rPr>
              <a:t>        royalties</a:t>
            </a:r>
          </a:p>
          <a:p>
            <a:pPr marL="342900" lvl="0" indent="-342900">
              <a:lnSpc>
                <a:spcPct val="80000"/>
              </a:lnSpc>
              <a:spcBef>
                <a:spcPct val="20000"/>
              </a:spcBef>
              <a:defRPr/>
            </a:pPr>
            <a:r>
              <a:rPr lang="en-IN" sz="2400" dirty="0" smtClean="0">
                <a:latin typeface="+mn-lt"/>
              </a:rPr>
              <a:t>	 - are a crucial component of business assets</a:t>
            </a:r>
          </a:p>
          <a:p>
            <a:pPr marL="342900" lvl="0" indent="-342900">
              <a:lnSpc>
                <a:spcPct val="80000"/>
              </a:lnSpc>
              <a:spcBef>
                <a:spcPct val="20000"/>
              </a:spcBef>
              <a:defRPr/>
            </a:pPr>
            <a:r>
              <a:rPr lang="en-IN" sz="2400" dirty="0" smtClean="0">
                <a:latin typeface="+mn-lt"/>
              </a:rPr>
              <a:t>	- encourage companies to invest in maintaining or improving quality </a:t>
            </a:r>
          </a:p>
          <a:p>
            <a:pPr marL="342900" lvl="0" indent="-342900">
              <a:lnSpc>
                <a:spcPct val="80000"/>
              </a:lnSpc>
              <a:spcBef>
                <a:spcPct val="20000"/>
              </a:spcBef>
              <a:defRPr/>
            </a:pPr>
            <a:r>
              <a:rPr lang="en-IN" sz="2400" dirty="0" smtClean="0">
                <a:latin typeface="+mn-lt"/>
              </a:rPr>
              <a:t>       products</a:t>
            </a:r>
          </a:p>
          <a:p>
            <a:pPr marL="342900" lvl="0" indent="-342900">
              <a:lnSpc>
                <a:spcPct val="80000"/>
              </a:lnSpc>
              <a:spcBef>
                <a:spcPct val="20000"/>
              </a:spcBef>
              <a:defRPr/>
            </a:pPr>
            <a:r>
              <a:rPr lang="en-IN" sz="2400" dirty="0" smtClean="0">
                <a:latin typeface="+mn-lt"/>
              </a:rPr>
              <a:t>	- may be useful for obtaining finance.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a:defRPr/>
            </a:pPr>
            <a:fld id="{D7E06C30-71D3-457B-A8D9-545BE19DB6E8}" type="slidenum">
              <a:rPr lang="fr-FR" smtClean="0"/>
              <a:pPr>
                <a:defRPr/>
              </a:pPr>
              <a:t>15</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835696" y="332656"/>
            <a:ext cx="584299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a:defRPr/>
            </a:pPr>
            <a:r>
              <a:rPr lang="en-US" sz="4400" b="1" dirty="0" smtClean="0">
                <a:ln w="1905">
                  <a:solidFill>
                    <a:schemeClr val="bg2">
                      <a:lumMod val="10000"/>
                    </a:schemeClr>
                  </a:solidFill>
                </a:ln>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glow rad="63500">
                    <a:schemeClr val="accent2">
                      <a:satMod val="175000"/>
                      <a:alpha val="40000"/>
                    </a:schemeClr>
                  </a:glow>
                  <a:innerShdw blurRad="69850" dist="43180" dir="5400000">
                    <a:srgbClr val="000000">
                      <a:alpha val="65000"/>
                    </a:srgbClr>
                  </a:innerShdw>
                </a:effectLst>
              </a:rPr>
              <a:t>Trademarks</a:t>
            </a:r>
          </a:p>
        </p:txBody>
      </p:sp>
      <p:sp>
        <p:nvSpPr>
          <p:cNvPr id="10" name="Rectangle 3"/>
          <p:cNvSpPr txBox="1">
            <a:spLocks noChangeArrowheads="1"/>
          </p:cNvSpPr>
          <p:nvPr/>
        </p:nvSpPr>
        <p:spPr bwMode="auto">
          <a:xfrm>
            <a:off x="179512" y="1700808"/>
            <a:ext cx="8964488"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a:lnSpc>
                <a:spcPct val="80000"/>
              </a:lnSpc>
              <a:spcBef>
                <a:spcPct val="20000"/>
              </a:spcBef>
              <a:buFont typeface="Arial" pitchFamily="34" charset="0"/>
              <a:buChar char="•"/>
              <a:defRPr/>
            </a:pPr>
            <a:r>
              <a:rPr lang="en-IN" sz="2400" dirty="0" smtClean="0">
                <a:latin typeface="+mn-lt"/>
              </a:rPr>
              <a:t>Efficient way of protecting a trademark is to have it registered – National / Regional trademark Office </a:t>
            </a:r>
          </a:p>
          <a:p>
            <a:pPr marL="342900" lvl="0" indent="-342900">
              <a:lnSpc>
                <a:spcPct val="80000"/>
              </a:lnSpc>
              <a:spcBef>
                <a:spcPct val="20000"/>
              </a:spcBef>
              <a:buFont typeface="Arial" pitchFamily="34" charset="0"/>
              <a:buChar char="•"/>
              <a:defRPr/>
            </a:pPr>
            <a:r>
              <a:rPr lang="en-IN" sz="2400" dirty="0" smtClean="0">
                <a:latin typeface="+mn-lt"/>
              </a:rPr>
              <a:t>Trademarks are territorial rights</a:t>
            </a:r>
          </a:p>
          <a:p>
            <a:pPr marL="342900" lvl="0" indent="-342900">
              <a:lnSpc>
                <a:spcPct val="80000"/>
              </a:lnSpc>
              <a:spcBef>
                <a:spcPct val="20000"/>
              </a:spcBef>
              <a:buFont typeface="Arial" pitchFamily="34" charset="0"/>
              <a:buChar char="•"/>
              <a:defRPr/>
            </a:pPr>
            <a:r>
              <a:rPr lang="en-IN" sz="2400" dirty="0" smtClean="0">
                <a:latin typeface="+mn-lt"/>
              </a:rPr>
              <a:t>A trademark owner is given the exclusive rights:</a:t>
            </a:r>
          </a:p>
          <a:p>
            <a:pPr marL="342900" lvl="0" indent="-342900">
              <a:lnSpc>
                <a:spcPct val="80000"/>
              </a:lnSpc>
              <a:spcBef>
                <a:spcPct val="20000"/>
              </a:spcBef>
              <a:defRPr/>
            </a:pPr>
            <a:r>
              <a:rPr lang="en-IN" sz="2400" dirty="0" smtClean="0">
                <a:latin typeface="+mn-lt"/>
              </a:rPr>
              <a:t>		  - to use the trademark to identify his goods or services</a:t>
            </a:r>
          </a:p>
          <a:p>
            <a:pPr marL="342900" lvl="0" indent="-342900">
              <a:lnSpc>
                <a:spcPct val="80000"/>
              </a:lnSpc>
              <a:spcBef>
                <a:spcPct val="20000"/>
              </a:spcBef>
              <a:defRPr/>
            </a:pPr>
            <a:r>
              <a:rPr lang="en-IN" sz="2400" dirty="0" smtClean="0">
                <a:latin typeface="+mn-lt"/>
              </a:rPr>
              <a:t>		  - to prevent others from using and marketing the same or  a     </a:t>
            </a:r>
          </a:p>
          <a:p>
            <a:pPr marL="342900" lvl="0" indent="-342900">
              <a:lnSpc>
                <a:spcPct val="80000"/>
              </a:lnSpc>
              <a:spcBef>
                <a:spcPct val="20000"/>
              </a:spcBef>
              <a:defRPr/>
            </a:pPr>
            <a:r>
              <a:rPr lang="en-IN" sz="2400" dirty="0" smtClean="0">
                <a:latin typeface="+mn-lt"/>
              </a:rPr>
              <a:t>                  similar trademark for the same or similar goods or services</a:t>
            </a:r>
          </a:p>
          <a:p>
            <a:pPr marL="342900" lvl="0" indent="-342900">
              <a:lnSpc>
                <a:spcPct val="80000"/>
              </a:lnSpc>
              <a:spcBef>
                <a:spcPct val="20000"/>
              </a:spcBef>
              <a:defRPr/>
            </a:pPr>
            <a:r>
              <a:rPr lang="en-IN" sz="2400" dirty="0" smtClean="0">
                <a:latin typeface="+mn-lt"/>
              </a:rPr>
              <a:t>		  - to authorize others to use the trademark, (e.g. by franchising  </a:t>
            </a:r>
          </a:p>
          <a:p>
            <a:pPr marL="342900" lvl="0" indent="-342900">
              <a:lnSpc>
                <a:spcPct val="80000"/>
              </a:lnSpc>
              <a:spcBef>
                <a:spcPct val="20000"/>
              </a:spcBef>
              <a:defRPr/>
            </a:pPr>
            <a:r>
              <a:rPr lang="en-IN" sz="2400" dirty="0" smtClean="0">
                <a:latin typeface="+mn-lt"/>
              </a:rPr>
              <a:t>                  or licensing agreements) and in return for payment.</a:t>
            </a:r>
          </a:p>
          <a:p>
            <a:pPr marL="342900" lvl="0" indent="-342900">
              <a:lnSpc>
                <a:spcPct val="80000"/>
              </a:lnSpc>
              <a:spcBef>
                <a:spcPct val="20000"/>
              </a:spcBef>
              <a:buFont typeface="Arial" pitchFamily="34" charset="0"/>
              <a:buChar char="•"/>
              <a:defRPr/>
            </a:pPr>
            <a:r>
              <a:rPr lang="en-IN" sz="2400" dirty="0" smtClean="0">
                <a:latin typeface="+mn-lt"/>
              </a:rPr>
              <a:t>The period of protection varies (it is usually 10 years)</a:t>
            </a:r>
          </a:p>
          <a:p>
            <a:pPr marL="342900" lvl="0" indent="-342900">
              <a:lnSpc>
                <a:spcPct val="80000"/>
              </a:lnSpc>
              <a:spcBef>
                <a:spcPct val="20000"/>
              </a:spcBef>
              <a:buFont typeface="Arial" pitchFamily="34" charset="0"/>
              <a:buChar char="•"/>
              <a:defRPr/>
            </a:pPr>
            <a:r>
              <a:rPr lang="en-IN" sz="2400" smtClean="0">
                <a:latin typeface="+mn-lt"/>
              </a:rPr>
              <a:t>But </a:t>
            </a:r>
            <a:r>
              <a:rPr lang="en-IN" sz="2400" dirty="0" smtClean="0">
                <a:latin typeface="+mn-lt"/>
              </a:rPr>
              <a:t>a trademark can be renewed indefinitely on payment of the corresponding fees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a:defRPr/>
            </a:pPr>
            <a:fld id="{D7E06C30-71D3-457B-A8D9-545BE19DB6E8}" type="slidenum">
              <a:rPr lang="fr-FR" smtClean="0"/>
              <a:pPr>
                <a:defRPr/>
              </a:pPr>
              <a:t>16</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467544" y="1916832"/>
            <a:ext cx="8229600" cy="4311650"/>
          </a:xfrm>
        </p:spPr>
        <p:txBody>
          <a:bodyPr/>
          <a:lstStyle/>
          <a:p>
            <a:r>
              <a:rPr lang="en-US" sz="2800" dirty="0" smtClean="0"/>
              <a:t>Most  important instrument to date concerning Intellectual Property  Protection. </a:t>
            </a:r>
          </a:p>
          <a:p>
            <a:pPr algn="just"/>
            <a:r>
              <a:rPr lang="en-US" sz="2800" dirty="0" smtClean="0"/>
              <a:t>Introduced global minimum standards for protecting and enforcing nearly all forms of Intellectual Property Rights, including those for patents. </a:t>
            </a:r>
          </a:p>
          <a:p>
            <a:r>
              <a:rPr lang="en-US" sz="2800" dirty="0" smtClean="0"/>
              <a:t>Minimum criteria for filing of patent applications</a:t>
            </a:r>
          </a:p>
          <a:p>
            <a:pPr>
              <a:buNone/>
            </a:pPr>
            <a:r>
              <a:rPr lang="en-US" sz="2800" dirty="0" smtClean="0"/>
              <a:t>         - novel</a:t>
            </a:r>
          </a:p>
          <a:p>
            <a:pPr>
              <a:buNone/>
            </a:pPr>
            <a:r>
              <a:rPr lang="en-US" sz="2800" dirty="0" smtClean="0"/>
              <a:t>         - involve an inventive step and </a:t>
            </a:r>
          </a:p>
          <a:p>
            <a:pPr>
              <a:buNone/>
            </a:pPr>
            <a:r>
              <a:rPr lang="en-US" sz="2800" dirty="0" smtClean="0"/>
              <a:t>        - are capable of  commercial application</a:t>
            </a:r>
          </a:p>
        </p:txBody>
      </p:sp>
      <p:sp>
        <p:nvSpPr>
          <p:cNvPr id="4" name="Text Box 3"/>
          <p:cNvSpPr txBox="1">
            <a:spLocks noChangeArrowheads="1"/>
          </p:cNvSpPr>
          <p:nvPr/>
        </p:nvSpPr>
        <p:spPr bwMode="auto">
          <a:xfrm>
            <a:off x="1691680" y="548680"/>
            <a:ext cx="5943600" cy="1077218"/>
          </a:xfrm>
          <a:prstGeom prst="rect">
            <a:avLst/>
          </a:prstGeom>
          <a:noFill/>
          <a:ln w="12700" cap="sq">
            <a:noFill/>
            <a:miter lim="800000"/>
            <a:headEnd type="none" w="sm" len="sm"/>
            <a:tailEnd type="none" w="sm" len="sm"/>
          </a:ln>
          <a:effectLst/>
        </p:spPr>
        <p:txBody>
          <a:bodyPr>
            <a:spAutoFit/>
          </a:bodyPr>
          <a:lstStyle/>
          <a:p>
            <a:pPr algn="ctr">
              <a:buNone/>
            </a:pPr>
            <a:r>
              <a:rPr lang="en-US" sz="4000" b="1" dirty="0" smtClean="0">
                <a:solidFill>
                  <a:srgbClr val="C00000"/>
                </a:solidFill>
              </a:rPr>
              <a:t>TRIPS Agreement</a:t>
            </a:r>
          </a:p>
          <a:p>
            <a:pPr algn="ctr"/>
            <a:endParaRPr lang="en-US" sz="2400" dirty="0">
              <a:solidFill>
                <a:srgbClr val="C00000"/>
              </a:solidFill>
              <a:latin typeface="Calibri" pitchFamily="34" charset="0"/>
              <a:cs typeface="Calibri" pitchFamily="34" charset="0"/>
            </a:endParaRPr>
          </a:p>
        </p:txBody>
      </p:sp>
      <p:sp>
        <p:nvSpPr>
          <p:cNvPr id="6" name="Slide Number Placeholder 5"/>
          <p:cNvSpPr>
            <a:spLocks noGrp="1"/>
          </p:cNvSpPr>
          <p:nvPr>
            <p:ph type="sldNum" sz="quarter" idx="12"/>
          </p:nvPr>
        </p:nvSpPr>
        <p:spPr/>
        <p:txBody>
          <a:bodyPr/>
          <a:lstStyle/>
          <a:p>
            <a:pPr>
              <a:defRPr/>
            </a:pPr>
            <a:fld id="{D7E06C30-71D3-457B-A8D9-545BE19DB6E8}" type="slidenum">
              <a:rPr lang="fr-FR" smtClean="0"/>
              <a:pPr>
                <a:defRPr/>
              </a:pPr>
              <a:t>17</a:t>
            </a:fld>
            <a:endParaRPr lang="fr-FR"/>
          </a:p>
        </p:txBody>
      </p:sp>
    </p:spTree>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539552" y="1772816"/>
            <a:ext cx="8229600" cy="4311650"/>
          </a:xfrm>
        </p:spPr>
        <p:txBody>
          <a:bodyPr/>
          <a:lstStyle/>
          <a:p>
            <a:pPr algn="just"/>
            <a:r>
              <a:rPr lang="en-US" sz="2800" dirty="0" smtClean="0"/>
              <a:t>Living resources or traditional knowledge and   practices are patented </a:t>
            </a:r>
          </a:p>
          <a:p>
            <a:pPr algn="just">
              <a:buFont typeface="Arial" charset="0"/>
              <a:buChar char="•"/>
              <a:defRPr/>
            </a:pPr>
            <a:r>
              <a:rPr lang="en-US" sz="2800" dirty="0" smtClean="0"/>
              <a:t>Resources   primarily of developing countries -- patent applications  by  companies in developed countries</a:t>
            </a:r>
            <a:r>
              <a:rPr lang="en-US" sz="2800" b="1" dirty="0" smtClean="0"/>
              <a:t>.</a:t>
            </a:r>
          </a:p>
          <a:p>
            <a:pPr algn="just"/>
            <a:r>
              <a:rPr lang="en-IN" sz="2800" i="1" dirty="0" smtClean="0"/>
              <a:t>Traditional Knowledge Digital Library</a:t>
            </a:r>
            <a:r>
              <a:rPr lang="en-IN" sz="2800" dirty="0" smtClean="0"/>
              <a:t> - A tool for   prevention of misappropriations of traditional        knowledge</a:t>
            </a:r>
            <a:endParaRPr lang="en-US" sz="2800" dirty="0" smtClean="0"/>
          </a:p>
        </p:txBody>
      </p:sp>
      <p:sp>
        <p:nvSpPr>
          <p:cNvPr id="4" name="Text Box 3"/>
          <p:cNvSpPr txBox="1">
            <a:spLocks noChangeArrowheads="1"/>
          </p:cNvSpPr>
          <p:nvPr/>
        </p:nvSpPr>
        <p:spPr bwMode="auto">
          <a:xfrm>
            <a:off x="1691680" y="548681"/>
            <a:ext cx="5943600" cy="1077218"/>
          </a:xfrm>
          <a:prstGeom prst="rect">
            <a:avLst/>
          </a:prstGeom>
          <a:noFill/>
          <a:ln w="12700" cap="sq">
            <a:noFill/>
            <a:miter lim="800000"/>
            <a:headEnd type="none" w="sm" len="sm"/>
            <a:tailEnd type="none" w="sm" len="sm"/>
          </a:ln>
          <a:effectLst/>
        </p:spPr>
        <p:txBody>
          <a:bodyPr wrap="square">
            <a:spAutoFit/>
          </a:bodyPr>
          <a:lstStyle/>
          <a:p>
            <a:pPr lvl="0" algn="ctr"/>
            <a:r>
              <a:rPr lang="en-IN" sz="4000" b="1" dirty="0" smtClean="0">
                <a:solidFill>
                  <a:srgbClr val="C00000"/>
                </a:solidFill>
              </a:rPr>
              <a:t>BIOPIRACY</a:t>
            </a:r>
            <a:endParaRPr lang="en-US" sz="4000" b="1" dirty="0" smtClean="0">
              <a:solidFill>
                <a:srgbClr val="C00000"/>
              </a:solidFill>
            </a:endParaRPr>
          </a:p>
          <a:p>
            <a:pPr algn="ctr"/>
            <a:endParaRPr lang="en-US" sz="2400" dirty="0">
              <a:solidFill>
                <a:srgbClr val="C00000"/>
              </a:solidFill>
              <a:latin typeface="Calibri" pitchFamily="34" charset="0"/>
              <a:cs typeface="Calibri" pitchFamily="34" charset="0"/>
            </a:endParaRPr>
          </a:p>
        </p:txBody>
      </p:sp>
      <p:sp>
        <p:nvSpPr>
          <p:cNvPr id="6" name="Slide Number Placeholder 5"/>
          <p:cNvSpPr>
            <a:spLocks noGrp="1"/>
          </p:cNvSpPr>
          <p:nvPr>
            <p:ph type="sldNum" sz="quarter" idx="12"/>
          </p:nvPr>
        </p:nvSpPr>
        <p:spPr/>
        <p:txBody>
          <a:bodyPr/>
          <a:lstStyle/>
          <a:p>
            <a:pPr>
              <a:defRPr/>
            </a:pPr>
            <a:fld id="{D7E06C30-71D3-457B-A8D9-545BE19DB6E8}" type="slidenum">
              <a:rPr lang="fr-FR" smtClean="0"/>
              <a:pPr>
                <a:defRPr/>
              </a:pPr>
              <a:t>18</a:t>
            </a:fld>
            <a:endParaRPr lang="fr-FR"/>
          </a:p>
        </p:txBody>
      </p:sp>
    </p:spTree>
  </p:cSld>
  <p:clrMapOvr>
    <a:masterClrMapping/>
  </p:clrMapOvr>
  <p:transition>
    <p:wipe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 name="Title 1"/>
          <p:cNvSpPr txBox="1">
            <a:spLocks/>
          </p:cNvSpPr>
          <p:nvPr/>
        </p:nvSpPr>
        <p:spPr bwMode="auto">
          <a:xfrm>
            <a:off x="683568" y="188640"/>
            <a:ext cx="8077200" cy="1295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5400" b="1" i="0" u="none" strike="noStrike" kern="1200" cap="none" spc="0" normalizeH="0" baseline="0" noProof="0" dirty="0" smtClean="0">
                <a:ln>
                  <a:noFill/>
                </a:ln>
                <a:solidFill>
                  <a:srgbClr val="006600"/>
                </a:solidFill>
                <a:effectLst/>
                <a:uLnTx/>
                <a:uFillTx/>
                <a:latin typeface="High Tower Text" pitchFamily="18" charset="0"/>
                <a:ea typeface="+mj-ea"/>
                <a:cs typeface="+mj-cs"/>
              </a:rPr>
              <a:t>Ethics in Research</a:t>
            </a:r>
          </a:p>
        </p:txBody>
      </p:sp>
      <p:sp>
        <p:nvSpPr>
          <p:cNvPr id="7" name="TextBox 6"/>
          <p:cNvSpPr txBox="1"/>
          <p:nvPr/>
        </p:nvSpPr>
        <p:spPr>
          <a:xfrm>
            <a:off x="838200" y="1340768"/>
            <a:ext cx="8305800" cy="5201424"/>
          </a:xfrm>
          <a:prstGeom prst="rect">
            <a:avLst/>
          </a:prstGeom>
          <a:noFill/>
        </p:spPr>
        <p:txBody>
          <a:bodyPr wrap="square">
            <a:spAutoFit/>
          </a:bodyPr>
          <a:lstStyle/>
          <a:p>
            <a:pPr marL="0" lvl="1" indent="457200">
              <a:buFont typeface="Wingdings" pitchFamily="2" charset="2"/>
              <a:buChar char="v"/>
              <a:defRPr/>
            </a:pPr>
            <a:r>
              <a:rPr lang="en-IN" sz="2000" b="1" dirty="0"/>
              <a:t>  </a:t>
            </a:r>
            <a:r>
              <a:rPr lang="en-IN" sz="2400" dirty="0">
                <a:latin typeface="+mn-lt"/>
              </a:rPr>
              <a:t>Ethics is concerned with the conduct of human beings.</a:t>
            </a:r>
          </a:p>
          <a:p>
            <a:pPr>
              <a:buFont typeface="Wingdings" pitchFamily="2" charset="2"/>
              <a:buChar char="v"/>
              <a:defRPr/>
            </a:pPr>
            <a:endParaRPr lang="en-IN" sz="2400" dirty="0">
              <a:latin typeface="+mn-lt"/>
            </a:endParaRPr>
          </a:p>
          <a:p>
            <a:pPr indent="541338">
              <a:buFont typeface="Wingdings" pitchFamily="2" charset="2"/>
              <a:buChar char="v"/>
              <a:defRPr/>
            </a:pPr>
            <a:r>
              <a:rPr lang="en-IN" sz="2400" dirty="0">
                <a:latin typeface="+mn-lt"/>
              </a:rPr>
              <a:t>Fundamental to understanding and applying ethical </a:t>
            </a:r>
            <a:br>
              <a:rPr lang="en-IN" sz="2400" dirty="0">
                <a:latin typeface="+mn-lt"/>
              </a:rPr>
            </a:br>
            <a:r>
              <a:rPr lang="en-IN" sz="2400" dirty="0">
                <a:latin typeface="+mn-lt"/>
              </a:rPr>
              <a:t>      </a:t>
            </a:r>
            <a:r>
              <a:rPr lang="en-IN" sz="2400" dirty="0" smtClean="0">
                <a:latin typeface="+mn-lt"/>
              </a:rPr>
              <a:t>  </a:t>
            </a:r>
            <a:r>
              <a:rPr lang="en-IN" sz="2400" dirty="0">
                <a:latin typeface="+mn-lt"/>
              </a:rPr>
              <a:t>principles and guidelines is the concern for and </a:t>
            </a:r>
            <a:endParaRPr lang="en-IN" sz="2400" dirty="0" smtClean="0">
              <a:latin typeface="+mn-lt"/>
            </a:endParaRPr>
          </a:p>
          <a:p>
            <a:pPr indent="541338">
              <a:defRPr/>
            </a:pPr>
            <a:r>
              <a:rPr lang="en-IN" sz="2400" dirty="0" smtClean="0">
                <a:latin typeface="+mn-lt"/>
              </a:rPr>
              <a:t>protection of </a:t>
            </a:r>
            <a:r>
              <a:rPr lang="en-IN" sz="2400" dirty="0">
                <a:latin typeface="+mn-lt"/>
              </a:rPr>
              <a:t>the human rights of the participants.</a:t>
            </a:r>
          </a:p>
          <a:p>
            <a:pPr>
              <a:buFont typeface="Wingdings" pitchFamily="2" charset="2"/>
              <a:buChar char="v"/>
              <a:defRPr/>
            </a:pPr>
            <a:endParaRPr lang="en-IN" sz="2400" dirty="0">
              <a:latin typeface="+mn-lt"/>
            </a:endParaRPr>
          </a:p>
          <a:p>
            <a:pPr indent="439738">
              <a:buFont typeface="Wingdings" pitchFamily="2" charset="2"/>
              <a:buChar char="v"/>
              <a:defRPr/>
            </a:pPr>
            <a:r>
              <a:rPr lang="en-IN" sz="2400" dirty="0" smtClean="0">
                <a:latin typeface="+mn-lt"/>
              </a:rPr>
              <a:t> All </a:t>
            </a:r>
            <a:r>
              <a:rPr lang="en-IN" sz="2400" dirty="0">
                <a:latin typeface="+mn-lt"/>
              </a:rPr>
              <a:t>scientific activities are conducted with the </a:t>
            </a:r>
            <a:r>
              <a:rPr lang="en-IN" sz="2400" dirty="0" smtClean="0">
                <a:latin typeface="+mn-lt"/>
              </a:rPr>
              <a:t> </a:t>
            </a:r>
          </a:p>
          <a:p>
            <a:pPr indent="439738">
              <a:defRPr/>
            </a:pPr>
            <a:r>
              <a:rPr lang="en-IN" sz="2400" dirty="0" smtClean="0">
                <a:latin typeface="+mn-lt"/>
              </a:rPr>
              <a:t> participation  of </a:t>
            </a:r>
            <a:r>
              <a:rPr lang="en-IN" sz="2400" dirty="0">
                <a:latin typeface="+mn-lt"/>
              </a:rPr>
              <a:t>human beings or have an impact on </a:t>
            </a:r>
            <a:r>
              <a:rPr lang="en-IN" sz="2400" dirty="0" smtClean="0">
                <a:latin typeface="+mn-lt"/>
              </a:rPr>
              <a:t>    </a:t>
            </a:r>
          </a:p>
          <a:p>
            <a:pPr indent="439738">
              <a:defRPr/>
            </a:pPr>
            <a:r>
              <a:rPr lang="en-IN" sz="2400" dirty="0" smtClean="0">
                <a:latin typeface="+mn-lt"/>
              </a:rPr>
              <a:t> human </a:t>
            </a:r>
            <a:r>
              <a:rPr lang="en-IN" sz="2400" dirty="0">
                <a:latin typeface="+mn-lt"/>
              </a:rPr>
              <a:t>beings or </a:t>
            </a:r>
            <a:r>
              <a:rPr lang="en-IN" sz="2400" dirty="0" smtClean="0">
                <a:latin typeface="+mn-lt"/>
              </a:rPr>
              <a:t>on </a:t>
            </a:r>
            <a:r>
              <a:rPr lang="en-IN" sz="2400" dirty="0">
                <a:latin typeface="+mn-lt"/>
              </a:rPr>
              <a:t>wider society and environment.</a:t>
            </a:r>
          </a:p>
          <a:p>
            <a:pPr>
              <a:buFont typeface="Wingdings" pitchFamily="2" charset="2"/>
              <a:buChar char="v"/>
              <a:defRPr/>
            </a:pPr>
            <a:endParaRPr lang="en-IN" sz="2400" dirty="0">
              <a:latin typeface="+mn-lt"/>
            </a:endParaRPr>
          </a:p>
          <a:p>
            <a:pPr indent="541338">
              <a:buFont typeface="Wingdings" pitchFamily="2" charset="2"/>
              <a:buChar char="v"/>
              <a:defRPr/>
            </a:pPr>
            <a:r>
              <a:rPr lang="en-IN" sz="2400" dirty="0">
                <a:latin typeface="+mn-lt"/>
              </a:rPr>
              <a:t>Essential that scientists/researchers understand </a:t>
            </a:r>
          </a:p>
          <a:p>
            <a:pPr indent="541338">
              <a:defRPr/>
            </a:pPr>
            <a:r>
              <a:rPr lang="en-IN" sz="2400" dirty="0">
                <a:latin typeface="+mn-lt"/>
              </a:rPr>
              <a:t>ethical issues and the implications of their </a:t>
            </a:r>
          </a:p>
          <a:p>
            <a:pPr indent="541338">
              <a:defRPr/>
            </a:pPr>
            <a:r>
              <a:rPr lang="en-IN" sz="2400" dirty="0">
                <a:latin typeface="+mn-lt"/>
              </a:rPr>
              <a:t>scientific work and act accordingly.</a:t>
            </a:r>
          </a:p>
          <a:p>
            <a:pPr>
              <a:defRPr/>
            </a:pPr>
            <a:endParaRPr lang="en-IN" sz="2000" b="1" dirty="0"/>
          </a:p>
        </p:txBody>
      </p:sp>
      <p:sp>
        <p:nvSpPr>
          <p:cNvPr id="5" name="Slide Number Placeholder 4"/>
          <p:cNvSpPr>
            <a:spLocks noGrp="1"/>
          </p:cNvSpPr>
          <p:nvPr>
            <p:ph type="sldNum" sz="quarter" idx="12"/>
          </p:nvPr>
        </p:nvSpPr>
        <p:spPr/>
        <p:txBody>
          <a:bodyPr/>
          <a:lstStyle/>
          <a:p>
            <a:pPr>
              <a:defRPr/>
            </a:pPr>
            <a:fld id="{D7E06C30-71D3-457B-A8D9-545BE19DB6E8}" type="slidenum">
              <a:rPr lang="fr-FR" smtClean="0"/>
              <a:pPr>
                <a:defRPr/>
              </a:pPr>
              <a:t>19</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5" presetClass="entr" presetSubtype="1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 name="Title 1"/>
          <p:cNvSpPr txBox="1">
            <a:spLocks/>
          </p:cNvSpPr>
          <p:nvPr/>
        </p:nvSpPr>
        <p:spPr bwMode="auto">
          <a:xfrm>
            <a:off x="611560" y="188640"/>
            <a:ext cx="8077200" cy="1295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IN" sz="4400" b="1" i="0" u="none" strike="noStrike" kern="1200" cap="none" spc="0" normalizeH="0" baseline="0" noProof="0" dirty="0" smtClean="0">
                <a:ln>
                  <a:noFill/>
                </a:ln>
                <a:solidFill>
                  <a:srgbClr val="006600"/>
                </a:solidFill>
                <a:effectLst/>
                <a:uLnTx/>
                <a:uFillTx/>
                <a:latin typeface="Bodoni MT" pitchFamily="18" charset="0"/>
                <a:ea typeface="+mj-ea"/>
                <a:cs typeface="+mj-cs"/>
              </a:rPr>
              <a:t>Basis for Ethics in Research</a:t>
            </a:r>
            <a:endParaRPr kumimoji="0" lang="en-US" sz="4400" b="1" i="0" u="none" strike="noStrike" kern="1200" cap="none" spc="0" normalizeH="0" baseline="0" noProof="0" dirty="0" smtClean="0">
              <a:ln>
                <a:noFill/>
              </a:ln>
              <a:solidFill>
                <a:srgbClr val="006600"/>
              </a:solidFill>
              <a:effectLst/>
              <a:uLnTx/>
              <a:uFillTx/>
              <a:latin typeface="Bodoni MT" pitchFamily="18" charset="0"/>
              <a:ea typeface="+mj-ea"/>
              <a:cs typeface="+mj-cs"/>
            </a:endParaRPr>
          </a:p>
        </p:txBody>
      </p:sp>
      <p:sp>
        <p:nvSpPr>
          <p:cNvPr id="9" name="Rectangle 1"/>
          <p:cNvSpPr>
            <a:spLocks noChangeArrowheads="1"/>
          </p:cNvSpPr>
          <p:nvPr/>
        </p:nvSpPr>
        <p:spPr bwMode="auto">
          <a:xfrm>
            <a:off x="395536" y="1700808"/>
            <a:ext cx="8748464" cy="4784725"/>
          </a:xfrm>
          <a:prstGeom prst="rect">
            <a:avLst/>
          </a:prstGeom>
          <a:noFill/>
          <a:ln w="9525">
            <a:noFill/>
            <a:miter lim="800000"/>
            <a:headEnd/>
            <a:tailEnd/>
          </a:ln>
        </p:spPr>
        <p:txBody>
          <a:bodyPr wrap="square" anchor="ctr">
            <a:spAutoFit/>
          </a:bodyPr>
          <a:lstStyle/>
          <a:p>
            <a:r>
              <a:rPr lang="en-US" sz="2800" b="1" dirty="0">
                <a:solidFill>
                  <a:srgbClr val="000000"/>
                </a:solidFill>
                <a:latin typeface="Bodoni MT" pitchFamily="18" charset="0"/>
                <a:ea typeface="Calibri" pitchFamily="34" charset="0"/>
                <a:cs typeface="Tahoma" pitchFamily="34" charset="0"/>
              </a:rPr>
              <a:t>Four well-known moral principles constitute the basis for ethics in research. They are:</a:t>
            </a:r>
            <a:endParaRPr lang="en-US" sz="2800" b="1" dirty="0">
              <a:latin typeface="Bodoni MT" pitchFamily="18" charset="0"/>
              <a:ea typeface="Calibri" pitchFamily="34" charset="0"/>
              <a:cs typeface="Tahoma" pitchFamily="34" charset="0"/>
            </a:endParaRPr>
          </a:p>
          <a:p>
            <a:r>
              <a:rPr lang="en-US" b="1" dirty="0">
                <a:solidFill>
                  <a:srgbClr val="000000"/>
                </a:solidFill>
                <a:ea typeface="Calibri" pitchFamily="34" charset="0"/>
                <a:cs typeface="Tahoma" pitchFamily="34" charset="0"/>
              </a:rPr>
              <a:t/>
            </a:r>
            <a:br>
              <a:rPr lang="en-US" b="1" dirty="0">
                <a:solidFill>
                  <a:srgbClr val="000000"/>
                </a:solidFill>
                <a:ea typeface="Calibri" pitchFamily="34" charset="0"/>
                <a:cs typeface="Tahoma" pitchFamily="34" charset="0"/>
              </a:rPr>
            </a:br>
            <a:r>
              <a:rPr lang="en-US" sz="2000" b="1" i="1" dirty="0">
                <a:solidFill>
                  <a:srgbClr val="000000"/>
                </a:solidFill>
                <a:ea typeface="Calibri" pitchFamily="34" charset="0"/>
                <a:cs typeface="Tahoma" pitchFamily="34" charset="0"/>
              </a:rPr>
              <a:t>(</a:t>
            </a:r>
            <a:r>
              <a:rPr lang="en-US" sz="2000" b="1" i="1" dirty="0" err="1">
                <a:solidFill>
                  <a:srgbClr val="000000"/>
                </a:solidFill>
                <a:ea typeface="Calibri" pitchFamily="34" charset="0"/>
                <a:cs typeface="Tahoma" pitchFamily="34" charset="0"/>
              </a:rPr>
              <a:t>i</a:t>
            </a:r>
            <a:r>
              <a:rPr lang="en-US" sz="2000" b="1" i="1" dirty="0">
                <a:solidFill>
                  <a:srgbClr val="000000"/>
                </a:solidFill>
                <a:ea typeface="Calibri" pitchFamily="34" charset="0"/>
                <a:cs typeface="Tahoma" pitchFamily="34" charset="0"/>
              </a:rPr>
              <a:t>)  </a:t>
            </a:r>
            <a:r>
              <a:rPr lang="en-US" sz="2000" b="1" i="1" u="sng" dirty="0">
                <a:solidFill>
                  <a:srgbClr val="000000"/>
                </a:solidFill>
                <a:latin typeface="Bodoni MT" pitchFamily="18" charset="0"/>
                <a:ea typeface="Calibri" pitchFamily="34" charset="0"/>
                <a:cs typeface="Tahoma" pitchFamily="34" charset="0"/>
              </a:rPr>
              <a:t>The Principle of Non-</a:t>
            </a:r>
            <a:r>
              <a:rPr lang="en-US" sz="2000" b="1" i="1" u="sng" dirty="0" err="1">
                <a:solidFill>
                  <a:srgbClr val="000000"/>
                </a:solidFill>
                <a:latin typeface="Bodoni MT" pitchFamily="18" charset="0"/>
                <a:ea typeface="Calibri" pitchFamily="34" charset="0"/>
                <a:cs typeface="Tahoma" pitchFamily="34" charset="0"/>
              </a:rPr>
              <a:t>maleficence</a:t>
            </a:r>
            <a:r>
              <a:rPr lang="en-US" sz="2000" b="1" i="1" u="sng" dirty="0">
                <a:solidFill>
                  <a:srgbClr val="000000"/>
                </a:solidFill>
                <a:latin typeface="Bodoni MT" pitchFamily="18" charset="0"/>
                <a:ea typeface="Calibri" pitchFamily="34" charset="0"/>
                <a:cs typeface="Tahoma" pitchFamily="34" charset="0"/>
              </a:rPr>
              <a:t>:</a:t>
            </a:r>
            <a:r>
              <a:rPr lang="en-US" sz="2000" b="1" u="sng" dirty="0">
                <a:solidFill>
                  <a:srgbClr val="000000"/>
                </a:solidFill>
                <a:latin typeface="Bodoni MT" pitchFamily="18" charset="0"/>
                <a:ea typeface="Calibri" pitchFamily="34" charset="0"/>
                <a:cs typeface="Tahoma" pitchFamily="34" charset="0"/>
              </a:rPr>
              <a:t> </a:t>
            </a:r>
            <a:r>
              <a:rPr lang="en-US" sz="2000" b="1" dirty="0">
                <a:solidFill>
                  <a:srgbClr val="000000"/>
                </a:solidFill>
                <a:latin typeface="Bodoni MT" pitchFamily="18" charset="0"/>
                <a:ea typeface="Calibri" pitchFamily="34" charset="0"/>
                <a:cs typeface="Tahoma" pitchFamily="34" charset="0"/>
              </a:rPr>
              <a:t>Research must not cause harm to the </a:t>
            </a:r>
            <a:br>
              <a:rPr lang="en-US" sz="2000" b="1" dirty="0">
                <a:solidFill>
                  <a:srgbClr val="000000"/>
                </a:solidFill>
                <a:latin typeface="Bodoni MT" pitchFamily="18" charset="0"/>
                <a:ea typeface="Calibri" pitchFamily="34" charset="0"/>
                <a:cs typeface="Tahoma" pitchFamily="34" charset="0"/>
              </a:rPr>
            </a:br>
            <a:r>
              <a:rPr lang="en-US" sz="2000" b="1" dirty="0">
                <a:solidFill>
                  <a:srgbClr val="000000"/>
                </a:solidFill>
                <a:latin typeface="Bodoni MT" pitchFamily="18" charset="0"/>
                <a:ea typeface="Calibri" pitchFamily="34" charset="0"/>
                <a:cs typeface="Tahoma" pitchFamily="34" charset="0"/>
              </a:rPr>
              <a:t>        participants in particular and to people in general.</a:t>
            </a:r>
            <a:endParaRPr lang="en-US" sz="2000" b="1" dirty="0">
              <a:latin typeface="Bodoni MT" pitchFamily="18" charset="0"/>
              <a:ea typeface="Calibri" pitchFamily="34" charset="0"/>
              <a:cs typeface="Tahoma" pitchFamily="34" charset="0"/>
            </a:endParaRPr>
          </a:p>
          <a:p>
            <a:r>
              <a:rPr lang="en-US" sz="1000" b="1" dirty="0">
                <a:solidFill>
                  <a:srgbClr val="000000"/>
                </a:solidFill>
                <a:latin typeface="Bodoni MT" pitchFamily="18" charset="0"/>
                <a:ea typeface="Calibri" pitchFamily="34" charset="0"/>
                <a:cs typeface="Tahoma" pitchFamily="34" charset="0"/>
              </a:rPr>
              <a:t/>
            </a:r>
            <a:br>
              <a:rPr lang="en-US" sz="1000" b="1" dirty="0">
                <a:solidFill>
                  <a:srgbClr val="000000"/>
                </a:solidFill>
                <a:latin typeface="Bodoni MT" pitchFamily="18" charset="0"/>
                <a:ea typeface="Calibri" pitchFamily="34" charset="0"/>
                <a:cs typeface="Tahoma" pitchFamily="34" charset="0"/>
              </a:rPr>
            </a:br>
            <a:r>
              <a:rPr lang="en-US" sz="2000" b="1" i="1" dirty="0">
                <a:solidFill>
                  <a:srgbClr val="000000"/>
                </a:solidFill>
                <a:latin typeface="Bodoni MT" pitchFamily="18" charset="0"/>
                <a:ea typeface="Calibri" pitchFamily="34" charset="0"/>
                <a:cs typeface="Tahoma" pitchFamily="34" charset="0"/>
              </a:rPr>
              <a:t>(ii)  </a:t>
            </a:r>
            <a:r>
              <a:rPr lang="en-US" sz="2000" b="1" i="1" u="sng" dirty="0">
                <a:solidFill>
                  <a:srgbClr val="000000"/>
                </a:solidFill>
                <a:latin typeface="Bodoni MT" pitchFamily="18" charset="0"/>
                <a:ea typeface="Calibri" pitchFamily="34" charset="0"/>
                <a:cs typeface="Tahoma" pitchFamily="34" charset="0"/>
              </a:rPr>
              <a:t>The Principle of Beneficence:</a:t>
            </a:r>
            <a:r>
              <a:rPr lang="en-US" sz="2000" b="1" dirty="0">
                <a:solidFill>
                  <a:srgbClr val="000000"/>
                </a:solidFill>
                <a:latin typeface="Bodoni MT" pitchFamily="18" charset="0"/>
                <a:ea typeface="Calibri" pitchFamily="34" charset="0"/>
                <a:cs typeface="Tahoma" pitchFamily="34" charset="0"/>
              </a:rPr>
              <a:t> Research should also make a positive     </a:t>
            </a:r>
            <a:br>
              <a:rPr lang="en-US" sz="2000" b="1" dirty="0">
                <a:solidFill>
                  <a:srgbClr val="000000"/>
                </a:solidFill>
                <a:latin typeface="Bodoni MT" pitchFamily="18" charset="0"/>
                <a:ea typeface="Calibri" pitchFamily="34" charset="0"/>
                <a:cs typeface="Tahoma" pitchFamily="34" charset="0"/>
              </a:rPr>
            </a:br>
            <a:r>
              <a:rPr lang="en-US" sz="2000" b="1" dirty="0">
                <a:solidFill>
                  <a:srgbClr val="000000"/>
                </a:solidFill>
                <a:latin typeface="Bodoni MT" pitchFamily="18" charset="0"/>
                <a:ea typeface="Calibri" pitchFamily="34" charset="0"/>
                <a:cs typeface="Tahoma" pitchFamily="34" charset="0"/>
              </a:rPr>
              <a:t>        contribution towards the welfare of people.</a:t>
            </a:r>
            <a:endParaRPr lang="en-US" sz="2000" b="1" dirty="0">
              <a:latin typeface="Bodoni MT" pitchFamily="18" charset="0"/>
              <a:ea typeface="Calibri" pitchFamily="34" charset="0"/>
              <a:cs typeface="Tahoma" pitchFamily="34" charset="0"/>
            </a:endParaRPr>
          </a:p>
          <a:p>
            <a:r>
              <a:rPr lang="en-US" sz="1200" b="1" dirty="0">
                <a:solidFill>
                  <a:srgbClr val="000000"/>
                </a:solidFill>
                <a:latin typeface="Bodoni MT" pitchFamily="18" charset="0"/>
                <a:ea typeface="Calibri" pitchFamily="34" charset="0"/>
                <a:cs typeface="Tahoma" pitchFamily="34" charset="0"/>
              </a:rPr>
              <a:t/>
            </a:r>
            <a:br>
              <a:rPr lang="en-US" sz="1200" b="1" dirty="0">
                <a:solidFill>
                  <a:srgbClr val="000000"/>
                </a:solidFill>
                <a:latin typeface="Bodoni MT" pitchFamily="18" charset="0"/>
                <a:ea typeface="Calibri" pitchFamily="34" charset="0"/>
                <a:cs typeface="Tahoma" pitchFamily="34" charset="0"/>
              </a:rPr>
            </a:br>
            <a:r>
              <a:rPr lang="en-US" sz="2000" b="1" i="1" dirty="0">
                <a:solidFill>
                  <a:srgbClr val="000000"/>
                </a:solidFill>
                <a:latin typeface="Bodoni MT" pitchFamily="18" charset="0"/>
                <a:ea typeface="Calibri" pitchFamily="34" charset="0"/>
                <a:cs typeface="Tahoma" pitchFamily="34" charset="0"/>
              </a:rPr>
              <a:t>(iii)  </a:t>
            </a:r>
            <a:r>
              <a:rPr lang="en-US" sz="2000" b="1" i="1" u="sng" dirty="0">
                <a:solidFill>
                  <a:srgbClr val="000000"/>
                </a:solidFill>
                <a:latin typeface="Bodoni MT" pitchFamily="18" charset="0"/>
                <a:ea typeface="Calibri" pitchFamily="34" charset="0"/>
                <a:cs typeface="Tahoma" pitchFamily="34" charset="0"/>
              </a:rPr>
              <a:t>The Principle of Autonomy:</a:t>
            </a:r>
            <a:r>
              <a:rPr lang="en-US" sz="2000" b="1" u="sng" dirty="0">
                <a:solidFill>
                  <a:srgbClr val="000000"/>
                </a:solidFill>
                <a:latin typeface="Bodoni MT" pitchFamily="18" charset="0"/>
                <a:ea typeface="Calibri" pitchFamily="34" charset="0"/>
                <a:cs typeface="Tahoma" pitchFamily="34" charset="0"/>
              </a:rPr>
              <a:t> </a:t>
            </a:r>
            <a:r>
              <a:rPr lang="en-US" sz="2000" b="1" dirty="0">
                <a:solidFill>
                  <a:srgbClr val="000000"/>
                </a:solidFill>
                <a:latin typeface="Bodoni MT" pitchFamily="18" charset="0"/>
                <a:ea typeface="Calibri" pitchFamily="34" charset="0"/>
                <a:cs typeface="Tahoma" pitchFamily="34" charset="0"/>
              </a:rPr>
              <a:t>Research must respect and protect </a:t>
            </a:r>
          </a:p>
          <a:p>
            <a:r>
              <a:rPr lang="en-US" sz="2000" b="1" dirty="0">
                <a:solidFill>
                  <a:srgbClr val="000000"/>
                </a:solidFill>
                <a:latin typeface="Bodoni MT" pitchFamily="18" charset="0"/>
                <a:ea typeface="Calibri" pitchFamily="34" charset="0"/>
                <a:cs typeface="Tahoma" pitchFamily="34" charset="0"/>
              </a:rPr>
              <a:t>         the rights and dignity of participants. </a:t>
            </a:r>
            <a:endParaRPr lang="en-US" sz="2000" b="1" dirty="0">
              <a:latin typeface="Bodoni MT" pitchFamily="18" charset="0"/>
              <a:ea typeface="Calibri" pitchFamily="34" charset="0"/>
              <a:cs typeface="Tahoma" pitchFamily="34" charset="0"/>
            </a:endParaRPr>
          </a:p>
          <a:p>
            <a:r>
              <a:rPr lang="en-US" sz="1100" b="1" dirty="0">
                <a:solidFill>
                  <a:srgbClr val="000000"/>
                </a:solidFill>
                <a:latin typeface="Bodoni MT" pitchFamily="18" charset="0"/>
                <a:ea typeface="Calibri" pitchFamily="34" charset="0"/>
                <a:cs typeface="Tahoma" pitchFamily="34" charset="0"/>
              </a:rPr>
              <a:t/>
            </a:r>
            <a:br>
              <a:rPr lang="en-US" sz="1100" b="1" dirty="0">
                <a:solidFill>
                  <a:srgbClr val="000000"/>
                </a:solidFill>
                <a:latin typeface="Bodoni MT" pitchFamily="18" charset="0"/>
                <a:ea typeface="Calibri" pitchFamily="34" charset="0"/>
                <a:cs typeface="Tahoma" pitchFamily="34" charset="0"/>
              </a:rPr>
            </a:br>
            <a:r>
              <a:rPr lang="en-US" sz="2000" b="1" i="1" dirty="0">
                <a:solidFill>
                  <a:srgbClr val="000000"/>
                </a:solidFill>
                <a:latin typeface="Bodoni MT" pitchFamily="18" charset="0"/>
                <a:ea typeface="Calibri" pitchFamily="34" charset="0"/>
                <a:cs typeface="Tahoma" pitchFamily="34" charset="0"/>
              </a:rPr>
              <a:t>(iv)  </a:t>
            </a:r>
            <a:r>
              <a:rPr lang="en-US" sz="2000" b="1" i="1" u="sng" dirty="0">
                <a:solidFill>
                  <a:srgbClr val="000000"/>
                </a:solidFill>
                <a:latin typeface="Bodoni MT" pitchFamily="18" charset="0"/>
                <a:ea typeface="Calibri" pitchFamily="34" charset="0"/>
                <a:cs typeface="Tahoma" pitchFamily="34" charset="0"/>
              </a:rPr>
              <a:t>The Principle of Justice:</a:t>
            </a:r>
            <a:r>
              <a:rPr lang="en-US" sz="2000" b="1" u="sng" dirty="0">
                <a:solidFill>
                  <a:srgbClr val="000000"/>
                </a:solidFill>
                <a:latin typeface="Bodoni MT" pitchFamily="18" charset="0"/>
                <a:ea typeface="Calibri" pitchFamily="34" charset="0"/>
                <a:cs typeface="Tahoma" pitchFamily="34" charset="0"/>
              </a:rPr>
              <a:t> </a:t>
            </a:r>
            <a:r>
              <a:rPr lang="en-US" sz="2000" b="1" dirty="0">
                <a:solidFill>
                  <a:srgbClr val="000000"/>
                </a:solidFill>
                <a:latin typeface="Bodoni MT" pitchFamily="18" charset="0"/>
                <a:ea typeface="Calibri" pitchFamily="34" charset="0"/>
                <a:cs typeface="Tahoma" pitchFamily="34" charset="0"/>
              </a:rPr>
              <a:t>The benefits and risks of </a:t>
            </a:r>
          </a:p>
          <a:p>
            <a:r>
              <a:rPr lang="en-US" sz="2000" b="1" dirty="0">
                <a:solidFill>
                  <a:srgbClr val="000000"/>
                </a:solidFill>
                <a:latin typeface="Bodoni MT" pitchFamily="18" charset="0"/>
                <a:ea typeface="Calibri" pitchFamily="34" charset="0"/>
                <a:cs typeface="Tahoma" pitchFamily="34" charset="0"/>
              </a:rPr>
              <a:t>         research should be fairly distributed among people.</a:t>
            </a:r>
            <a:endParaRPr lang="en-US" sz="2000" b="1" dirty="0">
              <a:latin typeface="Bodoni MT" pitchFamily="18" charset="0"/>
              <a:ea typeface="Calibri" pitchFamily="34" charset="0"/>
              <a:cs typeface="Tahoma" pitchFamily="34" charset="0"/>
            </a:endParaRPr>
          </a:p>
          <a:p>
            <a:endParaRPr lang="en-US" sz="3600" b="1" dirty="0">
              <a:ea typeface="Calibri" pitchFamily="34" charset="0"/>
              <a:cs typeface="Tahoma" pitchFamily="34" charset="0"/>
            </a:endParaRPr>
          </a:p>
        </p:txBody>
      </p:sp>
      <p:sp>
        <p:nvSpPr>
          <p:cNvPr id="5" name="Slide Number Placeholder 4"/>
          <p:cNvSpPr>
            <a:spLocks noGrp="1"/>
          </p:cNvSpPr>
          <p:nvPr>
            <p:ph type="sldNum" sz="quarter" idx="12"/>
          </p:nvPr>
        </p:nvSpPr>
        <p:spPr/>
        <p:txBody>
          <a:bodyPr/>
          <a:lstStyle/>
          <a:p>
            <a:pPr>
              <a:defRPr/>
            </a:pPr>
            <a:fld id="{D7E06C30-71D3-457B-A8D9-545BE19DB6E8}" type="slidenum">
              <a:rPr lang="fr-FR" smtClean="0"/>
              <a:pPr>
                <a:defRPr/>
              </a:pPr>
              <a:t>20</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539552" y="0"/>
            <a:ext cx="784887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a:endParaRPr lang="en-US" sz="3600" b="1" dirty="0">
              <a:solidFill>
                <a:srgbClr val="CC0000"/>
              </a:solidFill>
              <a:latin typeface="Times New Roman" pitchFamily="18" charset="0"/>
            </a:endParaRPr>
          </a:p>
        </p:txBody>
      </p:sp>
      <p:sp>
        <p:nvSpPr>
          <p:cNvPr id="17" name="Rectangle 2"/>
          <p:cNvSpPr>
            <a:spLocks noGrp="1" noChangeArrowheads="1"/>
          </p:cNvSpPr>
          <p:nvPr>
            <p:ph type="title"/>
          </p:nvPr>
        </p:nvSpPr>
        <p:spPr>
          <a:xfrm>
            <a:off x="1475656" y="260648"/>
            <a:ext cx="7023100" cy="527050"/>
          </a:xfrm>
        </p:spPr>
        <p:txBody>
          <a:bodyPr/>
          <a:lstStyle/>
          <a:p>
            <a:r>
              <a:rPr lang="en-GB" dirty="0">
                <a:solidFill>
                  <a:srgbClr val="006600"/>
                </a:solidFill>
              </a:rPr>
              <a:t>Contrary to morality</a:t>
            </a:r>
          </a:p>
        </p:txBody>
      </p:sp>
      <p:sp>
        <p:nvSpPr>
          <p:cNvPr id="18" name="Rectangle 3"/>
          <p:cNvSpPr txBox="1">
            <a:spLocks noChangeArrowheads="1"/>
          </p:cNvSpPr>
          <p:nvPr/>
        </p:nvSpPr>
        <p:spPr bwMode="auto">
          <a:xfrm>
            <a:off x="467544" y="1124744"/>
            <a:ext cx="396240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GB" sz="3200" b="0" i="0" u="none" strike="noStrike" kern="1200" cap="none" spc="0" normalizeH="0" baseline="0" noProof="0" smtClean="0">
                <a:ln>
                  <a:noFill/>
                </a:ln>
                <a:solidFill>
                  <a:schemeClr val="tx1"/>
                </a:solidFill>
                <a:effectLst/>
                <a:uLnTx/>
                <a:uFillTx/>
                <a:latin typeface="+mn-lt"/>
                <a:ea typeface="+mn-ea"/>
                <a:cs typeface="+mn-cs"/>
              </a:rPr>
              <a:t>Human cloning</a:t>
            </a:r>
          </a:p>
          <a:p>
            <a:pPr marL="342900" marR="0" lvl="0" indent="-34290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GB" sz="3200" b="0" i="0" u="none" strike="noStrike" kern="1200" cap="none" spc="0" normalizeH="0" baseline="0" noProof="0" smtClean="0">
                <a:ln>
                  <a:noFill/>
                </a:ln>
                <a:solidFill>
                  <a:schemeClr val="tx1"/>
                </a:solidFill>
                <a:effectLst/>
                <a:uLnTx/>
                <a:uFillTx/>
                <a:latin typeface="+mn-lt"/>
                <a:ea typeface="+mn-ea"/>
                <a:cs typeface="+mn-cs"/>
              </a:rPr>
              <a:t>Human germ-line modification </a:t>
            </a:r>
          </a:p>
          <a:p>
            <a:pPr marL="342900" marR="0" lvl="0" indent="-34290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GB" sz="3200" b="0" i="0" u="none" strike="noStrike" kern="1200" cap="none" spc="0" normalizeH="0" baseline="0" noProof="0" smtClean="0">
                <a:ln>
                  <a:noFill/>
                </a:ln>
                <a:solidFill>
                  <a:schemeClr val="tx1"/>
                </a:solidFill>
                <a:effectLst/>
                <a:uLnTx/>
                <a:uFillTx/>
                <a:latin typeface="+mn-lt"/>
                <a:ea typeface="+mn-ea"/>
                <a:cs typeface="+mn-cs"/>
              </a:rPr>
              <a:t>Industrial or commercial use of human embryos  </a:t>
            </a:r>
          </a:p>
          <a:p>
            <a:pPr marL="342900" marR="0" lvl="0" indent="-34290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GB" sz="3200" b="0" i="0" u="none" strike="noStrike" kern="1200" cap="none" spc="0" normalizeH="0" baseline="0" noProof="0" smtClean="0">
                <a:ln>
                  <a:noFill/>
                </a:ln>
                <a:solidFill>
                  <a:schemeClr val="tx1"/>
                </a:solidFill>
                <a:effectLst/>
                <a:uLnTx/>
                <a:uFillTx/>
                <a:latin typeface="+mn-lt"/>
                <a:ea typeface="+mn-ea"/>
                <a:cs typeface="+mn-cs"/>
              </a:rPr>
              <a:t>Genetic modification of animals causing suffering if no substantial medical benefit</a:t>
            </a: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19" name="Picture 4" descr="_1209716_human_cloning300"/>
          <p:cNvPicPr>
            <a:picLocks noChangeAspect="1" noChangeArrowheads="1"/>
          </p:cNvPicPr>
          <p:nvPr/>
        </p:nvPicPr>
        <p:blipFill>
          <a:blip r:embed="rId4" cstate="print"/>
          <a:srcRect/>
          <a:stretch>
            <a:fillRect/>
          </a:stretch>
        </p:blipFill>
        <p:spPr>
          <a:xfrm>
            <a:off x="5148064" y="1268760"/>
            <a:ext cx="3733800" cy="1866900"/>
          </a:xfrm>
          <a:prstGeom prst="rect">
            <a:avLst/>
          </a:prstGeom>
          <a:noFill/>
          <a:ln/>
        </p:spPr>
      </p:pic>
      <p:pic>
        <p:nvPicPr>
          <p:cNvPr id="20" name="Picture 5" descr="bd07331_"/>
          <p:cNvPicPr>
            <a:picLocks noChangeAspect="1" noChangeArrowheads="1"/>
          </p:cNvPicPr>
          <p:nvPr/>
        </p:nvPicPr>
        <p:blipFill>
          <a:blip r:embed="rId5" cstate="print"/>
          <a:srcRect/>
          <a:stretch>
            <a:fillRect/>
          </a:stretch>
        </p:blipFill>
        <p:spPr bwMode="auto">
          <a:xfrm>
            <a:off x="6156325" y="4149725"/>
            <a:ext cx="1881188" cy="151765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pPr>
              <a:defRPr/>
            </a:pPr>
            <a:fld id="{D7E06C30-71D3-457B-A8D9-545BE19DB6E8}" type="slidenum">
              <a:rPr lang="fr-FR" smtClean="0"/>
              <a:pPr>
                <a:defRPr/>
              </a:pPr>
              <a:t>21</a:t>
            </a:fld>
            <a:endParaRPr lang="fr-FR"/>
          </a:p>
        </p:txBody>
      </p:sp>
    </p:spTree>
  </p:cSld>
  <p:clrMapOvr>
    <a:masterClrMapping/>
  </p:clrMapOvr>
  <p:transition>
    <p:wedg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539552" y="0"/>
            <a:ext cx="784887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a:endParaRPr lang="en-US" sz="3600" b="1" dirty="0">
              <a:solidFill>
                <a:srgbClr val="CC0000"/>
              </a:solidFill>
              <a:latin typeface="Times New Roman" pitchFamily="18" charset="0"/>
            </a:endParaRPr>
          </a:p>
        </p:txBody>
      </p:sp>
      <p:sp>
        <p:nvSpPr>
          <p:cNvPr id="3" name="Rectangle 2"/>
          <p:cNvSpPr>
            <a:spLocks noGrp="1" noChangeArrowheads="1"/>
          </p:cNvSpPr>
          <p:nvPr>
            <p:ph type="title"/>
          </p:nvPr>
        </p:nvSpPr>
        <p:spPr>
          <a:xfrm>
            <a:off x="457200" y="476671"/>
            <a:ext cx="8003232" cy="1008113"/>
          </a:xfrm>
          <a:noFill/>
          <a:ln/>
        </p:spPr>
        <p:txBody>
          <a:bodyPr/>
          <a:lstStyle/>
          <a:p>
            <a:r>
              <a:rPr lang="en-GB" sz="2800" b="1" dirty="0" smtClean="0">
                <a:solidFill>
                  <a:srgbClr val="006600"/>
                </a:solidFill>
              </a:rPr>
              <a:t>Contd...</a:t>
            </a:r>
            <a:r>
              <a:rPr lang="en-GB" sz="2800" b="1" dirty="0" smtClean="0"/>
              <a:t/>
            </a:r>
            <a:br>
              <a:rPr lang="en-GB" sz="2800" b="1" dirty="0" smtClean="0"/>
            </a:br>
            <a:endParaRPr lang="en-GB" sz="2800" b="1" dirty="0"/>
          </a:p>
        </p:txBody>
      </p:sp>
      <p:sp>
        <p:nvSpPr>
          <p:cNvPr id="4" name="Rectangle 3"/>
          <p:cNvSpPr txBox="1">
            <a:spLocks noChangeArrowheads="1"/>
          </p:cNvSpPr>
          <p:nvPr/>
        </p:nvSpPr>
        <p:spPr bwMode="auto">
          <a:xfrm>
            <a:off x="899592" y="1484784"/>
            <a:ext cx="3200400" cy="2590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ctr" defTabSz="914400" rtl="0" eaLnBrk="1" fontAlgn="base" latinLnBrk="0" hangingPunct="1">
              <a:lnSpc>
                <a:spcPct val="100000"/>
              </a:lnSpc>
              <a:spcBef>
                <a:spcPct val="20000"/>
              </a:spcBef>
              <a:spcAft>
                <a:spcPct val="0"/>
              </a:spcAft>
              <a:buClrTx/>
              <a:buSzTx/>
              <a:buFontTx/>
              <a:buNone/>
              <a:tabLst/>
              <a:defRPr/>
            </a:pPr>
            <a:r>
              <a:rPr kumimoji="0" lang="de-CH" sz="3200" b="1" i="0" u="none" strike="noStrike" kern="1200" cap="none" spc="0" normalizeH="0" baseline="0" noProof="0" smtClean="0">
                <a:ln>
                  <a:noFill/>
                </a:ln>
                <a:solidFill>
                  <a:srgbClr val="FF3300"/>
                </a:solidFill>
                <a:effectLst/>
                <a:uLnTx/>
                <a:uFillTx/>
                <a:latin typeface="+mn-lt"/>
                <a:ea typeface="+mn-ea"/>
                <a:cs typeface="+mn-cs"/>
              </a:rPr>
              <a:t>NO</a:t>
            </a:r>
            <a:endParaRPr kumimoji="0" lang="de-CH" sz="3200" b="1"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Tx/>
              <a:buSzTx/>
              <a:buFontTx/>
              <a:buNone/>
              <a:tabLst/>
              <a:defRPr/>
            </a:pPr>
            <a:r>
              <a:rPr kumimoji="0" lang="de-CH" sz="2400" b="0" i="0" u="none" strike="noStrike" kern="1200" cap="none" spc="0" normalizeH="0" baseline="0" noProof="0" smtClean="0">
                <a:ln>
                  <a:noFill/>
                </a:ln>
                <a:solidFill>
                  <a:schemeClr val="tx1"/>
                </a:solidFill>
                <a:effectLst/>
                <a:uLnTx/>
                <a:uFillTx/>
                <a:latin typeface="+mn-lt"/>
                <a:ea typeface="+mn-ea"/>
                <a:cs typeface="+mn-cs"/>
              </a:rPr>
              <a:t>	</a:t>
            </a:r>
            <a:r>
              <a:rPr kumimoji="0" lang="en-GB" sz="2400" b="0" i="0" u="none" strike="noStrike" kern="1200" cap="none" spc="0" normalizeH="0" baseline="0" noProof="0" smtClean="0">
                <a:ln>
                  <a:noFill/>
                </a:ln>
                <a:solidFill>
                  <a:schemeClr val="tx1"/>
                </a:solidFill>
                <a:effectLst/>
                <a:uLnTx/>
                <a:uFillTx/>
                <a:latin typeface="+mn-lt"/>
                <a:ea typeface="+mn-ea"/>
                <a:cs typeface="+mn-cs"/>
              </a:rPr>
              <a:t>The naked mouse:</a:t>
            </a:r>
          </a:p>
          <a:p>
            <a:pPr marL="342900" marR="0" lvl="0" indent="-342900" algn="l" defTabSz="914400" rtl="0" eaLnBrk="1" fontAlgn="base" latinLnBrk="0" hangingPunct="1">
              <a:lnSpc>
                <a:spcPct val="120000"/>
              </a:lnSpc>
              <a:spcBef>
                <a:spcPct val="20000"/>
              </a:spcBef>
              <a:spcAft>
                <a:spcPct val="0"/>
              </a:spcAft>
              <a:buClrTx/>
              <a:buSzTx/>
              <a:buFontTx/>
              <a:buNone/>
              <a:tabLst/>
              <a:defRPr/>
            </a:pPr>
            <a:r>
              <a:rPr kumimoji="0" lang="en-GB" sz="2400" b="0" i="0" u="none" strike="noStrike" kern="1200" cap="none" spc="0" normalizeH="0" baseline="0" noProof="0" smtClean="0">
                <a:ln>
                  <a:noFill/>
                </a:ln>
                <a:solidFill>
                  <a:schemeClr val="tx1"/>
                </a:solidFill>
                <a:effectLst/>
                <a:uLnTx/>
                <a:uFillTx/>
                <a:latin typeface="+mn-lt"/>
                <a:ea typeface="+mn-ea"/>
                <a:cs typeface="+mn-cs"/>
              </a:rPr>
              <a:t>    A transgenic mouse used to test hair products</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4"/>
          <p:cNvSpPr>
            <a:spLocks noChangeArrowheads="1"/>
          </p:cNvSpPr>
          <p:nvPr/>
        </p:nvSpPr>
        <p:spPr bwMode="auto">
          <a:xfrm>
            <a:off x="4860032" y="1628800"/>
            <a:ext cx="3746500" cy="2592388"/>
          </a:xfrm>
          <a:prstGeom prst="rect">
            <a:avLst/>
          </a:prstGeom>
          <a:noFill/>
          <a:ln w="9525">
            <a:noFill/>
            <a:miter lim="800000"/>
            <a:headEnd/>
            <a:tailEnd/>
          </a:ln>
          <a:effectLst/>
        </p:spPr>
        <p:txBody>
          <a:bodyPr lIns="182562" tIns="46038" rIns="182562" bIns="46038"/>
          <a:lstStyle/>
          <a:p>
            <a:pPr marL="342900" indent="-342900" algn="ctr">
              <a:lnSpc>
                <a:spcPct val="90000"/>
              </a:lnSpc>
              <a:spcBef>
                <a:spcPct val="20000"/>
              </a:spcBef>
              <a:buClr>
                <a:schemeClr val="tx2"/>
              </a:buClr>
              <a:buSzPct val="75000"/>
              <a:buFont typeface="Wingdings" pitchFamily="2" charset="2"/>
              <a:buNone/>
            </a:pPr>
            <a:r>
              <a:rPr lang="de-CH" sz="3200" b="1" dirty="0">
                <a:solidFill>
                  <a:srgbClr val="33CC33"/>
                </a:solidFill>
                <a:cs typeface="Arial" pitchFamily="34" charset="0"/>
              </a:rPr>
              <a:t>YES   </a:t>
            </a:r>
          </a:p>
          <a:p>
            <a:pPr marL="342900" indent="-342900">
              <a:lnSpc>
                <a:spcPct val="120000"/>
              </a:lnSpc>
              <a:spcBef>
                <a:spcPct val="20000"/>
              </a:spcBef>
              <a:buClr>
                <a:schemeClr val="tx2"/>
              </a:buClr>
              <a:buSzPct val="75000"/>
              <a:buFont typeface="Wingdings" pitchFamily="2" charset="2"/>
              <a:buNone/>
            </a:pPr>
            <a:r>
              <a:rPr lang="de-CH" sz="2400" dirty="0">
                <a:cs typeface="Arial" pitchFamily="34" charset="0"/>
              </a:rPr>
              <a:t>	</a:t>
            </a:r>
            <a:r>
              <a:rPr lang="en-GB" sz="2400" dirty="0">
                <a:cs typeface="Arial" pitchFamily="34" charset="0"/>
              </a:rPr>
              <a:t>The Harvard </a:t>
            </a:r>
            <a:r>
              <a:rPr lang="en-GB" sz="2400" dirty="0" err="1" smtClean="0">
                <a:cs typeface="Arial" pitchFamily="34" charset="0"/>
              </a:rPr>
              <a:t>Onco</a:t>
            </a:r>
            <a:r>
              <a:rPr lang="en-GB" sz="2400" smtClean="0">
                <a:cs typeface="Arial" pitchFamily="34" charset="0"/>
              </a:rPr>
              <a:t> mouse</a:t>
            </a:r>
            <a:r>
              <a:rPr lang="en-GB" sz="2400" dirty="0">
                <a:cs typeface="Arial" pitchFamily="34" charset="0"/>
              </a:rPr>
              <a:t>:</a:t>
            </a:r>
          </a:p>
          <a:p>
            <a:pPr marL="342900" indent="-342900">
              <a:lnSpc>
                <a:spcPct val="120000"/>
              </a:lnSpc>
              <a:spcBef>
                <a:spcPct val="20000"/>
              </a:spcBef>
              <a:buClr>
                <a:schemeClr val="tx2"/>
              </a:buClr>
              <a:buSzPct val="75000"/>
              <a:buFont typeface="Wingdings" pitchFamily="2" charset="2"/>
              <a:buNone/>
            </a:pPr>
            <a:r>
              <a:rPr lang="en-GB" sz="2400" dirty="0">
                <a:cs typeface="Arial" pitchFamily="34" charset="0"/>
              </a:rPr>
              <a:t>	Used as a model for studying cancer</a:t>
            </a:r>
          </a:p>
        </p:txBody>
      </p:sp>
      <p:pic>
        <p:nvPicPr>
          <p:cNvPr id="6" name="Picture 5" descr="mouse-ear"/>
          <p:cNvPicPr>
            <a:picLocks noChangeAspect="1" noChangeArrowheads="1"/>
          </p:cNvPicPr>
          <p:nvPr/>
        </p:nvPicPr>
        <p:blipFill>
          <a:blip r:embed="rId4" cstate="print"/>
          <a:srcRect/>
          <a:stretch>
            <a:fillRect/>
          </a:stretch>
        </p:blipFill>
        <p:spPr bwMode="auto">
          <a:xfrm>
            <a:off x="1258888" y="4460875"/>
            <a:ext cx="2154237" cy="1806575"/>
          </a:xfrm>
          <a:prstGeom prst="rect">
            <a:avLst/>
          </a:prstGeom>
          <a:noFill/>
        </p:spPr>
      </p:pic>
      <p:pic>
        <p:nvPicPr>
          <p:cNvPr id="7" name="Picture 6" descr="House mouse, Mus musculus">
            <a:hlinkClick r:id="rId5" tooltip="House mouse, Mus musculus"/>
          </p:cNvPr>
          <p:cNvPicPr>
            <a:picLocks noChangeAspect="1" noChangeArrowheads="1"/>
          </p:cNvPicPr>
          <p:nvPr/>
        </p:nvPicPr>
        <p:blipFill>
          <a:blip r:embed="rId6" cstate="print"/>
          <a:srcRect/>
          <a:stretch>
            <a:fillRect/>
          </a:stretch>
        </p:blipFill>
        <p:spPr bwMode="auto">
          <a:xfrm>
            <a:off x="5508104" y="4509120"/>
            <a:ext cx="2381250" cy="1676400"/>
          </a:xfrm>
          <a:prstGeom prst="rect">
            <a:avLst/>
          </a:prstGeom>
          <a:noFill/>
        </p:spPr>
      </p:pic>
      <p:sp>
        <p:nvSpPr>
          <p:cNvPr id="10" name="Slide Number Placeholder 9"/>
          <p:cNvSpPr>
            <a:spLocks noGrp="1"/>
          </p:cNvSpPr>
          <p:nvPr>
            <p:ph type="sldNum" sz="quarter" idx="12"/>
          </p:nvPr>
        </p:nvSpPr>
        <p:spPr/>
        <p:txBody>
          <a:bodyPr/>
          <a:lstStyle/>
          <a:p>
            <a:pPr>
              <a:defRPr/>
            </a:pPr>
            <a:fld id="{D7E06C30-71D3-457B-A8D9-545BE19DB6E8}" type="slidenum">
              <a:rPr lang="fr-FR" smtClean="0"/>
              <a:pPr>
                <a:defRPr/>
              </a:pPr>
              <a:t>22</a:t>
            </a:fld>
            <a:endParaRPr lang="fr-FR"/>
          </a:p>
        </p:txBody>
      </p:sp>
    </p:spTree>
  </p:cSld>
  <p:clrMapOvr>
    <a:masterClrMapping/>
  </p:clrMapOvr>
  <p:transition>
    <p:wedg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lstStyle/>
          <a:p>
            <a:r>
              <a:rPr lang="en-US" dirty="0" smtClean="0"/>
              <a:t>Geographical Indications</a:t>
            </a:r>
            <a:endParaRPr lang="en-US" dirty="0"/>
          </a:p>
        </p:txBody>
      </p:sp>
      <p:sp>
        <p:nvSpPr>
          <p:cNvPr id="3" name="Content Placeholder 2"/>
          <p:cNvSpPr>
            <a:spLocks noGrp="1"/>
          </p:cNvSpPr>
          <p:nvPr>
            <p:ph idx="1"/>
          </p:nvPr>
        </p:nvSpPr>
        <p:spPr/>
        <p:txBody>
          <a:bodyPr/>
          <a:lstStyle/>
          <a:p>
            <a:pPr>
              <a:buNone/>
            </a:pPr>
            <a:r>
              <a:rPr lang="en-US" dirty="0" smtClean="0"/>
              <a:t>Geographical Indications of </a:t>
            </a:r>
            <a:r>
              <a:rPr lang="en-US" dirty="0" smtClean="0"/>
              <a:t>goods </a:t>
            </a:r>
            <a:r>
              <a:rPr lang="en-US" dirty="0" smtClean="0"/>
              <a:t>are defined as that aspect of industrial property which refer to the geographical indication referring to a country or to a place situated therein as being the country or place of origin of that product</a:t>
            </a:r>
            <a:endParaRPr lang="en-US" dirty="0"/>
          </a:p>
        </p:txBody>
      </p:sp>
      <p:sp>
        <p:nvSpPr>
          <p:cNvPr id="4" name="Slide Number Placeholder 3"/>
          <p:cNvSpPr>
            <a:spLocks noGrp="1"/>
          </p:cNvSpPr>
          <p:nvPr>
            <p:ph type="sldNum" sz="quarter" idx="12"/>
          </p:nvPr>
        </p:nvSpPr>
        <p:spPr/>
        <p:txBody>
          <a:bodyPr/>
          <a:lstStyle/>
          <a:p>
            <a:pPr>
              <a:defRPr/>
            </a:pPr>
            <a:fld id="{D7E06C30-71D3-457B-A8D9-545BE19DB6E8}" type="slidenum">
              <a:rPr lang="fr-FR" smtClean="0"/>
              <a:pPr>
                <a:defRPr/>
              </a:pPr>
              <a:t>23</a:t>
            </a:fld>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539552" y="0"/>
            <a:ext cx="784887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a:endParaRPr lang="en-US" sz="3600" b="1" dirty="0">
              <a:solidFill>
                <a:srgbClr val="CC0000"/>
              </a:solidFill>
              <a:latin typeface="Times New Roman" pitchFamily="18" charset="0"/>
            </a:endParaRPr>
          </a:p>
        </p:txBody>
      </p:sp>
      <p:graphicFrame>
        <p:nvGraphicFramePr>
          <p:cNvPr id="5" name="Rectangle 2"/>
          <p:cNvGraphicFramePr>
            <a:graphicFrameLocks/>
          </p:cNvGraphicFramePr>
          <p:nvPr/>
        </p:nvGraphicFramePr>
        <p:xfrm>
          <a:off x="1524000" y="1397000"/>
          <a:ext cx="6096000" cy="4064000"/>
        </p:xfrm>
        <a:graphic>
          <a:graphicData uri="http://schemas.openxmlformats.org/presentationml/2006/ole">
            <p:oleObj spid="_x0000_s3074" name="Clip" r:id="rId5" imgW="0" imgH="0" progId="">
              <p:embed/>
            </p:oleObj>
          </a:graphicData>
        </a:graphic>
      </p:graphicFrame>
      <p:graphicFrame>
        <p:nvGraphicFramePr>
          <p:cNvPr id="8" name="Object 3"/>
          <p:cNvGraphicFramePr>
            <a:graphicFrameLocks noChangeAspect="1"/>
          </p:cNvGraphicFramePr>
          <p:nvPr/>
        </p:nvGraphicFramePr>
        <p:xfrm>
          <a:off x="1219200" y="1828800"/>
          <a:ext cx="7010400" cy="4164013"/>
        </p:xfrm>
        <a:graphic>
          <a:graphicData uri="http://schemas.openxmlformats.org/presentationml/2006/ole">
            <p:oleObj spid="_x0000_s3075" name="Clip" r:id="rId6" imgW="1928160" imgH="1672200" progId="">
              <p:embed/>
            </p:oleObj>
          </a:graphicData>
        </a:graphic>
      </p:graphicFrame>
      <p:sp>
        <p:nvSpPr>
          <p:cNvPr id="10" name="WordArt 4"/>
          <p:cNvSpPr>
            <a:spLocks noChangeArrowheads="1" noChangeShapeType="1" noTextEdit="1"/>
          </p:cNvSpPr>
          <p:nvPr/>
        </p:nvSpPr>
        <p:spPr bwMode="auto">
          <a:xfrm>
            <a:off x="609600" y="228600"/>
            <a:ext cx="7772400" cy="965200"/>
          </a:xfrm>
          <a:prstGeom prst="rect">
            <a:avLst/>
          </a:prstGeom>
        </p:spPr>
        <p:txBody>
          <a:bodyPr wrap="none" fromWordArt="1">
            <a:prstTxWarp prst="textSlantUp">
              <a:avLst>
                <a:gd name="adj" fmla="val 55556"/>
              </a:avLst>
            </a:prstTxWarp>
          </a:bodyPr>
          <a:lstStyle/>
          <a:p>
            <a:pPr algn="ctr"/>
            <a:r>
              <a:rPr lang="en-US" kern="10" dirty="0">
                <a:ln w="9525">
                  <a:solidFill>
                    <a:srgbClr val="000000"/>
                  </a:solidFill>
                  <a:round/>
                  <a:headEnd/>
                  <a:tailEnd/>
                </a:ln>
                <a:solidFill>
                  <a:srgbClr val="FF0000"/>
                </a:solidFill>
                <a:latin typeface="Arial Black"/>
              </a:rPr>
              <a:t>I have an innovation .... How do I protect it in the market ???</a:t>
            </a:r>
          </a:p>
        </p:txBody>
      </p:sp>
      <p:sp>
        <p:nvSpPr>
          <p:cNvPr id="11" name="Text Box 5"/>
          <p:cNvSpPr txBox="1">
            <a:spLocks noChangeArrowheads="1"/>
          </p:cNvSpPr>
          <p:nvPr/>
        </p:nvSpPr>
        <p:spPr bwMode="auto">
          <a:xfrm rot="1018029">
            <a:off x="4893805" y="3006114"/>
            <a:ext cx="1108999" cy="396875"/>
          </a:xfrm>
          <a:prstGeom prst="rect">
            <a:avLst/>
          </a:prstGeom>
          <a:solidFill>
            <a:srgbClr val="CCECFF"/>
          </a:solidFill>
          <a:ln w="9525">
            <a:noFill/>
            <a:miter lim="800000"/>
            <a:headEnd/>
            <a:tailEnd/>
          </a:ln>
        </p:spPr>
        <p:txBody>
          <a:bodyPr wrap="square">
            <a:spAutoFit/>
          </a:bodyPr>
          <a:lstStyle/>
          <a:p>
            <a:pPr eaLnBrk="0" hangingPunct="0"/>
            <a:r>
              <a:rPr lang="en-GB" sz="2000" b="1" dirty="0">
                <a:solidFill>
                  <a:srgbClr val="003300"/>
                </a:solidFill>
              </a:rPr>
              <a:t>Patent</a:t>
            </a:r>
          </a:p>
        </p:txBody>
      </p:sp>
      <p:sp>
        <p:nvSpPr>
          <p:cNvPr id="12" name="Text Box 6"/>
          <p:cNvSpPr txBox="1">
            <a:spLocks noChangeArrowheads="1"/>
          </p:cNvSpPr>
          <p:nvPr/>
        </p:nvSpPr>
        <p:spPr bwMode="auto">
          <a:xfrm rot="20611627">
            <a:off x="1447800" y="3124200"/>
            <a:ext cx="1439863" cy="396875"/>
          </a:xfrm>
          <a:prstGeom prst="rect">
            <a:avLst/>
          </a:prstGeom>
          <a:solidFill>
            <a:srgbClr val="FFFF99"/>
          </a:solidFill>
          <a:ln w="9525">
            <a:noFill/>
            <a:miter lim="800000"/>
            <a:headEnd/>
            <a:tailEnd/>
          </a:ln>
        </p:spPr>
        <p:txBody>
          <a:bodyPr wrap="none">
            <a:spAutoFit/>
          </a:bodyPr>
          <a:lstStyle/>
          <a:p>
            <a:pPr eaLnBrk="0" hangingPunct="0"/>
            <a:r>
              <a:rPr lang="en-GB" sz="2000" b="1" dirty="0">
                <a:solidFill>
                  <a:srgbClr val="000066"/>
                </a:solidFill>
              </a:rPr>
              <a:t>Trademark</a:t>
            </a:r>
          </a:p>
        </p:txBody>
      </p:sp>
      <p:sp>
        <p:nvSpPr>
          <p:cNvPr id="13" name="Text Box 7"/>
          <p:cNvSpPr txBox="1">
            <a:spLocks noChangeArrowheads="1"/>
          </p:cNvSpPr>
          <p:nvPr/>
        </p:nvSpPr>
        <p:spPr bwMode="auto">
          <a:xfrm rot="20993755">
            <a:off x="5943600" y="1600200"/>
            <a:ext cx="1298575" cy="396875"/>
          </a:xfrm>
          <a:prstGeom prst="rect">
            <a:avLst/>
          </a:prstGeom>
          <a:solidFill>
            <a:srgbClr val="FFCC99"/>
          </a:solidFill>
          <a:ln w="9525">
            <a:noFill/>
            <a:miter lim="800000"/>
            <a:headEnd/>
            <a:tailEnd/>
          </a:ln>
        </p:spPr>
        <p:txBody>
          <a:bodyPr wrap="none">
            <a:spAutoFit/>
          </a:bodyPr>
          <a:lstStyle/>
          <a:p>
            <a:pPr eaLnBrk="0" hangingPunct="0"/>
            <a:r>
              <a:rPr lang="en-GB" sz="2000" b="1">
                <a:solidFill>
                  <a:srgbClr val="A50021"/>
                </a:solidFill>
              </a:rPr>
              <a:t>Copyright</a:t>
            </a:r>
            <a:endParaRPr lang="en-GB" b="1">
              <a:solidFill>
                <a:srgbClr val="A50021"/>
              </a:solidFill>
            </a:endParaRPr>
          </a:p>
        </p:txBody>
      </p:sp>
      <p:sp>
        <p:nvSpPr>
          <p:cNvPr id="14" name="Text Box 8"/>
          <p:cNvSpPr txBox="1">
            <a:spLocks noChangeArrowheads="1"/>
          </p:cNvSpPr>
          <p:nvPr/>
        </p:nvSpPr>
        <p:spPr bwMode="auto">
          <a:xfrm rot="351475">
            <a:off x="6477000" y="2438400"/>
            <a:ext cx="2319338" cy="396875"/>
          </a:xfrm>
          <a:prstGeom prst="rect">
            <a:avLst/>
          </a:prstGeom>
          <a:solidFill>
            <a:srgbClr val="FFFFCC"/>
          </a:solidFill>
          <a:ln w="9525">
            <a:noFill/>
            <a:miter lim="800000"/>
            <a:headEnd/>
            <a:tailEnd/>
          </a:ln>
        </p:spPr>
        <p:txBody>
          <a:bodyPr wrap="none">
            <a:spAutoFit/>
          </a:bodyPr>
          <a:lstStyle/>
          <a:p>
            <a:pPr eaLnBrk="0" hangingPunct="0"/>
            <a:r>
              <a:rPr lang="en-GB" sz="2000" b="1">
                <a:solidFill>
                  <a:srgbClr val="663300"/>
                </a:solidFill>
              </a:rPr>
              <a:t>Design Registration</a:t>
            </a:r>
            <a:endParaRPr lang="en-GB"/>
          </a:p>
        </p:txBody>
      </p:sp>
      <p:sp>
        <p:nvSpPr>
          <p:cNvPr id="15" name="Text Box 9"/>
          <p:cNvSpPr txBox="1">
            <a:spLocks noChangeArrowheads="1"/>
          </p:cNvSpPr>
          <p:nvPr/>
        </p:nvSpPr>
        <p:spPr bwMode="auto">
          <a:xfrm rot="20401820">
            <a:off x="1600200" y="3810000"/>
            <a:ext cx="1587500" cy="396875"/>
          </a:xfrm>
          <a:prstGeom prst="rect">
            <a:avLst/>
          </a:prstGeom>
          <a:solidFill>
            <a:srgbClr val="FFCCFF"/>
          </a:solidFill>
          <a:ln w="9525">
            <a:noFill/>
            <a:miter lim="800000"/>
            <a:headEnd/>
            <a:tailEnd/>
          </a:ln>
        </p:spPr>
        <p:txBody>
          <a:bodyPr wrap="none">
            <a:spAutoFit/>
          </a:bodyPr>
          <a:lstStyle/>
          <a:p>
            <a:pPr eaLnBrk="0" hangingPunct="0"/>
            <a:r>
              <a:rPr lang="en-GB" sz="2000" b="1">
                <a:solidFill>
                  <a:srgbClr val="CC0000"/>
                </a:solidFill>
              </a:rPr>
              <a:t>Trade Secret</a:t>
            </a:r>
            <a:endParaRPr lang="en-GB">
              <a:solidFill>
                <a:srgbClr val="003300"/>
              </a:solidFill>
            </a:endParaRPr>
          </a:p>
        </p:txBody>
      </p:sp>
      <p:sp>
        <p:nvSpPr>
          <p:cNvPr id="16" name="Text Box 10"/>
          <p:cNvSpPr txBox="1">
            <a:spLocks noChangeArrowheads="1"/>
          </p:cNvSpPr>
          <p:nvPr/>
        </p:nvSpPr>
        <p:spPr bwMode="auto">
          <a:xfrm rot="603865">
            <a:off x="152400" y="1981200"/>
            <a:ext cx="2924175" cy="396875"/>
          </a:xfrm>
          <a:prstGeom prst="rect">
            <a:avLst/>
          </a:prstGeom>
          <a:solidFill>
            <a:srgbClr val="CCECFF"/>
          </a:solidFill>
          <a:ln w="9525">
            <a:noFill/>
            <a:miter lim="800000"/>
            <a:headEnd/>
            <a:tailEnd/>
          </a:ln>
        </p:spPr>
        <p:txBody>
          <a:bodyPr wrap="none">
            <a:spAutoFit/>
          </a:bodyPr>
          <a:lstStyle/>
          <a:p>
            <a:pPr eaLnBrk="0" hangingPunct="0"/>
            <a:r>
              <a:rPr lang="en-GB" sz="2000" b="1" dirty="0">
                <a:solidFill>
                  <a:srgbClr val="006600"/>
                </a:solidFill>
              </a:rPr>
              <a:t>Geographical Indications</a:t>
            </a:r>
            <a:endParaRPr lang="en-GB" sz="2000" b="1" dirty="0"/>
          </a:p>
        </p:txBody>
      </p:sp>
      <p:sp>
        <p:nvSpPr>
          <p:cNvPr id="18" name="Slide Number Placeholder 17"/>
          <p:cNvSpPr>
            <a:spLocks noGrp="1"/>
          </p:cNvSpPr>
          <p:nvPr>
            <p:ph type="sldNum" sz="quarter" idx="12"/>
          </p:nvPr>
        </p:nvSpPr>
        <p:spPr/>
        <p:txBody>
          <a:bodyPr/>
          <a:lstStyle/>
          <a:p>
            <a:pPr>
              <a:defRPr/>
            </a:pPr>
            <a:fld id="{D7E06C30-71D3-457B-A8D9-545BE19DB6E8}" type="slidenum">
              <a:rPr lang="fr-FR" smtClean="0"/>
              <a:pPr>
                <a:defRPr/>
              </a:pPr>
              <a:t>24</a:t>
            </a:fld>
            <a:endParaRPr lang="fr-FR"/>
          </a:p>
        </p:txBody>
      </p:sp>
    </p:spTree>
  </p:cSld>
  <p:clrMapOvr>
    <a:masterClrMapping/>
  </p:clrMapOvr>
  <p:transition>
    <p:wedg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539552" y="0"/>
            <a:ext cx="7848872" cy="1055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a:endParaRPr lang="en-US" sz="3600" b="1" dirty="0">
              <a:solidFill>
                <a:srgbClr val="CC0000"/>
              </a:solidFill>
              <a:latin typeface="Times New Roman" pitchFamily="18" charset="0"/>
            </a:endParaRPr>
          </a:p>
        </p:txBody>
      </p:sp>
      <p:sp>
        <p:nvSpPr>
          <p:cNvPr id="6" name="Text Box 2"/>
          <p:cNvSpPr txBox="1">
            <a:spLocks noChangeArrowheads="1"/>
          </p:cNvSpPr>
          <p:nvPr/>
        </p:nvSpPr>
        <p:spPr bwMode="auto">
          <a:xfrm>
            <a:off x="1187624" y="404664"/>
            <a:ext cx="6934200" cy="519113"/>
          </a:xfrm>
          <a:prstGeom prst="rect">
            <a:avLst/>
          </a:prstGeom>
          <a:noFill/>
          <a:ln w="9525">
            <a:noFill/>
            <a:miter lim="800000"/>
            <a:headEnd/>
            <a:tailEnd/>
          </a:ln>
          <a:effectLst/>
        </p:spPr>
        <p:txBody>
          <a:bodyPr>
            <a:spAutoFit/>
          </a:bodyPr>
          <a:lstStyle/>
          <a:p>
            <a:pPr>
              <a:spcBef>
                <a:spcPct val="50000"/>
              </a:spcBef>
            </a:pPr>
            <a:r>
              <a:rPr lang="en-US" sz="2800" b="1" dirty="0">
                <a:solidFill>
                  <a:srgbClr val="C00000"/>
                </a:solidFill>
                <a:latin typeface="Times New Roman" pitchFamily="18" charset="0"/>
                <a:cs typeface="Times New Roman" pitchFamily="18" charset="0"/>
              </a:rPr>
              <a:t>WHAT TO DO, IF YOU INVENT ???</a:t>
            </a:r>
          </a:p>
        </p:txBody>
      </p:sp>
      <p:sp>
        <p:nvSpPr>
          <p:cNvPr id="7" name="Text Box 3"/>
          <p:cNvSpPr txBox="1">
            <a:spLocks noChangeArrowheads="1"/>
          </p:cNvSpPr>
          <p:nvPr/>
        </p:nvSpPr>
        <p:spPr bwMode="auto">
          <a:xfrm>
            <a:off x="251520" y="908720"/>
            <a:ext cx="8686800" cy="5940088"/>
          </a:xfrm>
          <a:prstGeom prst="rect">
            <a:avLst/>
          </a:prstGeom>
          <a:noFill/>
          <a:ln w="9525">
            <a:noFill/>
            <a:miter lim="800000"/>
            <a:headEnd/>
            <a:tailEnd/>
          </a:ln>
          <a:effectLst/>
        </p:spPr>
        <p:txBody>
          <a:bodyPr>
            <a:spAutoFit/>
          </a:bodyPr>
          <a:lstStyle/>
          <a:p>
            <a:pPr>
              <a:spcBef>
                <a:spcPct val="50000"/>
              </a:spcBef>
              <a:buFontTx/>
              <a:buChar char="•"/>
            </a:pPr>
            <a:r>
              <a:rPr lang="en-US" sz="2200" dirty="0" smtClean="0">
                <a:latin typeface="Times New Roman" pitchFamily="18" charset="0"/>
                <a:cs typeface="Times New Roman" pitchFamily="18" charset="0"/>
              </a:rPr>
              <a:t>DON’T </a:t>
            </a:r>
            <a:r>
              <a:rPr lang="en-US" sz="2200" dirty="0">
                <a:latin typeface="Times New Roman" pitchFamily="18" charset="0"/>
                <a:cs typeface="Times New Roman" pitchFamily="18" charset="0"/>
              </a:rPr>
              <a:t>PUBLISH ANY WHERE BEFORE FILING PATENT APPLICATION</a:t>
            </a:r>
          </a:p>
          <a:p>
            <a:pPr>
              <a:spcBef>
                <a:spcPct val="50000"/>
              </a:spcBef>
              <a:buFontTx/>
              <a:buChar char="•"/>
            </a:pPr>
            <a:r>
              <a:rPr lang="en-US" sz="2200" dirty="0">
                <a:latin typeface="Times New Roman" pitchFamily="18" charset="0"/>
                <a:cs typeface="Times New Roman" pitchFamily="18" charset="0"/>
              </a:rPr>
              <a:t>FILE  PROVISIONAL / COMPLETE SPECIFICATION WITH APPLICATION</a:t>
            </a:r>
          </a:p>
          <a:p>
            <a:pPr>
              <a:spcBef>
                <a:spcPct val="50000"/>
              </a:spcBef>
              <a:buFontTx/>
              <a:buChar char="•"/>
            </a:pPr>
            <a:r>
              <a:rPr lang="en-US" sz="2200" dirty="0">
                <a:latin typeface="Times New Roman" pitchFamily="18" charset="0"/>
                <a:cs typeface="Times New Roman" pitchFamily="18" charset="0"/>
              </a:rPr>
              <a:t>CHECK FOR TECHNICAL / COMMERCIAL VIABILITY</a:t>
            </a:r>
          </a:p>
          <a:p>
            <a:pPr>
              <a:spcBef>
                <a:spcPct val="50000"/>
              </a:spcBef>
              <a:buFontTx/>
              <a:buChar char="•"/>
            </a:pPr>
            <a:r>
              <a:rPr lang="en-US" sz="2200" dirty="0">
                <a:latin typeface="Times New Roman" pitchFamily="18" charset="0"/>
                <a:cs typeface="Times New Roman" pitchFamily="18" charset="0"/>
              </a:rPr>
              <a:t>AFTER COMPLETE DEVELOPMENT  FILE REQUEST FOR EXAMINATION (WITH IN 36 MONTHS)</a:t>
            </a:r>
          </a:p>
          <a:p>
            <a:pPr>
              <a:spcBef>
                <a:spcPct val="50000"/>
              </a:spcBef>
              <a:buFontTx/>
              <a:buChar char="•"/>
            </a:pPr>
            <a:r>
              <a:rPr lang="en-US" sz="2200" dirty="0">
                <a:latin typeface="Times New Roman" pitchFamily="18" charset="0"/>
                <a:cs typeface="Times New Roman" pitchFamily="18" charset="0"/>
              </a:rPr>
              <a:t>GET PATENT</a:t>
            </a:r>
          </a:p>
          <a:p>
            <a:pPr>
              <a:spcBef>
                <a:spcPct val="50000"/>
              </a:spcBef>
              <a:buFontTx/>
              <a:buChar char="•"/>
            </a:pPr>
            <a:r>
              <a:rPr lang="en-US" sz="2200" dirty="0">
                <a:latin typeface="Times New Roman" pitchFamily="18" charset="0"/>
                <a:cs typeface="Times New Roman" pitchFamily="18" charset="0"/>
              </a:rPr>
              <a:t>COMMERCIALIZE (MAKE, SELL, LICENSE, ASSIGN)</a:t>
            </a:r>
          </a:p>
          <a:p>
            <a:pPr>
              <a:spcBef>
                <a:spcPct val="50000"/>
              </a:spcBef>
              <a:buFontTx/>
              <a:buChar char="•"/>
            </a:pPr>
            <a:r>
              <a:rPr lang="en-US" sz="2200" dirty="0">
                <a:latin typeface="Times New Roman" pitchFamily="18" charset="0"/>
                <a:cs typeface="Times New Roman" pitchFamily="18" charset="0"/>
              </a:rPr>
              <a:t>FIELD WATCH (REGULAR SEARCH OF PATENT / NON PATENT DOCUMENTS &amp; OTHER NEWS FROM INDUSTRY</a:t>
            </a:r>
          </a:p>
          <a:p>
            <a:pPr>
              <a:spcBef>
                <a:spcPct val="50000"/>
              </a:spcBef>
            </a:pPr>
            <a:endParaRPr lang="en-US" sz="2400" dirty="0">
              <a:latin typeface="Times New Roman" pitchFamily="18" charset="0"/>
              <a:cs typeface="Times New Roman" pitchFamily="18" charset="0"/>
            </a:endParaRPr>
          </a:p>
          <a:p>
            <a:pPr>
              <a:spcBef>
                <a:spcPct val="50000"/>
              </a:spcBef>
              <a:buFontTx/>
              <a:buChar char="•"/>
            </a:pPr>
            <a:endParaRPr lang="en-US" sz="2400" dirty="0">
              <a:latin typeface="Times New Roman" pitchFamily="18" charset="0"/>
              <a:cs typeface="Times New Roman" pitchFamily="18" charset="0"/>
            </a:endParaRPr>
          </a:p>
        </p:txBody>
      </p:sp>
      <p:sp>
        <p:nvSpPr>
          <p:cNvPr id="8" name="Slide Number Placeholder 7"/>
          <p:cNvSpPr>
            <a:spLocks noGrp="1"/>
          </p:cNvSpPr>
          <p:nvPr>
            <p:ph type="sldNum" sz="quarter" idx="12"/>
          </p:nvPr>
        </p:nvSpPr>
        <p:spPr/>
        <p:txBody>
          <a:bodyPr/>
          <a:lstStyle/>
          <a:p>
            <a:pPr>
              <a:defRPr/>
            </a:pPr>
            <a:fld id="{D7E06C30-71D3-457B-A8D9-545BE19DB6E8}" type="slidenum">
              <a:rPr lang="fr-FR" smtClean="0"/>
              <a:pPr>
                <a:defRPr/>
              </a:pPr>
              <a:t>25</a:t>
            </a:fld>
            <a:endParaRPr lang="fr-FR"/>
          </a:p>
        </p:txBody>
      </p:sp>
    </p:spTree>
  </p:cSld>
  <p:clrMapOvr>
    <a:masterClrMapping/>
  </p:clrMapOvr>
  <p:transition>
    <p:wedg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755576" y="1916832"/>
            <a:ext cx="8030344" cy="3323987"/>
          </a:xfrm>
          <a:prstGeom prst="rect">
            <a:avLst/>
          </a:prstGeom>
          <a:ln>
            <a:headEnd/>
            <a:tailEnd/>
          </a:ln>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spcBef>
                <a:spcPct val="50000"/>
              </a:spcBef>
            </a:pPr>
            <a:r>
              <a:rPr lang="en-US" sz="2800" dirty="0" smtClean="0">
                <a:solidFill>
                  <a:srgbClr val="A50021"/>
                </a:solidFill>
                <a:latin typeface="Garamond" pitchFamily="18" charset="0"/>
              </a:rPr>
              <a:t>Patent </a:t>
            </a:r>
            <a:r>
              <a:rPr lang="en-US" sz="2800" dirty="0">
                <a:solidFill>
                  <a:srgbClr val="A50021"/>
                </a:solidFill>
                <a:latin typeface="Garamond" pitchFamily="18" charset="0"/>
              </a:rPr>
              <a:t>systems are not created in the interest of the inventor but in the interest of national economy. The Rules and Regulations of the Patent systems are not governed by civil or common law but by political economy – </a:t>
            </a:r>
            <a:r>
              <a:rPr lang="en-US" sz="2800" dirty="0" smtClean="0">
                <a:solidFill>
                  <a:srgbClr val="A50021"/>
                </a:solidFill>
                <a:latin typeface="Garamond" pitchFamily="18" charset="0"/>
              </a:rPr>
              <a:t>P </a:t>
            </a:r>
            <a:r>
              <a:rPr lang="en-US" sz="2800" smtClean="0">
                <a:solidFill>
                  <a:srgbClr val="A50021"/>
                </a:solidFill>
                <a:latin typeface="Garamond" pitchFamily="18" charset="0"/>
              </a:rPr>
              <a:t>J Michael</a:t>
            </a:r>
            <a:endParaRPr lang="en-US" sz="3200" dirty="0">
              <a:solidFill>
                <a:srgbClr val="A50021"/>
              </a:solidFill>
              <a:latin typeface="Times New Roman" pitchFamily="18" charset="0"/>
            </a:endParaRPr>
          </a:p>
        </p:txBody>
      </p:sp>
      <p:sp>
        <p:nvSpPr>
          <p:cNvPr id="10" name="Rounded Rectangle 9"/>
          <p:cNvSpPr/>
          <p:nvPr/>
        </p:nvSpPr>
        <p:spPr>
          <a:xfrm>
            <a:off x="1907704" y="260648"/>
            <a:ext cx="5832648" cy="576064"/>
          </a:xfrm>
          <a:prstGeom prst="roundRect">
            <a:avLst/>
          </a:prstGeom>
          <a:effectLst>
            <a:glow rad="2286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smtClean="0">
              <a:latin typeface="Garamond" pitchFamily="18" charset="0"/>
            </a:endParaRPr>
          </a:p>
          <a:p>
            <a:pPr algn="ctr"/>
            <a:r>
              <a:rPr lang="en-US" sz="2400" b="1" dirty="0" smtClean="0">
                <a:latin typeface="Garamond" pitchFamily="18" charset="0"/>
              </a:rPr>
              <a:t>Take Home Message</a:t>
            </a:r>
          </a:p>
          <a:p>
            <a:pPr algn="ctr"/>
            <a:endParaRPr lang="en-US" dirty="0"/>
          </a:p>
        </p:txBody>
      </p:sp>
      <p:sp>
        <p:nvSpPr>
          <p:cNvPr id="6" name="Slide Number Placeholder 5"/>
          <p:cNvSpPr>
            <a:spLocks noGrp="1"/>
          </p:cNvSpPr>
          <p:nvPr>
            <p:ph type="sldNum" sz="quarter" idx="12"/>
          </p:nvPr>
        </p:nvSpPr>
        <p:spPr/>
        <p:txBody>
          <a:bodyPr/>
          <a:lstStyle/>
          <a:p>
            <a:pPr>
              <a:defRPr/>
            </a:pPr>
            <a:fld id="{D7E06C30-71D3-457B-A8D9-545BE19DB6E8}" type="slidenum">
              <a:rPr lang="fr-FR" smtClean="0"/>
              <a:pPr>
                <a:defRPr/>
              </a:pPr>
              <a:t>26</a:t>
            </a:fld>
            <a:endParaRPr lang="fr-FR"/>
          </a:p>
        </p:txBody>
      </p:sp>
    </p:spTree>
  </p:cSld>
  <p:clrMapOvr>
    <a:masterClrMapping/>
  </p:clrMapOvr>
  <p:transition>
    <p:wedg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57200" y="292100"/>
            <a:ext cx="8229600" cy="13843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defRPr/>
            </a:pPr>
            <a:endParaRPr kumimoji="0" lang="en-US" sz="2800" b="0" i="0" u="none" strike="noStrike" kern="1200" cap="none" spc="0" normalizeH="0" baseline="0" noProof="0" dirty="0" smtClean="0">
              <a:ln>
                <a:noFill/>
              </a:ln>
              <a:solidFill>
                <a:srgbClr val="C00000"/>
              </a:solidFill>
              <a:effectLst/>
              <a:uLnTx/>
              <a:uFillTx/>
              <a:latin typeface="+mj-lt"/>
              <a:ea typeface="+mj-ea"/>
              <a:cs typeface="+mj-cs"/>
            </a:endParaRPr>
          </a:p>
        </p:txBody>
      </p:sp>
      <p:pic>
        <p:nvPicPr>
          <p:cNvPr id="5" name="Picture 4" descr="C:\Users\SAFIKH\Pictures\question-graphic.jpg"/>
          <p:cNvPicPr>
            <a:picLocks noChangeAspect="1" noChangeArrowheads="1"/>
          </p:cNvPicPr>
          <p:nvPr/>
        </p:nvPicPr>
        <p:blipFill>
          <a:blip r:embed="rId3" cstate="print"/>
          <a:srcRect/>
          <a:stretch>
            <a:fillRect/>
          </a:stretch>
        </p:blipFill>
        <p:spPr bwMode="auto">
          <a:xfrm>
            <a:off x="5486400" y="4265613"/>
            <a:ext cx="3657600" cy="2592387"/>
          </a:xfrm>
          <a:prstGeom prst="rect">
            <a:avLst/>
          </a:prstGeom>
          <a:noFill/>
          <a:ln w="9525">
            <a:noFill/>
            <a:miter lim="800000"/>
            <a:headEnd/>
            <a:tailEnd/>
          </a:ln>
        </p:spPr>
      </p:pic>
      <p:pic>
        <p:nvPicPr>
          <p:cNvPr id="7" name="Picture 6" descr="C:\Users\SAFIKH\Pictures\335581.jpg"/>
          <p:cNvPicPr>
            <a:picLocks noChangeAspect="1" noChangeArrowheads="1"/>
          </p:cNvPicPr>
          <p:nvPr/>
        </p:nvPicPr>
        <p:blipFill>
          <a:blip r:embed="rId4" cstate="print"/>
          <a:srcRect/>
          <a:stretch>
            <a:fillRect/>
          </a:stretch>
        </p:blipFill>
        <p:spPr bwMode="auto">
          <a:xfrm>
            <a:off x="0" y="0"/>
            <a:ext cx="5562600" cy="3746500"/>
          </a:xfrm>
          <a:prstGeom prst="rect">
            <a:avLst/>
          </a:prstGeom>
          <a:noFill/>
          <a:ln w="9525">
            <a:noFill/>
            <a:miter lim="800000"/>
            <a:headEnd/>
            <a:tailEnd/>
          </a:ln>
        </p:spPr>
      </p:pic>
      <p:sp>
        <p:nvSpPr>
          <p:cNvPr id="8" name="Slide Number Placeholder 7"/>
          <p:cNvSpPr>
            <a:spLocks noGrp="1"/>
          </p:cNvSpPr>
          <p:nvPr>
            <p:ph type="sldNum" sz="quarter" idx="12"/>
          </p:nvPr>
        </p:nvSpPr>
        <p:spPr/>
        <p:txBody>
          <a:bodyPr/>
          <a:lstStyle/>
          <a:p>
            <a:pPr>
              <a:defRPr/>
            </a:pPr>
            <a:fld id="{14DEDCAF-836C-4C56-8066-90DEE0DCB67C}" type="slidenum">
              <a:rPr lang="fr-FR" smtClean="0"/>
              <a:pPr>
                <a:defRPr/>
              </a:pPr>
              <a:t>27</a:t>
            </a:fld>
            <a:endParaRPr lang="fr-F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0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06F11361E6F24687C8304AC968C8DB" ma:contentTypeVersion="4" ma:contentTypeDescription="Create a new document." ma:contentTypeScope="" ma:versionID="95dba29a5ddf227b29b2c5972f9b0dec">
  <xsd:schema xmlns:xsd="http://www.w3.org/2001/XMLSchema" xmlns:xs="http://www.w3.org/2001/XMLSchema" xmlns:p="http://schemas.microsoft.com/office/2006/metadata/properties" xmlns:ns2="5a9cb14b-763c-475b-b8bf-91c32d178075" targetNamespace="http://schemas.microsoft.com/office/2006/metadata/properties" ma:root="true" ma:fieldsID="37ffc3f761f4165194db4547ab1346b3" ns2:_="">
    <xsd:import namespace="5a9cb14b-763c-475b-b8bf-91c32d1780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cb14b-763c-475b-b8bf-91c32d1780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DA26B0-AAEE-4E86-8185-9A254090DA6D}"/>
</file>

<file path=customXml/itemProps2.xml><?xml version="1.0" encoding="utf-8"?>
<ds:datastoreItem xmlns:ds="http://schemas.openxmlformats.org/officeDocument/2006/customXml" ds:itemID="{580A42E7-F98D-4FB8-91BA-A373F5AAD86F}"/>
</file>

<file path=customXml/itemProps3.xml><?xml version="1.0" encoding="utf-8"?>
<ds:datastoreItem xmlns:ds="http://schemas.openxmlformats.org/officeDocument/2006/customXml" ds:itemID="{50ED8EAA-DF9C-4B67-A94D-379B60A32A5F}"/>
</file>

<file path=docProps/app.xml><?xml version="1.0" encoding="utf-8"?>
<Properties xmlns="http://schemas.openxmlformats.org/officeDocument/2006/extended-properties" xmlns:vt="http://schemas.openxmlformats.org/officeDocument/2006/docPropsVTypes">
  <Template>Civic</Template>
  <TotalTime>735</TotalTime>
  <Words>1055</Words>
  <Application>Microsoft Office PowerPoint</Application>
  <PresentationFormat>On-screen Show (4:3)</PresentationFormat>
  <Paragraphs>246</Paragraphs>
  <Slides>27</Slides>
  <Notes>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29" baseType="lpstr">
      <vt:lpstr>102</vt:lpstr>
      <vt:lpstr>Clip</vt:lpstr>
      <vt:lpstr>INTELLECTUAL PROPERTY RIGHTS</vt:lpstr>
      <vt:lpstr>Intellectual Property is that which results from the creation of intellect in industrial, scientific, literary or artistic field.</vt:lpstr>
      <vt:lpstr>Slide 3</vt:lpstr>
      <vt:lpstr>Slide 4</vt:lpstr>
      <vt:lpstr>Slide 5</vt:lpstr>
      <vt:lpstr>Slide 6</vt:lpstr>
      <vt:lpstr>Slide 7</vt:lpstr>
      <vt:lpstr>Slide 8</vt:lpstr>
      <vt:lpstr>Slide 9</vt:lpstr>
      <vt:lpstr>Slide 10</vt:lpstr>
      <vt:lpstr>Slide 11</vt:lpstr>
      <vt:lpstr>Slide 12</vt:lpstr>
      <vt:lpstr>Slide 13</vt:lpstr>
      <vt:lpstr>  A symbol (logo, words, shapes, jingles) to provide a product or service with  recognizable identity to distinguish from competing products.    TM protects distinctive components which make up marketing identity of brand including pharmaceuticals.   If registered nationally or internationally—use of symbol  ®.   Unregistered trademark followed by letters – TM </vt:lpstr>
      <vt:lpstr>Slide 15</vt:lpstr>
      <vt:lpstr>Slide 16</vt:lpstr>
      <vt:lpstr>Slide 17</vt:lpstr>
      <vt:lpstr>Slide 18</vt:lpstr>
      <vt:lpstr>Slide 19</vt:lpstr>
      <vt:lpstr>Slide 20</vt:lpstr>
      <vt:lpstr>Contrary to morality</vt:lpstr>
      <vt:lpstr>Contd... </vt:lpstr>
      <vt:lpstr>Geographical Indications</vt:lpstr>
      <vt:lpstr>Slide 24</vt:lpstr>
      <vt:lpstr>Slide 25</vt:lpstr>
      <vt:lpstr>Slide 26</vt:lpstr>
      <vt:lpstr>Slide 27</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INTELLECTUAL PROPERTY RIGHTS</dc:title>
  <dc:creator>maithily</dc:creator>
  <cp:lastModifiedBy>smithachandran</cp:lastModifiedBy>
  <cp:revision>106</cp:revision>
  <dcterms:created xsi:type="dcterms:W3CDTF">2011-11-04T14:29:56Z</dcterms:created>
  <dcterms:modified xsi:type="dcterms:W3CDTF">2012-10-16T04:39:29Z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0x0101003A06F11361E6F24687C8304AC968C8DB</vt:lpwstr>
  </property>
</Properties>
</file>